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26642-A4F5-472D-A10C-E1EFBCD9CEC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D8AFB-77F2-4F31-AB08-576A72779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4D8AFB-77F2-4F31-AB08-576A7277902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658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42B3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D0DDD7"/>
                </a:solidFill>
                <a:latin typeface="Calibri"/>
                <a:cs typeface="Calibri"/>
              </a:defRPr>
            </a:lvl1pPr>
          </a:lstStyle>
          <a:p>
            <a:pPr marL="294640">
              <a:lnSpc>
                <a:spcPts val="1045"/>
              </a:lnSpc>
            </a:pPr>
            <a:r>
              <a:rPr dirty="0"/>
              <a:t>Genesis</a:t>
            </a:r>
            <a:r>
              <a:rPr spc="-25" dirty="0"/>
              <a:t> </a:t>
            </a:r>
            <a:r>
              <a:rPr dirty="0"/>
              <a:t>Ideathon</a:t>
            </a:r>
            <a:r>
              <a:rPr spc="-3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spc="-10" dirty="0"/>
              <a:t>Pre-</a:t>
            </a:r>
            <a:r>
              <a:rPr dirty="0"/>
              <a:t>Ideathon</a:t>
            </a:r>
            <a:r>
              <a:rPr spc="-3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042B33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900" spc="-50" dirty="0">
                <a:solidFill>
                  <a:srgbClr val="042B35"/>
                </a:solidFill>
                <a:latin typeface="Arial"/>
                <a:cs typeface="Arial"/>
              </a:rPr>
              <a:t>‹#›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2B3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D0DDD7"/>
                </a:solidFill>
                <a:latin typeface="Calibri"/>
                <a:cs typeface="Calibri"/>
              </a:defRPr>
            </a:lvl1pPr>
          </a:lstStyle>
          <a:p>
            <a:pPr marL="294640">
              <a:lnSpc>
                <a:spcPts val="1045"/>
              </a:lnSpc>
            </a:pPr>
            <a:r>
              <a:rPr dirty="0"/>
              <a:t>Genesis</a:t>
            </a:r>
            <a:r>
              <a:rPr spc="-25" dirty="0"/>
              <a:t> </a:t>
            </a:r>
            <a:r>
              <a:rPr dirty="0"/>
              <a:t>Ideathon</a:t>
            </a:r>
            <a:r>
              <a:rPr spc="-3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spc="-10" dirty="0"/>
              <a:t>Pre-</a:t>
            </a:r>
            <a:r>
              <a:rPr dirty="0"/>
              <a:t>Ideathon</a:t>
            </a:r>
            <a:r>
              <a:rPr spc="-3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042B33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900" spc="-50" dirty="0">
                <a:solidFill>
                  <a:srgbClr val="042B35"/>
                </a:solidFill>
                <a:latin typeface="Arial"/>
                <a:cs typeface="Arial"/>
              </a:rPr>
              <a:t>‹#›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2B3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D0DDD7"/>
                </a:solidFill>
                <a:latin typeface="Calibri"/>
                <a:cs typeface="Calibri"/>
              </a:defRPr>
            </a:lvl1pPr>
          </a:lstStyle>
          <a:p>
            <a:pPr marL="294640">
              <a:lnSpc>
                <a:spcPts val="1045"/>
              </a:lnSpc>
            </a:pPr>
            <a:r>
              <a:rPr dirty="0"/>
              <a:t>Genesis</a:t>
            </a:r>
            <a:r>
              <a:rPr spc="-25" dirty="0"/>
              <a:t> </a:t>
            </a:r>
            <a:r>
              <a:rPr dirty="0"/>
              <a:t>Ideathon</a:t>
            </a:r>
            <a:r>
              <a:rPr spc="-3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spc="-10" dirty="0"/>
              <a:t>Pre-</a:t>
            </a:r>
            <a:r>
              <a:rPr dirty="0"/>
              <a:t>Ideathon</a:t>
            </a:r>
            <a:r>
              <a:rPr spc="-3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042B33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900" spc="-50" dirty="0">
                <a:solidFill>
                  <a:srgbClr val="042B35"/>
                </a:solidFill>
                <a:latin typeface="Arial"/>
                <a:cs typeface="Arial"/>
              </a:rPr>
              <a:t>‹#›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2B3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D0DDD7"/>
                </a:solidFill>
                <a:latin typeface="Calibri"/>
                <a:cs typeface="Calibri"/>
              </a:defRPr>
            </a:lvl1pPr>
          </a:lstStyle>
          <a:p>
            <a:pPr marL="294640">
              <a:lnSpc>
                <a:spcPts val="1045"/>
              </a:lnSpc>
            </a:pPr>
            <a:r>
              <a:rPr dirty="0"/>
              <a:t>Genesis</a:t>
            </a:r>
            <a:r>
              <a:rPr spc="-25" dirty="0"/>
              <a:t> </a:t>
            </a:r>
            <a:r>
              <a:rPr dirty="0"/>
              <a:t>Ideathon</a:t>
            </a:r>
            <a:r>
              <a:rPr spc="-3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spc="-10" dirty="0"/>
              <a:t>Pre-</a:t>
            </a:r>
            <a:r>
              <a:rPr dirty="0"/>
              <a:t>Ideathon</a:t>
            </a:r>
            <a:r>
              <a:rPr spc="-3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042B33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900" spc="-50" dirty="0">
                <a:solidFill>
                  <a:srgbClr val="042B35"/>
                </a:solidFill>
                <a:latin typeface="Arial"/>
                <a:cs typeface="Arial"/>
              </a:rPr>
              <a:t>‹#›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D0DDD7"/>
                </a:solidFill>
                <a:latin typeface="Calibri"/>
                <a:cs typeface="Calibri"/>
              </a:defRPr>
            </a:lvl1pPr>
          </a:lstStyle>
          <a:p>
            <a:pPr marL="294640">
              <a:lnSpc>
                <a:spcPts val="1045"/>
              </a:lnSpc>
            </a:pPr>
            <a:r>
              <a:rPr dirty="0"/>
              <a:t>Genesis</a:t>
            </a:r>
            <a:r>
              <a:rPr spc="-25" dirty="0"/>
              <a:t> </a:t>
            </a:r>
            <a:r>
              <a:rPr dirty="0"/>
              <a:t>Ideathon</a:t>
            </a:r>
            <a:r>
              <a:rPr spc="-3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spc="-10" dirty="0"/>
              <a:t>Pre-</a:t>
            </a:r>
            <a:r>
              <a:rPr dirty="0"/>
              <a:t>Ideathon</a:t>
            </a:r>
            <a:r>
              <a:rPr spc="-3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042B33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900" spc="-50" dirty="0">
                <a:solidFill>
                  <a:srgbClr val="042B35"/>
                </a:solidFill>
                <a:latin typeface="Arial"/>
                <a:cs typeface="Arial"/>
              </a:rPr>
              <a:t>‹#›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7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" y="228600"/>
            <a:ext cx="3017520" cy="822960"/>
          </a:xfrm>
          <a:custGeom>
            <a:avLst/>
            <a:gdLst/>
            <a:ahLst/>
            <a:cxnLst/>
            <a:rect l="l" t="t" r="r" b="b"/>
            <a:pathLst>
              <a:path w="3017520" h="822960">
                <a:moveTo>
                  <a:pt x="2926079" y="0"/>
                </a:moveTo>
                <a:lnTo>
                  <a:pt x="91440" y="0"/>
                </a:lnTo>
                <a:lnTo>
                  <a:pt x="55849" y="7179"/>
                </a:lnTo>
                <a:lnTo>
                  <a:pt x="26784" y="26765"/>
                </a:lnTo>
                <a:lnTo>
                  <a:pt x="7186" y="55828"/>
                </a:lnTo>
                <a:lnTo>
                  <a:pt x="0" y="91440"/>
                </a:lnTo>
                <a:lnTo>
                  <a:pt x="0" y="731520"/>
                </a:lnTo>
                <a:lnTo>
                  <a:pt x="7186" y="767131"/>
                </a:lnTo>
                <a:lnTo>
                  <a:pt x="26784" y="796194"/>
                </a:lnTo>
                <a:lnTo>
                  <a:pt x="55849" y="815780"/>
                </a:lnTo>
                <a:lnTo>
                  <a:pt x="91440" y="822960"/>
                </a:lnTo>
                <a:lnTo>
                  <a:pt x="2926079" y="822960"/>
                </a:lnTo>
                <a:lnTo>
                  <a:pt x="2961691" y="815780"/>
                </a:lnTo>
                <a:lnTo>
                  <a:pt x="2990754" y="796194"/>
                </a:lnTo>
                <a:lnTo>
                  <a:pt x="3010340" y="767131"/>
                </a:lnTo>
                <a:lnTo>
                  <a:pt x="3017520" y="731520"/>
                </a:lnTo>
                <a:lnTo>
                  <a:pt x="3017520" y="91440"/>
                </a:lnTo>
                <a:lnTo>
                  <a:pt x="3010340" y="55828"/>
                </a:lnTo>
                <a:lnTo>
                  <a:pt x="2990754" y="26765"/>
                </a:lnTo>
                <a:lnTo>
                  <a:pt x="2961691" y="7179"/>
                </a:lnTo>
                <a:lnTo>
                  <a:pt x="29260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7200" y="228600"/>
            <a:ext cx="3017520" cy="822960"/>
          </a:xfrm>
          <a:custGeom>
            <a:avLst/>
            <a:gdLst/>
            <a:ahLst/>
            <a:cxnLst/>
            <a:rect l="l" t="t" r="r" b="b"/>
            <a:pathLst>
              <a:path w="3017520" h="822960">
                <a:moveTo>
                  <a:pt x="0" y="91440"/>
                </a:moveTo>
                <a:lnTo>
                  <a:pt x="7186" y="55828"/>
                </a:lnTo>
                <a:lnTo>
                  <a:pt x="26784" y="26765"/>
                </a:lnTo>
                <a:lnTo>
                  <a:pt x="55849" y="7179"/>
                </a:lnTo>
                <a:lnTo>
                  <a:pt x="91440" y="0"/>
                </a:lnTo>
                <a:lnTo>
                  <a:pt x="2926079" y="0"/>
                </a:lnTo>
                <a:lnTo>
                  <a:pt x="2961691" y="7179"/>
                </a:lnTo>
                <a:lnTo>
                  <a:pt x="2990754" y="26765"/>
                </a:lnTo>
                <a:lnTo>
                  <a:pt x="3010340" y="55828"/>
                </a:lnTo>
                <a:lnTo>
                  <a:pt x="3017520" y="91440"/>
                </a:lnTo>
                <a:lnTo>
                  <a:pt x="3017520" y="731520"/>
                </a:lnTo>
                <a:lnTo>
                  <a:pt x="3010340" y="767131"/>
                </a:lnTo>
                <a:lnTo>
                  <a:pt x="2990754" y="796194"/>
                </a:lnTo>
                <a:lnTo>
                  <a:pt x="2961691" y="815780"/>
                </a:lnTo>
                <a:lnTo>
                  <a:pt x="2926079" y="822960"/>
                </a:lnTo>
                <a:lnTo>
                  <a:pt x="91440" y="822960"/>
                </a:lnTo>
                <a:lnTo>
                  <a:pt x="55849" y="815780"/>
                </a:lnTo>
                <a:lnTo>
                  <a:pt x="26784" y="796194"/>
                </a:lnTo>
                <a:lnTo>
                  <a:pt x="7186" y="767131"/>
                </a:lnTo>
                <a:lnTo>
                  <a:pt x="0" y="731520"/>
                </a:lnTo>
                <a:lnTo>
                  <a:pt x="0" y="91440"/>
                </a:lnTo>
                <a:close/>
              </a:path>
            </a:pathLst>
          </a:custGeom>
          <a:ln w="12192">
            <a:solidFill>
              <a:srgbClr val="D4E4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78478" y="253695"/>
            <a:ext cx="6259830" cy="748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42B3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2750" y="1913889"/>
            <a:ext cx="11363960" cy="3656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83505" y="6464603"/>
            <a:ext cx="2811779" cy="2306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0DDD7"/>
                </a:solidFill>
                <a:latin typeface="Calibri"/>
                <a:cs typeface="Calibri"/>
              </a:defRPr>
            </a:lvl1pPr>
          </a:lstStyle>
          <a:p>
            <a:pPr marL="294640">
              <a:lnSpc>
                <a:spcPts val="1045"/>
              </a:lnSpc>
            </a:pPr>
            <a:r>
              <a:rPr dirty="0"/>
              <a:t>Genesis</a:t>
            </a:r>
            <a:r>
              <a:rPr spc="-25" dirty="0"/>
              <a:t> </a:t>
            </a:r>
            <a:r>
              <a:rPr dirty="0"/>
              <a:t>Ideathon</a:t>
            </a:r>
            <a:r>
              <a:rPr spc="-3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spc="-10" dirty="0"/>
              <a:t>Pre-</a:t>
            </a:r>
            <a:r>
              <a:rPr dirty="0"/>
              <a:t>Ideathon</a:t>
            </a:r>
            <a:r>
              <a:rPr spc="-3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09426" y="6464603"/>
            <a:ext cx="321055" cy="242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042B33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900" spc="-50" dirty="0">
                <a:solidFill>
                  <a:srgbClr val="042B35"/>
                </a:solidFill>
                <a:latin typeface="Arial"/>
                <a:cs typeface="Arial"/>
              </a:rPr>
              <a:t>‹#›</a:t>
            </a:fld>
            <a:endParaRPr sz="90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1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6.png"/><Relationship Id="rId4" Type="http://schemas.openxmlformats.org/officeDocument/2006/relationships/image" Target="../media/image14.png"/><Relationship Id="rId9" Type="http://schemas.openxmlformats.org/officeDocument/2006/relationships/image" Target="../media/image7.png"/><Relationship Id="rId1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2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7380" y="223773"/>
            <a:ext cx="340804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FFFFFF"/>
                </a:solidFill>
              </a:rPr>
              <a:t>GENESIS </a:t>
            </a:r>
            <a:r>
              <a:rPr sz="5400" spc="-70" dirty="0">
                <a:solidFill>
                  <a:srgbClr val="79C143"/>
                </a:solidFill>
              </a:rPr>
              <a:t>IDEATHON</a:t>
            </a:r>
            <a:endParaRPr sz="5400"/>
          </a:p>
        </p:txBody>
      </p:sp>
      <p:grpSp>
        <p:nvGrpSpPr>
          <p:cNvPr id="4" name="object 4"/>
          <p:cNvGrpSpPr/>
          <p:nvPr/>
        </p:nvGrpSpPr>
        <p:grpSpPr>
          <a:xfrm>
            <a:off x="632459" y="2369820"/>
            <a:ext cx="2667000" cy="472440"/>
            <a:chOff x="632459" y="2369820"/>
            <a:chExt cx="2667000" cy="472440"/>
          </a:xfrm>
        </p:grpSpPr>
        <p:sp>
          <p:nvSpPr>
            <p:cNvPr id="5" name="object 5"/>
            <p:cNvSpPr/>
            <p:nvPr/>
          </p:nvSpPr>
          <p:spPr>
            <a:xfrm>
              <a:off x="640079" y="2377440"/>
              <a:ext cx="2651760" cy="457200"/>
            </a:xfrm>
            <a:custGeom>
              <a:avLst/>
              <a:gdLst/>
              <a:ahLst/>
              <a:cxnLst/>
              <a:rect l="l" t="t" r="r" b="b"/>
              <a:pathLst>
                <a:path w="2651760" h="457200">
                  <a:moveTo>
                    <a:pt x="2423160" y="0"/>
                  </a:moveTo>
                  <a:lnTo>
                    <a:pt x="228600" y="0"/>
                  </a:ln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423160" y="457200"/>
                  </a:lnTo>
                  <a:lnTo>
                    <a:pt x="2469226" y="452555"/>
                  </a:lnTo>
                  <a:lnTo>
                    <a:pt x="2512135" y="439233"/>
                  </a:lnTo>
                  <a:lnTo>
                    <a:pt x="2550966" y="418154"/>
                  </a:lnTo>
                  <a:lnTo>
                    <a:pt x="2584799" y="390239"/>
                  </a:lnTo>
                  <a:lnTo>
                    <a:pt x="2612714" y="356406"/>
                  </a:lnTo>
                  <a:lnTo>
                    <a:pt x="2633793" y="317575"/>
                  </a:lnTo>
                  <a:lnTo>
                    <a:pt x="2647115" y="274666"/>
                  </a:lnTo>
                  <a:lnTo>
                    <a:pt x="2651760" y="228600"/>
                  </a:lnTo>
                  <a:lnTo>
                    <a:pt x="2647115" y="182533"/>
                  </a:lnTo>
                  <a:lnTo>
                    <a:pt x="2633793" y="139624"/>
                  </a:lnTo>
                  <a:lnTo>
                    <a:pt x="2612714" y="100793"/>
                  </a:lnTo>
                  <a:lnTo>
                    <a:pt x="2584799" y="66960"/>
                  </a:lnTo>
                  <a:lnTo>
                    <a:pt x="2550966" y="39045"/>
                  </a:lnTo>
                  <a:lnTo>
                    <a:pt x="2512135" y="17966"/>
                  </a:lnTo>
                  <a:lnTo>
                    <a:pt x="2469226" y="4644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042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79" y="2377440"/>
              <a:ext cx="2651760" cy="457200"/>
            </a:xfrm>
            <a:custGeom>
              <a:avLst/>
              <a:gdLst/>
              <a:ahLst/>
              <a:cxnLst/>
              <a:rect l="l" t="t" r="r" b="b"/>
              <a:pathLst>
                <a:path w="265176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4" y="139624"/>
                  </a:lnTo>
                  <a:lnTo>
                    <a:pt x="39041" y="100793"/>
                  </a:lnTo>
                  <a:lnTo>
                    <a:pt x="66955" y="66960"/>
                  </a:lnTo>
                  <a:lnTo>
                    <a:pt x="100788" y="39045"/>
                  </a:lnTo>
                  <a:lnTo>
                    <a:pt x="139619" y="17966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423160" y="0"/>
                  </a:lnTo>
                  <a:lnTo>
                    <a:pt x="2469226" y="4644"/>
                  </a:lnTo>
                  <a:lnTo>
                    <a:pt x="2512135" y="17966"/>
                  </a:lnTo>
                  <a:lnTo>
                    <a:pt x="2550966" y="39045"/>
                  </a:lnTo>
                  <a:lnTo>
                    <a:pt x="2584799" y="66960"/>
                  </a:lnTo>
                  <a:lnTo>
                    <a:pt x="2612714" y="100793"/>
                  </a:lnTo>
                  <a:lnTo>
                    <a:pt x="2633793" y="139624"/>
                  </a:lnTo>
                  <a:lnTo>
                    <a:pt x="2647115" y="182533"/>
                  </a:lnTo>
                  <a:lnTo>
                    <a:pt x="2651760" y="228600"/>
                  </a:lnTo>
                  <a:lnTo>
                    <a:pt x="2647115" y="274666"/>
                  </a:lnTo>
                  <a:lnTo>
                    <a:pt x="2633793" y="317575"/>
                  </a:lnTo>
                  <a:lnTo>
                    <a:pt x="2612714" y="356406"/>
                  </a:lnTo>
                  <a:lnTo>
                    <a:pt x="2584799" y="390239"/>
                  </a:lnTo>
                  <a:lnTo>
                    <a:pt x="2550966" y="418154"/>
                  </a:lnTo>
                  <a:lnTo>
                    <a:pt x="2512135" y="439233"/>
                  </a:lnTo>
                  <a:lnTo>
                    <a:pt x="2469226" y="452555"/>
                  </a:lnTo>
                  <a:lnTo>
                    <a:pt x="2423160" y="457200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3"/>
                  </a:lnTo>
                  <a:lnTo>
                    <a:pt x="100788" y="418154"/>
                  </a:lnTo>
                  <a:lnTo>
                    <a:pt x="66955" y="390239"/>
                  </a:lnTo>
                  <a:lnTo>
                    <a:pt x="39041" y="356406"/>
                  </a:lnTo>
                  <a:lnTo>
                    <a:pt x="17964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5240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7380" y="2493390"/>
            <a:ext cx="6869430" cy="353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61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E A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200" b="1" spc="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2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2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 </a:t>
            </a: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har char="•"/>
              <a:tabLst>
                <a:tab pos="240665" algn="l"/>
              </a:tabLst>
            </a:pP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Nexora</a:t>
            </a:r>
            <a:endParaRPr sz="16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Char char="•"/>
              <a:tabLst>
                <a:tab pos="240665" algn="l"/>
              </a:tabLst>
            </a:pP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Members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lang="en-US" sz="1600" spc="-25" dirty="0" smtClean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lvl="8" algn="l">
              <a:spcBef>
                <a:spcPts val="805"/>
              </a:spcBef>
              <a:tabLst>
                <a:tab pos="240665" algn="l"/>
              </a:tabLst>
            </a:pPr>
            <a:r>
              <a:rPr lang="en-US" sz="1600" dirty="0" smtClean="0">
                <a:solidFill>
                  <a:srgbClr val="FFFFFF"/>
                </a:solidFill>
                <a:latin typeface="Calibri"/>
                <a:cs typeface="Calibri"/>
              </a:rPr>
              <a:t>                                 </a:t>
            </a:r>
            <a:r>
              <a:rPr sz="1600" dirty="0" smtClean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Kavisri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CB.EN.U4CCE26131</a:t>
            </a:r>
            <a:endParaRPr sz="1600" dirty="0">
              <a:latin typeface="Calibri"/>
              <a:cs typeface="Calibri"/>
            </a:endParaRPr>
          </a:p>
          <a:p>
            <a:pPr marL="12699" lvl="4" algn="l">
              <a:spcBef>
                <a:spcPts val="795"/>
              </a:spcBef>
              <a:tabLst>
                <a:tab pos="211454" algn="l"/>
              </a:tabLst>
            </a:pPr>
            <a:r>
              <a:rPr lang="en-US" sz="1600" dirty="0" smtClean="0">
                <a:solidFill>
                  <a:srgbClr val="FFFFFF"/>
                </a:solidFill>
                <a:latin typeface="Calibri"/>
                <a:cs typeface="Calibri"/>
              </a:rPr>
              <a:t>                                 2. </a:t>
            </a:r>
            <a:r>
              <a:rPr sz="1600" dirty="0" smtClean="0">
                <a:solidFill>
                  <a:srgbClr val="FFFFFF"/>
                </a:solidFill>
                <a:latin typeface="Calibri"/>
                <a:cs typeface="Calibri"/>
              </a:rPr>
              <a:t>Kaushik</a:t>
            </a:r>
            <a:r>
              <a:rPr sz="1600" spc="-30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CB.EN.U4CCE26130</a:t>
            </a:r>
            <a:endParaRPr sz="1600" dirty="0">
              <a:latin typeface="Calibri"/>
              <a:cs typeface="Calibri"/>
            </a:endParaRPr>
          </a:p>
          <a:p>
            <a:pPr marL="12699" lvl="4" algn="l">
              <a:spcBef>
                <a:spcPts val="805"/>
              </a:spcBef>
              <a:tabLst>
                <a:tab pos="211454" algn="l"/>
              </a:tabLst>
            </a:pPr>
            <a:r>
              <a:rPr lang="en-US" sz="1600" dirty="0" smtClean="0">
                <a:solidFill>
                  <a:srgbClr val="FFFFFF"/>
                </a:solidFill>
                <a:latin typeface="Calibri"/>
                <a:cs typeface="Calibri"/>
              </a:rPr>
              <a:t>                                 3. </a:t>
            </a:r>
            <a:r>
              <a:rPr sz="1600" dirty="0" err="1" smtClean="0">
                <a:solidFill>
                  <a:srgbClr val="FFFFFF"/>
                </a:solidFill>
                <a:latin typeface="Calibri"/>
                <a:cs typeface="Calibri"/>
              </a:rPr>
              <a:t>Shruthi</a:t>
            </a:r>
            <a:r>
              <a:rPr sz="1600" spc="-25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Lakshmi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CB.EN.U4CCE26151</a:t>
            </a:r>
            <a:endParaRPr sz="1600" dirty="0">
              <a:latin typeface="Calibri"/>
              <a:cs typeface="Calibri"/>
            </a:endParaRPr>
          </a:p>
          <a:p>
            <a:pPr marL="12699" lvl="4" algn="l">
              <a:spcBef>
                <a:spcPts val="800"/>
              </a:spcBef>
              <a:tabLst>
                <a:tab pos="211454" algn="l"/>
              </a:tabLst>
            </a:pPr>
            <a:r>
              <a:rPr lang="en-US" sz="1600" dirty="0" smtClean="0">
                <a:solidFill>
                  <a:srgbClr val="FFFFFF"/>
                </a:solidFill>
                <a:latin typeface="Calibri"/>
                <a:cs typeface="Calibri"/>
              </a:rPr>
              <a:t>                                 4.</a:t>
            </a:r>
            <a:r>
              <a:rPr sz="1600" dirty="0" smtClean="0">
                <a:solidFill>
                  <a:srgbClr val="FFFFFF"/>
                </a:solidFill>
                <a:latin typeface="Calibri"/>
                <a:cs typeface="Calibri"/>
              </a:rPr>
              <a:t>Gautham</a:t>
            </a:r>
            <a:r>
              <a:rPr sz="1600" spc="-35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Ashokkumar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 -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CB.EN.U4CCE26120</a:t>
            </a:r>
            <a:endParaRPr sz="1600" dirty="0">
              <a:latin typeface="Calibri"/>
              <a:cs typeface="Calibri"/>
            </a:endParaRPr>
          </a:p>
          <a:p>
            <a:pPr marL="240665" lvl="1" indent="-227965">
              <a:lnSpc>
                <a:spcPct val="100000"/>
              </a:lnSpc>
              <a:spcBef>
                <a:spcPts val="795"/>
              </a:spcBef>
              <a:buChar char="•"/>
              <a:tabLst>
                <a:tab pos="24066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Selected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Domain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Domain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#2</a:t>
            </a:r>
            <a:endParaRPr sz="1600" dirty="0">
              <a:latin typeface="Calibri"/>
              <a:cs typeface="Calibri"/>
            </a:endParaRPr>
          </a:p>
          <a:p>
            <a:pPr marL="240665" lvl="1" indent="-227965">
              <a:lnSpc>
                <a:spcPct val="100000"/>
              </a:lnSpc>
              <a:spcBef>
                <a:spcPts val="805"/>
              </a:spcBef>
              <a:buChar char="•"/>
              <a:tabLst>
                <a:tab pos="24066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AI-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Powered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Predictive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Fault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Zero-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Downtime</a:t>
            </a:r>
            <a:endParaRPr sz="160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Maintenance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Electrical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Grids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759952" y="1719072"/>
            <a:ext cx="2964180" cy="3421379"/>
            <a:chOff x="8759952" y="1719072"/>
            <a:chExt cx="2964180" cy="3421379"/>
          </a:xfrm>
        </p:grpSpPr>
        <p:sp>
          <p:nvSpPr>
            <p:cNvPr id="9" name="object 9"/>
            <p:cNvSpPr/>
            <p:nvPr/>
          </p:nvSpPr>
          <p:spPr>
            <a:xfrm>
              <a:off x="8779002" y="1738122"/>
              <a:ext cx="2926080" cy="3383279"/>
            </a:xfrm>
            <a:custGeom>
              <a:avLst/>
              <a:gdLst/>
              <a:ahLst/>
              <a:cxnLst/>
              <a:rect l="l" t="t" r="r" b="b"/>
              <a:pathLst>
                <a:path w="2926079" h="3383279">
                  <a:moveTo>
                    <a:pt x="2194559" y="0"/>
                  </a:moveTo>
                  <a:lnTo>
                    <a:pt x="731520" y="0"/>
                  </a:lnTo>
                  <a:lnTo>
                    <a:pt x="0" y="1691639"/>
                  </a:lnTo>
                  <a:lnTo>
                    <a:pt x="731520" y="3383279"/>
                  </a:lnTo>
                  <a:lnTo>
                    <a:pt x="2194559" y="3383279"/>
                  </a:lnTo>
                  <a:lnTo>
                    <a:pt x="2926079" y="1691639"/>
                  </a:lnTo>
                  <a:lnTo>
                    <a:pt x="21945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9002" y="1738122"/>
              <a:ext cx="2926080" cy="3383279"/>
            </a:xfrm>
            <a:custGeom>
              <a:avLst/>
              <a:gdLst/>
              <a:ahLst/>
              <a:cxnLst/>
              <a:rect l="l" t="t" r="r" b="b"/>
              <a:pathLst>
                <a:path w="2926079" h="3383279">
                  <a:moveTo>
                    <a:pt x="0" y="1691639"/>
                  </a:moveTo>
                  <a:lnTo>
                    <a:pt x="731520" y="0"/>
                  </a:lnTo>
                  <a:lnTo>
                    <a:pt x="2194559" y="0"/>
                  </a:lnTo>
                  <a:lnTo>
                    <a:pt x="2926079" y="1691639"/>
                  </a:lnTo>
                  <a:lnTo>
                    <a:pt x="2194559" y="3383279"/>
                  </a:lnTo>
                  <a:lnTo>
                    <a:pt x="731520" y="3383279"/>
                  </a:lnTo>
                  <a:lnTo>
                    <a:pt x="0" y="1691639"/>
                  </a:lnTo>
                  <a:close/>
                </a:path>
              </a:pathLst>
            </a:custGeom>
            <a:ln w="38100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/home/claude/logo-000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55480" y="2331720"/>
              <a:ext cx="1371600" cy="178307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429259"/>
            <a:ext cx="735965" cy="40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0"/>
              </a:lnSpc>
              <a:spcBef>
                <a:spcPts val="100"/>
              </a:spcBef>
            </a:pP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T</a:t>
            </a:r>
            <a:r>
              <a:rPr sz="900" b="1" spc="-1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E</a:t>
            </a:r>
            <a:r>
              <a:rPr sz="900" b="1" spc="-1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A</a:t>
            </a:r>
            <a:r>
              <a:rPr sz="900" b="1" spc="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M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ts val="1900"/>
              </a:lnSpc>
            </a:pPr>
            <a:r>
              <a:rPr sz="1600" b="1" spc="-10" dirty="0">
                <a:solidFill>
                  <a:srgbClr val="006B53"/>
                </a:solidFill>
                <a:latin typeface="Calibri"/>
                <a:cs typeface="Calibri"/>
              </a:rPr>
              <a:t>NEXORA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757171" y="274320"/>
            <a:ext cx="6259830" cy="748665"/>
          </a:xfrm>
          <a:prstGeom prst="rect">
            <a:avLst/>
          </a:prstGeom>
        </p:spPr>
        <p:txBody>
          <a:bodyPr vert="horz" wrap="square" lIns="0" tIns="186994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00"/>
              </a:spcBef>
            </a:pPr>
            <a:r>
              <a:rPr dirty="0"/>
              <a:t>DOMAIN</a:t>
            </a:r>
            <a:r>
              <a:rPr spc="-60" dirty="0"/>
              <a:t> </a:t>
            </a:r>
            <a:r>
              <a:rPr spc="-10" dirty="0"/>
              <a:t>PROBLEM</a:t>
            </a:r>
            <a:r>
              <a:rPr spc="-5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OUR</a:t>
            </a:r>
            <a:r>
              <a:rPr spc="-45" dirty="0"/>
              <a:t> </a:t>
            </a:r>
            <a:r>
              <a:rPr spc="-10" dirty="0"/>
              <a:t>WORDS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875264" y="222504"/>
            <a:ext cx="881380" cy="881380"/>
            <a:chOff x="10875264" y="222504"/>
            <a:chExt cx="881380" cy="881380"/>
          </a:xfrm>
        </p:grpSpPr>
        <p:sp>
          <p:nvSpPr>
            <p:cNvPr id="8" name="object 8"/>
            <p:cNvSpPr/>
            <p:nvPr/>
          </p:nvSpPr>
          <p:spPr>
            <a:xfrm>
              <a:off x="10881360" y="22860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77724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777239"/>
                  </a:lnTo>
                  <a:lnTo>
                    <a:pt x="7179" y="812851"/>
                  </a:lnTo>
                  <a:lnTo>
                    <a:pt x="26765" y="841914"/>
                  </a:lnTo>
                  <a:lnTo>
                    <a:pt x="55828" y="861500"/>
                  </a:lnTo>
                  <a:lnTo>
                    <a:pt x="91440" y="868679"/>
                  </a:lnTo>
                  <a:lnTo>
                    <a:pt x="777240" y="868679"/>
                  </a:lnTo>
                  <a:lnTo>
                    <a:pt x="812851" y="861500"/>
                  </a:lnTo>
                  <a:lnTo>
                    <a:pt x="841914" y="841914"/>
                  </a:lnTo>
                  <a:lnTo>
                    <a:pt x="861500" y="812851"/>
                  </a:lnTo>
                  <a:lnTo>
                    <a:pt x="868680" y="777239"/>
                  </a:lnTo>
                  <a:lnTo>
                    <a:pt x="868680" y="91440"/>
                  </a:lnTo>
                  <a:lnTo>
                    <a:pt x="861500" y="55828"/>
                  </a:lnTo>
                  <a:lnTo>
                    <a:pt x="841914" y="26765"/>
                  </a:lnTo>
                  <a:lnTo>
                    <a:pt x="812851" y="7179"/>
                  </a:lnTo>
                  <a:lnTo>
                    <a:pt x="777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81360" y="22860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777240" y="0"/>
                  </a:lnTo>
                  <a:lnTo>
                    <a:pt x="812851" y="7179"/>
                  </a:lnTo>
                  <a:lnTo>
                    <a:pt x="841914" y="26765"/>
                  </a:lnTo>
                  <a:lnTo>
                    <a:pt x="861500" y="55828"/>
                  </a:lnTo>
                  <a:lnTo>
                    <a:pt x="868680" y="91440"/>
                  </a:lnTo>
                  <a:lnTo>
                    <a:pt x="868680" y="777239"/>
                  </a:lnTo>
                  <a:lnTo>
                    <a:pt x="861500" y="812851"/>
                  </a:lnTo>
                  <a:lnTo>
                    <a:pt x="841914" y="841914"/>
                  </a:lnTo>
                  <a:lnTo>
                    <a:pt x="812851" y="861500"/>
                  </a:lnTo>
                  <a:lnTo>
                    <a:pt x="777240" y="868679"/>
                  </a:lnTo>
                  <a:lnTo>
                    <a:pt x="91440" y="868679"/>
                  </a:lnTo>
                  <a:lnTo>
                    <a:pt x="55828" y="861500"/>
                  </a:lnTo>
                  <a:lnTo>
                    <a:pt x="26765" y="841914"/>
                  </a:lnTo>
                  <a:lnTo>
                    <a:pt x="7179" y="812851"/>
                  </a:lnTo>
                  <a:lnTo>
                    <a:pt x="0" y="777239"/>
                  </a:lnTo>
                  <a:lnTo>
                    <a:pt x="0" y="91440"/>
                  </a:lnTo>
                  <a:close/>
                </a:path>
              </a:pathLst>
            </a:custGeom>
            <a:ln w="12191">
              <a:solidFill>
                <a:srgbClr val="D4E4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/home/claude/logo-000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64240" y="274320"/>
              <a:ext cx="502920" cy="65836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468860" y="1381380"/>
            <a:ext cx="469900" cy="469900"/>
            <a:chOff x="451104" y="1274063"/>
            <a:chExt cx="469900" cy="469900"/>
          </a:xfrm>
        </p:grpSpPr>
        <p:sp>
          <p:nvSpPr>
            <p:cNvPr id="17" name="object 17"/>
            <p:cNvSpPr/>
            <p:nvPr/>
          </p:nvSpPr>
          <p:spPr>
            <a:xfrm>
              <a:off x="457200" y="12801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200" y="12801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25246" y="1471898"/>
            <a:ext cx="10869295" cy="34445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Explanation</a:t>
            </a:r>
            <a:r>
              <a:rPr sz="1800" b="1" spc="-5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of the</a:t>
            </a:r>
            <a:r>
              <a:rPr sz="1800" b="1" spc="-1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problem</a:t>
            </a:r>
            <a:r>
              <a:rPr sz="1800" b="1" spc="-4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in</a:t>
            </a:r>
            <a:r>
              <a:rPr sz="1800" b="1" spc="-1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our</a:t>
            </a:r>
            <a:r>
              <a:rPr sz="1800" b="1" spc="-2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945"/>
                </a:solidFill>
                <a:latin typeface="Calibri"/>
                <a:cs typeface="Calibri"/>
              </a:rPr>
              <a:t>domain: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1500" b="1" dirty="0">
                <a:solidFill>
                  <a:srgbClr val="042B33"/>
                </a:solidFill>
                <a:latin typeface="Calibri"/>
                <a:cs typeface="Calibri"/>
              </a:rPr>
              <a:t>What</a:t>
            </a:r>
            <a:r>
              <a:rPr sz="1500" b="1" spc="-40" dirty="0">
                <a:solidFill>
                  <a:srgbClr val="042B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42B33"/>
                </a:solidFill>
                <a:latin typeface="Calibri"/>
                <a:cs typeface="Calibri"/>
              </a:rPr>
              <a:t>Exactly</a:t>
            </a:r>
            <a:r>
              <a:rPr sz="1500" b="1" spc="-25" dirty="0">
                <a:solidFill>
                  <a:srgbClr val="042B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42B33"/>
                </a:solidFill>
                <a:latin typeface="Calibri"/>
                <a:cs typeface="Calibri"/>
              </a:rPr>
              <a:t>Needs</a:t>
            </a:r>
            <a:r>
              <a:rPr sz="1500" b="1" spc="-50" dirty="0">
                <a:solidFill>
                  <a:srgbClr val="042B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42B33"/>
                </a:solidFill>
                <a:latin typeface="Calibri"/>
                <a:cs typeface="Calibri"/>
              </a:rPr>
              <a:t>to</a:t>
            </a:r>
            <a:r>
              <a:rPr sz="1500" b="1" spc="-15" dirty="0">
                <a:solidFill>
                  <a:srgbClr val="042B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42B33"/>
                </a:solidFill>
                <a:latin typeface="Calibri"/>
                <a:cs typeface="Calibri"/>
              </a:rPr>
              <a:t>Be</a:t>
            </a:r>
            <a:r>
              <a:rPr sz="1500" b="1" spc="-45" dirty="0">
                <a:solidFill>
                  <a:srgbClr val="042B33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42B33"/>
                </a:solidFill>
                <a:latin typeface="Calibri"/>
                <a:cs typeface="Calibri"/>
              </a:rPr>
              <a:t>Solved?</a:t>
            </a:r>
            <a:endParaRPr sz="15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Current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grid</a:t>
            </a:r>
            <a:r>
              <a:rPr sz="140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safety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relies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on</a:t>
            </a:r>
            <a:r>
              <a:rPr sz="140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reactive</a:t>
            </a:r>
            <a:r>
              <a:rPr sz="140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breakers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that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only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trigger</a:t>
            </a:r>
            <a:r>
              <a:rPr sz="140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after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explosions,</a:t>
            </a:r>
            <a:r>
              <a:rPr sz="140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short</a:t>
            </a:r>
            <a:r>
              <a:rPr sz="140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circuits,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or</a:t>
            </a:r>
            <a:r>
              <a:rPr sz="140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outages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occur.</a:t>
            </a:r>
            <a:r>
              <a:rPr sz="1400" spc="-5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1F3A39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stop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failures</a:t>
            </a:r>
            <a:r>
              <a:rPr sz="140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beforehand,</a:t>
            </a:r>
            <a:r>
              <a:rPr sz="1400" spc="50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lightweight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AI</a:t>
            </a:r>
            <a:r>
              <a:rPr sz="140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must</a:t>
            </a:r>
            <a:r>
              <a:rPr sz="140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run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directly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on</a:t>
            </a:r>
            <a:r>
              <a:rPr sz="140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local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edge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sensors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for</a:t>
            </a:r>
            <a:r>
              <a:rPr sz="1400" spc="-5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instant,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low-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latency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analysis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of</a:t>
            </a:r>
            <a:r>
              <a:rPr sz="140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micro-anomalies</a:t>
            </a:r>
            <a:r>
              <a:rPr sz="140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like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high-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frequency</a:t>
            </a:r>
            <a:r>
              <a:rPr sz="1400" spc="-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arcing</a:t>
            </a:r>
            <a:r>
              <a:rPr sz="140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micro-voltage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drops.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This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requires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affordable,</a:t>
            </a:r>
            <a:r>
              <a:rPr sz="140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plug-and-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play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sensor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kits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upgrade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legacy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substations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without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replacing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multi-million-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dollar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hardware.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Additionally,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system</a:t>
            </a:r>
            <a:r>
              <a:rPr sz="140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must</a:t>
            </a:r>
            <a:r>
              <a:rPr sz="140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filter</a:t>
            </a:r>
            <a:r>
              <a:rPr sz="140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out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harmless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power</a:t>
            </a:r>
            <a:r>
              <a:rPr sz="140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surges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caused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by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EV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fast-chargers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solar</a:t>
            </a:r>
            <a:r>
              <a:rPr sz="140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backfeed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from</a:t>
            </a:r>
            <a:r>
              <a:rPr sz="1400" spc="-6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genuine</a:t>
            </a:r>
            <a:r>
              <a:rPr sz="140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equipment</a:t>
            </a:r>
            <a:r>
              <a:rPr sz="140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degradation.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lang="en-US" sz="1400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042B33"/>
                </a:solidFill>
                <a:latin typeface="Calibri"/>
                <a:cs typeface="Calibri"/>
              </a:rPr>
              <a:t>Why</a:t>
            </a:r>
            <a:r>
              <a:rPr sz="1500" b="1" spc="-50" dirty="0">
                <a:solidFill>
                  <a:srgbClr val="042B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42B33"/>
                </a:solidFill>
                <a:latin typeface="Calibri"/>
                <a:cs typeface="Calibri"/>
              </a:rPr>
              <a:t>Is</a:t>
            </a:r>
            <a:r>
              <a:rPr sz="1500" b="1" spc="-35" dirty="0">
                <a:solidFill>
                  <a:srgbClr val="042B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42B33"/>
                </a:solidFill>
                <a:latin typeface="Calibri"/>
                <a:cs typeface="Calibri"/>
              </a:rPr>
              <a:t>It</a:t>
            </a:r>
            <a:r>
              <a:rPr sz="1500" b="1" spc="-40" dirty="0">
                <a:solidFill>
                  <a:srgbClr val="042B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42B33"/>
                </a:solidFill>
                <a:latin typeface="Calibri"/>
                <a:cs typeface="Calibri"/>
              </a:rPr>
              <a:t>Important</a:t>
            </a:r>
            <a:r>
              <a:rPr sz="1500" b="1" spc="-25" dirty="0">
                <a:solidFill>
                  <a:srgbClr val="042B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42B33"/>
                </a:solidFill>
                <a:latin typeface="Calibri"/>
                <a:cs typeface="Calibri"/>
              </a:rPr>
              <a:t>Right</a:t>
            </a:r>
            <a:r>
              <a:rPr sz="1500" b="1" spc="-35" dirty="0">
                <a:solidFill>
                  <a:srgbClr val="042B33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042B33"/>
                </a:solidFill>
                <a:latin typeface="Calibri"/>
                <a:cs typeface="Calibri"/>
              </a:rPr>
              <a:t>Now?</a:t>
            </a:r>
            <a:endParaRPr sz="1500" dirty="0">
              <a:latin typeface="Calibri"/>
              <a:cs typeface="Calibri"/>
            </a:endParaRPr>
          </a:p>
          <a:p>
            <a:pPr marL="12700" marR="417830">
              <a:lnSpc>
                <a:spcPct val="100000"/>
              </a:lnSpc>
              <a:spcBef>
                <a:spcPts val="605"/>
              </a:spcBef>
            </a:pP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Aging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power</a:t>
            </a:r>
            <a:r>
              <a:rPr sz="1400" spc="-5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networks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are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facing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unprecedented</a:t>
            </a:r>
            <a:r>
              <a:rPr sz="1400" spc="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strain</a:t>
            </a:r>
            <a:r>
              <a:rPr sz="140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from</a:t>
            </a:r>
            <a:r>
              <a:rPr sz="1400" spc="-6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two-way</a:t>
            </a:r>
            <a:r>
              <a:rPr sz="1400" spc="-5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renewable</a:t>
            </a:r>
            <a:r>
              <a:rPr sz="140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energy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flows,</a:t>
            </a:r>
            <a:r>
              <a:rPr sz="1400" spc="-5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dramatically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increasing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risk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of</a:t>
            </a:r>
            <a:r>
              <a:rPr sz="140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grid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collapse. Undetected</a:t>
            </a:r>
            <a:r>
              <a:rPr sz="1400" spc="-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insulation</a:t>
            </a:r>
            <a:r>
              <a:rPr sz="1400" spc="-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breakdown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frequently</a:t>
            </a:r>
            <a:r>
              <a:rPr sz="1400" spc="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leads</a:t>
            </a:r>
            <a:r>
              <a:rPr sz="140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severe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transformer</a:t>
            </a:r>
            <a:r>
              <a:rPr sz="140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explosions,</a:t>
            </a:r>
            <a:r>
              <a:rPr sz="140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residential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fire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hazards,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40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costly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machinery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damage</a:t>
            </a:r>
            <a:r>
              <a:rPr sz="1400" spc="-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from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unexpected</a:t>
            </a:r>
            <a:r>
              <a:rPr sz="1400" spc="-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blackouts.</a:t>
            </a:r>
            <a:r>
              <a:rPr sz="140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Delivering</a:t>
            </a:r>
            <a:r>
              <a:rPr sz="140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real-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time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health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scores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gives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grid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operators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a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48-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hour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head</a:t>
            </a:r>
            <a:r>
              <a:rPr sz="140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start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execute 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zero-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downtime</a:t>
            </a:r>
            <a:r>
              <a:rPr sz="140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maintenance, safeguarding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public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safety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ensuring</a:t>
            </a:r>
            <a:r>
              <a:rPr sz="140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continuous</a:t>
            </a:r>
            <a:r>
              <a:rPr sz="140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3A39"/>
                </a:solidFill>
                <a:latin typeface="Calibri"/>
                <a:cs typeface="Calibri"/>
              </a:rPr>
              <a:t>energy</a:t>
            </a:r>
            <a:r>
              <a:rPr sz="140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3A39"/>
                </a:solidFill>
                <a:latin typeface="Calibri"/>
                <a:cs typeface="Calibri"/>
              </a:rPr>
              <a:t>delivery.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-6095" y="6348983"/>
            <a:ext cx="12201525" cy="515620"/>
            <a:chOff x="-6095" y="6348983"/>
            <a:chExt cx="12201525" cy="515620"/>
          </a:xfrm>
        </p:grpSpPr>
        <p:sp>
          <p:nvSpPr>
            <p:cNvPr id="12" name="object 12"/>
            <p:cNvSpPr/>
            <p:nvPr/>
          </p:nvSpPr>
          <p:spPr>
            <a:xfrm>
              <a:off x="0" y="6355079"/>
              <a:ext cx="12189460" cy="502920"/>
            </a:xfrm>
            <a:custGeom>
              <a:avLst/>
              <a:gdLst/>
              <a:ahLst/>
              <a:cxnLst/>
              <a:rect l="l" t="t" r="r" b="b"/>
              <a:pathLst>
                <a:path w="12189460" h="502920">
                  <a:moveTo>
                    <a:pt x="12188952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188952" y="502920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042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6355079"/>
              <a:ext cx="12189460" cy="502920"/>
            </a:xfrm>
            <a:custGeom>
              <a:avLst/>
              <a:gdLst/>
              <a:ahLst/>
              <a:cxnLst/>
              <a:rect l="l" t="t" r="r" b="b"/>
              <a:pathLst>
                <a:path w="12189460" h="502920">
                  <a:moveTo>
                    <a:pt x="0" y="502920"/>
                  </a:moveTo>
                  <a:lnTo>
                    <a:pt x="12188952" y="502920"/>
                  </a:lnTo>
                  <a:lnTo>
                    <a:pt x="12188952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192">
              <a:solidFill>
                <a:srgbClr val="042B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292839" y="6382512"/>
              <a:ext cx="548640" cy="457200"/>
            </a:xfrm>
            <a:custGeom>
              <a:avLst/>
              <a:gdLst/>
              <a:ahLst/>
              <a:cxnLst/>
              <a:rect l="l" t="t" r="r" b="b"/>
              <a:pathLst>
                <a:path w="548640" h="457200">
                  <a:moveTo>
                    <a:pt x="434339" y="0"/>
                  </a:moveTo>
                  <a:lnTo>
                    <a:pt x="114300" y="0"/>
                  </a:lnTo>
                  <a:lnTo>
                    <a:pt x="0" y="228599"/>
                  </a:lnTo>
                  <a:lnTo>
                    <a:pt x="114300" y="457198"/>
                  </a:lnTo>
                  <a:lnTo>
                    <a:pt x="434339" y="457198"/>
                  </a:lnTo>
                  <a:lnTo>
                    <a:pt x="548639" y="228599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92839" y="6382512"/>
              <a:ext cx="548640" cy="457200"/>
            </a:xfrm>
            <a:custGeom>
              <a:avLst/>
              <a:gdLst/>
              <a:ahLst/>
              <a:cxnLst/>
              <a:rect l="l" t="t" r="r" b="b"/>
              <a:pathLst>
                <a:path w="548640" h="457200">
                  <a:moveTo>
                    <a:pt x="0" y="228599"/>
                  </a:moveTo>
                  <a:lnTo>
                    <a:pt x="114300" y="0"/>
                  </a:lnTo>
                  <a:lnTo>
                    <a:pt x="434339" y="0"/>
                  </a:lnTo>
                  <a:lnTo>
                    <a:pt x="548639" y="228599"/>
                  </a:lnTo>
                  <a:lnTo>
                    <a:pt x="434339" y="457198"/>
                  </a:lnTo>
                  <a:lnTo>
                    <a:pt x="114300" y="457198"/>
                  </a:lnTo>
                  <a:lnTo>
                    <a:pt x="0" y="228599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519661" y="6541719"/>
            <a:ext cx="9652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b="1" spc="-50" dirty="0">
                <a:solidFill>
                  <a:srgbClr val="042B33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2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51" y="1464492"/>
            <a:ext cx="274320" cy="274320"/>
          </a:xfrm>
          <a:prstGeom prst="rect">
            <a:avLst/>
          </a:prstGeom>
        </p:spPr>
      </p:pic>
      <p:grpSp>
        <p:nvGrpSpPr>
          <p:cNvPr id="23" name="object 3"/>
          <p:cNvGrpSpPr/>
          <p:nvPr/>
        </p:nvGrpSpPr>
        <p:grpSpPr>
          <a:xfrm>
            <a:off x="518536" y="328810"/>
            <a:ext cx="657788" cy="600964"/>
            <a:chOff x="633983" y="405384"/>
            <a:chExt cx="469900" cy="469900"/>
          </a:xfrm>
        </p:grpSpPr>
        <p:sp>
          <p:nvSpPr>
            <p:cNvPr id="24" name="object 4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5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Team Icon" descr="Tea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70" y="458048"/>
            <a:ext cx="36576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8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57200" y="320039"/>
            <a:ext cx="2633980" cy="822960"/>
            <a:chOff x="457200" y="320039"/>
            <a:chExt cx="2633980" cy="822960"/>
          </a:xfrm>
        </p:grpSpPr>
        <p:sp>
          <p:nvSpPr>
            <p:cNvPr id="11" name="object 11"/>
            <p:cNvSpPr/>
            <p:nvPr/>
          </p:nvSpPr>
          <p:spPr>
            <a:xfrm>
              <a:off x="457200" y="320039"/>
              <a:ext cx="2633980" cy="822960"/>
            </a:xfrm>
            <a:custGeom>
              <a:avLst/>
              <a:gdLst/>
              <a:ahLst/>
              <a:cxnLst/>
              <a:rect l="l" t="t" r="r" b="b"/>
              <a:pathLst>
                <a:path w="2633980" h="822960">
                  <a:moveTo>
                    <a:pt x="2496312" y="0"/>
                  </a:moveTo>
                  <a:lnTo>
                    <a:pt x="137159" y="0"/>
                  </a:lnTo>
                  <a:lnTo>
                    <a:pt x="93805" y="6998"/>
                  </a:lnTo>
                  <a:lnTo>
                    <a:pt x="56153" y="26481"/>
                  </a:lnTo>
                  <a:lnTo>
                    <a:pt x="26462" y="56180"/>
                  </a:lnTo>
                  <a:lnTo>
                    <a:pt x="6992" y="93829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6992" y="729130"/>
                  </a:lnTo>
                  <a:lnTo>
                    <a:pt x="26462" y="766779"/>
                  </a:lnTo>
                  <a:lnTo>
                    <a:pt x="56153" y="796478"/>
                  </a:lnTo>
                  <a:lnTo>
                    <a:pt x="93805" y="815961"/>
                  </a:lnTo>
                  <a:lnTo>
                    <a:pt x="137159" y="822959"/>
                  </a:lnTo>
                  <a:lnTo>
                    <a:pt x="2496312" y="822959"/>
                  </a:lnTo>
                  <a:lnTo>
                    <a:pt x="2539642" y="815961"/>
                  </a:lnTo>
                  <a:lnTo>
                    <a:pt x="2577291" y="796478"/>
                  </a:lnTo>
                  <a:lnTo>
                    <a:pt x="2606990" y="766779"/>
                  </a:lnTo>
                  <a:lnTo>
                    <a:pt x="2626473" y="729130"/>
                  </a:lnTo>
                  <a:lnTo>
                    <a:pt x="2633472" y="685799"/>
                  </a:lnTo>
                  <a:lnTo>
                    <a:pt x="2633472" y="137159"/>
                  </a:lnTo>
                  <a:lnTo>
                    <a:pt x="2626473" y="93829"/>
                  </a:lnTo>
                  <a:lnTo>
                    <a:pt x="2606990" y="56180"/>
                  </a:lnTo>
                  <a:lnTo>
                    <a:pt x="2577291" y="26481"/>
                  </a:lnTo>
                  <a:lnTo>
                    <a:pt x="2539642" y="6998"/>
                  </a:lnTo>
                  <a:lnTo>
                    <a:pt x="24963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320039"/>
              <a:ext cx="2633980" cy="822960"/>
            </a:xfrm>
            <a:custGeom>
              <a:avLst/>
              <a:gdLst/>
              <a:ahLst/>
              <a:cxnLst/>
              <a:rect l="l" t="t" r="r" b="b"/>
              <a:pathLst>
                <a:path w="2633980" h="822960">
                  <a:moveTo>
                    <a:pt x="0" y="137159"/>
                  </a:moveTo>
                  <a:lnTo>
                    <a:pt x="6992" y="93829"/>
                  </a:lnTo>
                  <a:lnTo>
                    <a:pt x="26462" y="56180"/>
                  </a:lnTo>
                  <a:lnTo>
                    <a:pt x="56153" y="26481"/>
                  </a:lnTo>
                  <a:lnTo>
                    <a:pt x="93805" y="6998"/>
                  </a:lnTo>
                  <a:lnTo>
                    <a:pt x="137159" y="0"/>
                  </a:lnTo>
                  <a:lnTo>
                    <a:pt x="2496312" y="0"/>
                  </a:lnTo>
                  <a:lnTo>
                    <a:pt x="2539642" y="6998"/>
                  </a:lnTo>
                  <a:lnTo>
                    <a:pt x="2577291" y="26481"/>
                  </a:lnTo>
                  <a:lnTo>
                    <a:pt x="2606990" y="56180"/>
                  </a:lnTo>
                  <a:lnTo>
                    <a:pt x="2626473" y="93829"/>
                  </a:lnTo>
                  <a:lnTo>
                    <a:pt x="2633472" y="137159"/>
                  </a:lnTo>
                  <a:lnTo>
                    <a:pt x="2633472" y="685799"/>
                  </a:lnTo>
                  <a:lnTo>
                    <a:pt x="2626473" y="729130"/>
                  </a:lnTo>
                  <a:lnTo>
                    <a:pt x="2606990" y="766779"/>
                  </a:lnTo>
                  <a:lnTo>
                    <a:pt x="2577291" y="796478"/>
                  </a:lnTo>
                  <a:lnTo>
                    <a:pt x="2539642" y="815961"/>
                  </a:lnTo>
                  <a:lnTo>
                    <a:pt x="2496312" y="822959"/>
                  </a:lnTo>
                  <a:lnTo>
                    <a:pt x="137159" y="822959"/>
                  </a:lnTo>
                  <a:lnTo>
                    <a:pt x="93805" y="815961"/>
                  </a:lnTo>
                  <a:lnTo>
                    <a:pt x="56153" y="796478"/>
                  </a:lnTo>
                  <a:lnTo>
                    <a:pt x="26462" y="766779"/>
                  </a:lnTo>
                  <a:lnTo>
                    <a:pt x="6992" y="729130"/>
                  </a:lnTo>
                  <a:lnTo>
                    <a:pt x="0" y="685799"/>
                  </a:lnTo>
                  <a:lnTo>
                    <a:pt x="0" y="137159"/>
                  </a:lnTo>
                  <a:close/>
                </a:path>
              </a:pathLst>
            </a:custGeom>
            <a:ln w="12192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1792" y="438911"/>
              <a:ext cx="512445" cy="494030"/>
            </a:xfrm>
            <a:custGeom>
              <a:avLst/>
              <a:gdLst/>
              <a:ahLst/>
              <a:cxnLst/>
              <a:rect l="l" t="t" r="r" b="b"/>
              <a:pathLst>
                <a:path w="512444" h="494030">
                  <a:moveTo>
                    <a:pt x="388620" y="0"/>
                  </a:moveTo>
                  <a:lnTo>
                    <a:pt x="123443" y="0"/>
                  </a:lnTo>
                  <a:lnTo>
                    <a:pt x="0" y="246887"/>
                  </a:lnTo>
                  <a:lnTo>
                    <a:pt x="123443" y="493775"/>
                  </a:lnTo>
                  <a:lnTo>
                    <a:pt x="388620" y="493775"/>
                  </a:lnTo>
                  <a:lnTo>
                    <a:pt x="512064" y="246887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F6F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1792" y="438911"/>
              <a:ext cx="512445" cy="494030"/>
            </a:xfrm>
            <a:custGeom>
              <a:avLst/>
              <a:gdLst/>
              <a:ahLst/>
              <a:cxnLst/>
              <a:rect l="l" t="t" r="r" b="b"/>
              <a:pathLst>
                <a:path w="512444" h="494030">
                  <a:moveTo>
                    <a:pt x="0" y="246887"/>
                  </a:moveTo>
                  <a:lnTo>
                    <a:pt x="123443" y="0"/>
                  </a:lnTo>
                  <a:lnTo>
                    <a:pt x="388620" y="0"/>
                  </a:lnTo>
                  <a:lnTo>
                    <a:pt x="512064" y="246887"/>
                  </a:lnTo>
                  <a:lnTo>
                    <a:pt x="388620" y="493775"/>
                  </a:lnTo>
                  <a:lnTo>
                    <a:pt x="123443" y="493775"/>
                  </a:lnTo>
                  <a:lnTo>
                    <a:pt x="0" y="246887"/>
                  </a:lnTo>
                  <a:close/>
                </a:path>
              </a:pathLst>
            </a:custGeom>
            <a:ln w="6096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95730" y="393186"/>
            <a:ext cx="844550" cy="480059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900" b="1" spc="-20" dirty="0">
                <a:solidFill>
                  <a:srgbClr val="5B6E6B"/>
                </a:solidFill>
                <a:latin typeface="Arial"/>
                <a:cs typeface="Arial"/>
              </a:rPr>
              <a:t>TEAM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500" b="1" spc="-10" dirty="0">
                <a:solidFill>
                  <a:srgbClr val="016854"/>
                </a:solidFill>
                <a:latin typeface="Arial"/>
                <a:cs typeface="Arial"/>
              </a:rPr>
              <a:t>NEXORA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3177506" y="321181"/>
            <a:ext cx="6259830" cy="487363"/>
          </a:xfrm>
          <a:prstGeom prst="rect">
            <a:avLst/>
          </a:prstGeom>
        </p:spPr>
        <p:txBody>
          <a:bodyPr vert="horz" wrap="square" lIns="0" tIns="116890" rIns="0" bIns="0" rtlCol="0">
            <a:spAutoFit/>
          </a:bodyPr>
          <a:lstStyle/>
          <a:p>
            <a:pPr marL="2077720" algn="l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42B35"/>
                </a:solidFill>
              </a:rPr>
              <a:t>WHO</a:t>
            </a:r>
            <a:r>
              <a:rPr spc="-45" dirty="0">
                <a:solidFill>
                  <a:srgbClr val="042B35"/>
                </a:solidFill>
              </a:rPr>
              <a:t> </a:t>
            </a:r>
            <a:r>
              <a:rPr dirty="0">
                <a:solidFill>
                  <a:srgbClr val="042B35"/>
                </a:solidFill>
              </a:rPr>
              <a:t>IS</a:t>
            </a:r>
            <a:r>
              <a:rPr spc="-35" dirty="0">
                <a:solidFill>
                  <a:srgbClr val="042B35"/>
                </a:solidFill>
              </a:rPr>
              <a:t> </a:t>
            </a:r>
            <a:r>
              <a:rPr spc="-10" dirty="0">
                <a:solidFill>
                  <a:srgbClr val="042B35"/>
                </a:solidFill>
              </a:rPr>
              <a:t>AFFECTED?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908792" y="316991"/>
            <a:ext cx="832485" cy="832485"/>
            <a:chOff x="10908792" y="316991"/>
            <a:chExt cx="832485" cy="832485"/>
          </a:xfrm>
        </p:grpSpPr>
        <p:sp>
          <p:nvSpPr>
            <p:cNvPr id="4" name="object 4"/>
            <p:cNvSpPr/>
            <p:nvPr/>
          </p:nvSpPr>
          <p:spPr>
            <a:xfrm>
              <a:off x="10913364" y="321563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713231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713231"/>
                  </a:lnTo>
                  <a:lnTo>
                    <a:pt x="8626" y="755933"/>
                  </a:lnTo>
                  <a:lnTo>
                    <a:pt x="32146" y="790813"/>
                  </a:lnTo>
                  <a:lnTo>
                    <a:pt x="67026" y="814333"/>
                  </a:lnTo>
                  <a:lnTo>
                    <a:pt x="109727" y="822959"/>
                  </a:lnTo>
                  <a:lnTo>
                    <a:pt x="713231" y="822959"/>
                  </a:lnTo>
                  <a:lnTo>
                    <a:pt x="755933" y="814333"/>
                  </a:lnTo>
                  <a:lnTo>
                    <a:pt x="790813" y="790813"/>
                  </a:lnTo>
                  <a:lnTo>
                    <a:pt x="814333" y="755933"/>
                  </a:lnTo>
                  <a:lnTo>
                    <a:pt x="822959" y="713231"/>
                  </a:lnTo>
                  <a:lnTo>
                    <a:pt x="822959" y="109727"/>
                  </a:lnTo>
                  <a:lnTo>
                    <a:pt x="814333" y="67026"/>
                  </a:lnTo>
                  <a:lnTo>
                    <a:pt x="790813" y="32146"/>
                  </a:lnTo>
                  <a:lnTo>
                    <a:pt x="755933" y="8626"/>
                  </a:lnTo>
                  <a:lnTo>
                    <a:pt x="713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913364" y="321563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713231" y="0"/>
                  </a:lnTo>
                  <a:lnTo>
                    <a:pt x="755933" y="8626"/>
                  </a:lnTo>
                  <a:lnTo>
                    <a:pt x="790813" y="32146"/>
                  </a:lnTo>
                  <a:lnTo>
                    <a:pt x="814333" y="67026"/>
                  </a:lnTo>
                  <a:lnTo>
                    <a:pt x="822959" y="109727"/>
                  </a:lnTo>
                  <a:lnTo>
                    <a:pt x="822959" y="713231"/>
                  </a:lnTo>
                  <a:lnTo>
                    <a:pt x="814333" y="755933"/>
                  </a:lnTo>
                  <a:lnTo>
                    <a:pt x="790813" y="790813"/>
                  </a:lnTo>
                  <a:lnTo>
                    <a:pt x="755933" y="814333"/>
                  </a:lnTo>
                  <a:lnTo>
                    <a:pt x="713231" y="822959"/>
                  </a:lnTo>
                  <a:lnTo>
                    <a:pt x="109727" y="822959"/>
                  </a:lnTo>
                  <a:lnTo>
                    <a:pt x="67026" y="814333"/>
                  </a:lnTo>
                  <a:lnTo>
                    <a:pt x="32146" y="790813"/>
                  </a:lnTo>
                  <a:lnTo>
                    <a:pt x="8626" y="755933"/>
                  </a:lnTo>
                  <a:lnTo>
                    <a:pt x="0" y="713231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D2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55096" y="384047"/>
              <a:ext cx="536448" cy="694943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0820400" y="313943"/>
            <a:ext cx="917575" cy="835660"/>
            <a:chOff x="10820400" y="313943"/>
            <a:chExt cx="917575" cy="835660"/>
          </a:xfrm>
        </p:grpSpPr>
        <p:sp>
          <p:nvSpPr>
            <p:cNvPr id="18" name="object 18"/>
            <p:cNvSpPr/>
            <p:nvPr/>
          </p:nvSpPr>
          <p:spPr>
            <a:xfrm>
              <a:off x="10826495" y="320039"/>
              <a:ext cx="905510" cy="822960"/>
            </a:xfrm>
            <a:custGeom>
              <a:avLst/>
              <a:gdLst/>
              <a:ahLst/>
              <a:cxnLst/>
              <a:rect l="l" t="t" r="r" b="b"/>
              <a:pathLst>
                <a:path w="905509" h="822960">
                  <a:moveTo>
                    <a:pt x="768096" y="0"/>
                  </a:moveTo>
                  <a:lnTo>
                    <a:pt x="137159" y="0"/>
                  </a:ln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6998" y="729130"/>
                  </a:lnTo>
                  <a:lnTo>
                    <a:pt x="26481" y="766779"/>
                  </a:lnTo>
                  <a:lnTo>
                    <a:pt x="56180" y="796478"/>
                  </a:lnTo>
                  <a:lnTo>
                    <a:pt x="93829" y="815961"/>
                  </a:lnTo>
                  <a:lnTo>
                    <a:pt x="137159" y="822959"/>
                  </a:lnTo>
                  <a:lnTo>
                    <a:pt x="768096" y="822959"/>
                  </a:lnTo>
                  <a:lnTo>
                    <a:pt x="811426" y="815961"/>
                  </a:lnTo>
                  <a:lnTo>
                    <a:pt x="849075" y="796478"/>
                  </a:lnTo>
                  <a:lnTo>
                    <a:pt x="878774" y="766779"/>
                  </a:lnTo>
                  <a:lnTo>
                    <a:pt x="898257" y="729130"/>
                  </a:lnTo>
                  <a:lnTo>
                    <a:pt x="905255" y="685799"/>
                  </a:lnTo>
                  <a:lnTo>
                    <a:pt x="905255" y="137159"/>
                  </a:lnTo>
                  <a:lnTo>
                    <a:pt x="898257" y="93829"/>
                  </a:lnTo>
                  <a:lnTo>
                    <a:pt x="878774" y="56180"/>
                  </a:lnTo>
                  <a:lnTo>
                    <a:pt x="849075" y="26481"/>
                  </a:lnTo>
                  <a:lnTo>
                    <a:pt x="811426" y="6998"/>
                  </a:lnTo>
                  <a:lnTo>
                    <a:pt x="768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826495" y="320039"/>
              <a:ext cx="905510" cy="822960"/>
            </a:xfrm>
            <a:custGeom>
              <a:avLst/>
              <a:gdLst/>
              <a:ahLst/>
              <a:cxnLst/>
              <a:rect l="l" t="t" r="r" b="b"/>
              <a:pathLst>
                <a:path w="905509" h="822960">
                  <a:moveTo>
                    <a:pt x="0" y="137159"/>
                  </a:moveTo>
                  <a:lnTo>
                    <a:pt x="6998" y="93829"/>
                  </a:lnTo>
                  <a:lnTo>
                    <a:pt x="26481" y="56180"/>
                  </a:lnTo>
                  <a:lnTo>
                    <a:pt x="56180" y="26481"/>
                  </a:lnTo>
                  <a:lnTo>
                    <a:pt x="93829" y="6998"/>
                  </a:lnTo>
                  <a:lnTo>
                    <a:pt x="137159" y="0"/>
                  </a:lnTo>
                  <a:lnTo>
                    <a:pt x="768096" y="0"/>
                  </a:lnTo>
                  <a:lnTo>
                    <a:pt x="811426" y="6998"/>
                  </a:lnTo>
                  <a:lnTo>
                    <a:pt x="849075" y="26481"/>
                  </a:lnTo>
                  <a:lnTo>
                    <a:pt x="878774" y="56180"/>
                  </a:lnTo>
                  <a:lnTo>
                    <a:pt x="898257" y="93829"/>
                  </a:lnTo>
                  <a:lnTo>
                    <a:pt x="905255" y="137159"/>
                  </a:lnTo>
                  <a:lnTo>
                    <a:pt x="905255" y="685799"/>
                  </a:lnTo>
                  <a:lnTo>
                    <a:pt x="898257" y="729130"/>
                  </a:lnTo>
                  <a:lnTo>
                    <a:pt x="878774" y="766779"/>
                  </a:lnTo>
                  <a:lnTo>
                    <a:pt x="849075" y="796478"/>
                  </a:lnTo>
                  <a:lnTo>
                    <a:pt x="811426" y="815961"/>
                  </a:lnTo>
                  <a:lnTo>
                    <a:pt x="768096" y="822959"/>
                  </a:lnTo>
                  <a:lnTo>
                    <a:pt x="137159" y="822959"/>
                  </a:lnTo>
                  <a:lnTo>
                    <a:pt x="93829" y="815961"/>
                  </a:lnTo>
                  <a:lnTo>
                    <a:pt x="56180" y="796478"/>
                  </a:lnTo>
                  <a:lnTo>
                    <a:pt x="26481" y="766779"/>
                  </a:lnTo>
                  <a:lnTo>
                    <a:pt x="6998" y="729130"/>
                  </a:lnTo>
                  <a:lnTo>
                    <a:pt x="0" y="685799"/>
                  </a:lnTo>
                  <a:lnTo>
                    <a:pt x="0" y="137159"/>
                  </a:lnTo>
                  <a:close/>
                </a:path>
              </a:pathLst>
            </a:custGeom>
            <a:ln w="12192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imag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9376" y="359663"/>
              <a:ext cx="530351" cy="688848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550800" y="1354581"/>
            <a:ext cx="520861" cy="463550"/>
            <a:chOff x="572897" y="1469008"/>
            <a:chExt cx="463550" cy="463550"/>
          </a:xfrm>
        </p:grpSpPr>
        <p:sp>
          <p:nvSpPr>
            <p:cNvPr id="23" name="object 23"/>
            <p:cNvSpPr/>
            <p:nvPr/>
          </p:nvSpPr>
          <p:spPr>
            <a:xfrm>
              <a:off x="576072" y="147218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6072" y="147218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6096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94612" y="1454277"/>
            <a:ext cx="7501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Stakeholder</a:t>
            </a:r>
            <a:r>
              <a:rPr sz="1800" b="1" spc="-7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ecosystem</a:t>
            </a:r>
            <a:r>
              <a:rPr sz="1800" b="1" spc="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around</a:t>
            </a:r>
            <a:r>
              <a:rPr sz="1800" b="1" spc="-4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a</a:t>
            </a:r>
            <a:r>
              <a:rPr sz="1800" b="1" spc="-1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continuously</a:t>
            </a:r>
            <a:r>
              <a:rPr sz="1800" b="1" spc="-8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monitored</a:t>
            </a:r>
            <a:r>
              <a:rPr sz="1800" b="1" spc="-3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power</a:t>
            </a:r>
            <a:r>
              <a:rPr sz="1800" b="1" spc="-7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94542"/>
                </a:solidFill>
                <a:latin typeface="Arial"/>
                <a:cs typeface="Arial"/>
              </a:rPr>
              <a:t>grid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69976" y="1868423"/>
            <a:ext cx="8269605" cy="2792730"/>
            <a:chOff x="569976" y="1868423"/>
            <a:chExt cx="8269605" cy="2792730"/>
          </a:xfrm>
        </p:grpSpPr>
        <p:sp>
          <p:nvSpPr>
            <p:cNvPr id="32" name="object 32"/>
            <p:cNvSpPr/>
            <p:nvPr/>
          </p:nvSpPr>
          <p:spPr>
            <a:xfrm>
              <a:off x="4226052" y="1876043"/>
              <a:ext cx="3731260" cy="2304415"/>
            </a:xfrm>
            <a:custGeom>
              <a:avLst/>
              <a:gdLst/>
              <a:ahLst/>
              <a:cxnLst/>
              <a:rect l="l" t="t" r="r" b="b"/>
              <a:pathLst>
                <a:path w="3731259" h="2304415">
                  <a:moveTo>
                    <a:pt x="3346704" y="0"/>
                  </a:moveTo>
                  <a:lnTo>
                    <a:pt x="384048" y="0"/>
                  </a:lnTo>
                  <a:lnTo>
                    <a:pt x="335876" y="2992"/>
                  </a:lnTo>
                  <a:lnTo>
                    <a:pt x="289489" y="11730"/>
                  </a:lnTo>
                  <a:lnTo>
                    <a:pt x="245248" y="25852"/>
                  </a:lnTo>
                  <a:lnTo>
                    <a:pt x="203511" y="44999"/>
                  </a:lnTo>
                  <a:lnTo>
                    <a:pt x="164639" y="68812"/>
                  </a:lnTo>
                  <a:lnTo>
                    <a:pt x="128991" y="96929"/>
                  </a:lnTo>
                  <a:lnTo>
                    <a:pt x="96929" y="128991"/>
                  </a:lnTo>
                  <a:lnTo>
                    <a:pt x="68812" y="164639"/>
                  </a:lnTo>
                  <a:lnTo>
                    <a:pt x="44999" y="203511"/>
                  </a:lnTo>
                  <a:lnTo>
                    <a:pt x="25852" y="245248"/>
                  </a:lnTo>
                  <a:lnTo>
                    <a:pt x="11730" y="289489"/>
                  </a:lnTo>
                  <a:lnTo>
                    <a:pt x="2992" y="335876"/>
                  </a:lnTo>
                  <a:lnTo>
                    <a:pt x="0" y="384047"/>
                  </a:lnTo>
                  <a:lnTo>
                    <a:pt x="0" y="1920239"/>
                  </a:lnTo>
                  <a:lnTo>
                    <a:pt x="2992" y="1968411"/>
                  </a:lnTo>
                  <a:lnTo>
                    <a:pt x="11730" y="2014798"/>
                  </a:lnTo>
                  <a:lnTo>
                    <a:pt x="25852" y="2059039"/>
                  </a:lnTo>
                  <a:lnTo>
                    <a:pt x="44999" y="2100776"/>
                  </a:lnTo>
                  <a:lnTo>
                    <a:pt x="68812" y="2139648"/>
                  </a:lnTo>
                  <a:lnTo>
                    <a:pt x="96929" y="2175296"/>
                  </a:lnTo>
                  <a:lnTo>
                    <a:pt x="128991" y="2207358"/>
                  </a:lnTo>
                  <a:lnTo>
                    <a:pt x="164639" y="2235475"/>
                  </a:lnTo>
                  <a:lnTo>
                    <a:pt x="203511" y="2259288"/>
                  </a:lnTo>
                  <a:lnTo>
                    <a:pt x="245248" y="2278435"/>
                  </a:lnTo>
                  <a:lnTo>
                    <a:pt x="289489" y="2292557"/>
                  </a:lnTo>
                  <a:lnTo>
                    <a:pt x="335876" y="2301295"/>
                  </a:lnTo>
                  <a:lnTo>
                    <a:pt x="384048" y="2304287"/>
                  </a:lnTo>
                  <a:lnTo>
                    <a:pt x="3346704" y="2304287"/>
                  </a:lnTo>
                  <a:lnTo>
                    <a:pt x="3394875" y="2301295"/>
                  </a:lnTo>
                  <a:lnTo>
                    <a:pt x="3441262" y="2292557"/>
                  </a:lnTo>
                  <a:lnTo>
                    <a:pt x="3485503" y="2278435"/>
                  </a:lnTo>
                  <a:lnTo>
                    <a:pt x="3527240" y="2259288"/>
                  </a:lnTo>
                  <a:lnTo>
                    <a:pt x="3566112" y="2235475"/>
                  </a:lnTo>
                  <a:lnTo>
                    <a:pt x="3601760" y="2207358"/>
                  </a:lnTo>
                  <a:lnTo>
                    <a:pt x="3633822" y="2175296"/>
                  </a:lnTo>
                  <a:lnTo>
                    <a:pt x="3661939" y="2139648"/>
                  </a:lnTo>
                  <a:lnTo>
                    <a:pt x="3685752" y="2100776"/>
                  </a:lnTo>
                  <a:lnTo>
                    <a:pt x="3704899" y="2059039"/>
                  </a:lnTo>
                  <a:lnTo>
                    <a:pt x="3719021" y="2014798"/>
                  </a:lnTo>
                  <a:lnTo>
                    <a:pt x="3727759" y="1968411"/>
                  </a:lnTo>
                  <a:lnTo>
                    <a:pt x="3730752" y="1920239"/>
                  </a:lnTo>
                  <a:lnTo>
                    <a:pt x="3730752" y="384047"/>
                  </a:lnTo>
                  <a:lnTo>
                    <a:pt x="3727759" y="335876"/>
                  </a:lnTo>
                  <a:lnTo>
                    <a:pt x="3719021" y="289489"/>
                  </a:lnTo>
                  <a:lnTo>
                    <a:pt x="3704899" y="245248"/>
                  </a:lnTo>
                  <a:lnTo>
                    <a:pt x="3685752" y="203511"/>
                  </a:lnTo>
                  <a:lnTo>
                    <a:pt x="3661939" y="164639"/>
                  </a:lnTo>
                  <a:lnTo>
                    <a:pt x="3633822" y="128991"/>
                  </a:lnTo>
                  <a:lnTo>
                    <a:pt x="3601760" y="96929"/>
                  </a:lnTo>
                  <a:lnTo>
                    <a:pt x="3566112" y="68812"/>
                  </a:lnTo>
                  <a:lnTo>
                    <a:pt x="3527240" y="44999"/>
                  </a:lnTo>
                  <a:lnTo>
                    <a:pt x="3485503" y="25852"/>
                  </a:lnTo>
                  <a:lnTo>
                    <a:pt x="3441262" y="11730"/>
                  </a:lnTo>
                  <a:lnTo>
                    <a:pt x="3394875" y="2992"/>
                  </a:lnTo>
                  <a:lnTo>
                    <a:pt x="3346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26052" y="1876043"/>
              <a:ext cx="3731260" cy="2304415"/>
            </a:xfrm>
            <a:custGeom>
              <a:avLst/>
              <a:gdLst/>
              <a:ahLst/>
              <a:cxnLst/>
              <a:rect l="l" t="t" r="r" b="b"/>
              <a:pathLst>
                <a:path w="3731259" h="2304415">
                  <a:moveTo>
                    <a:pt x="0" y="384047"/>
                  </a:moveTo>
                  <a:lnTo>
                    <a:pt x="2992" y="335876"/>
                  </a:lnTo>
                  <a:lnTo>
                    <a:pt x="11730" y="289489"/>
                  </a:lnTo>
                  <a:lnTo>
                    <a:pt x="25852" y="245248"/>
                  </a:lnTo>
                  <a:lnTo>
                    <a:pt x="44999" y="203511"/>
                  </a:lnTo>
                  <a:lnTo>
                    <a:pt x="68812" y="164639"/>
                  </a:lnTo>
                  <a:lnTo>
                    <a:pt x="96929" y="128991"/>
                  </a:lnTo>
                  <a:lnTo>
                    <a:pt x="128991" y="96929"/>
                  </a:lnTo>
                  <a:lnTo>
                    <a:pt x="164639" y="68812"/>
                  </a:lnTo>
                  <a:lnTo>
                    <a:pt x="203511" y="44999"/>
                  </a:lnTo>
                  <a:lnTo>
                    <a:pt x="245248" y="25852"/>
                  </a:lnTo>
                  <a:lnTo>
                    <a:pt x="289489" y="11730"/>
                  </a:lnTo>
                  <a:lnTo>
                    <a:pt x="335876" y="2992"/>
                  </a:lnTo>
                  <a:lnTo>
                    <a:pt x="384048" y="0"/>
                  </a:lnTo>
                  <a:lnTo>
                    <a:pt x="3346704" y="0"/>
                  </a:lnTo>
                  <a:lnTo>
                    <a:pt x="3394875" y="2992"/>
                  </a:lnTo>
                  <a:lnTo>
                    <a:pt x="3441262" y="11730"/>
                  </a:lnTo>
                  <a:lnTo>
                    <a:pt x="3485503" y="25852"/>
                  </a:lnTo>
                  <a:lnTo>
                    <a:pt x="3527240" y="44999"/>
                  </a:lnTo>
                  <a:lnTo>
                    <a:pt x="3566112" y="68812"/>
                  </a:lnTo>
                  <a:lnTo>
                    <a:pt x="3601760" y="96929"/>
                  </a:lnTo>
                  <a:lnTo>
                    <a:pt x="3633822" y="128991"/>
                  </a:lnTo>
                  <a:lnTo>
                    <a:pt x="3661939" y="164639"/>
                  </a:lnTo>
                  <a:lnTo>
                    <a:pt x="3685752" y="203511"/>
                  </a:lnTo>
                  <a:lnTo>
                    <a:pt x="3704899" y="245248"/>
                  </a:lnTo>
                  <a:lnTo>
                    <a:pt x="3719021" y="289489"/>
                  </a:lnTo>
                  <a:lnTo>
                    <a:pt x="3727759" y="335876"/>
                  </a:lnTo>
                  <a:lnTo>
                    <a:pt x="3730752" y="384047"/>
                  </a:lnTo>
                  <a:lnTo>
                    <a:pt x="3730752" y="1920239"/>
                  </a:lnTo>
                  <a:lnTo>
                    <a:pt x="3727759" y="1968411"/>
                  </a:lnTo>
                  <a:lnTo>
                    <a:pt x="3719021" y="2014798"/>
                  </a:lnTo>
                  <a:lnTo>
                    <a:pt x="3704899" y="2059039"/>
                  </a:lnTo>
                  <a:lnTo>
                    <a:pt x="3685752" y="2100776"/>
                  </a:lnTo>
                  <a:lnTo>
                    <a:pt x="3661939" y="2139648"/>
                  </a:lnTo>
                  <a:lnTo>
                    <a:pt x="3633822" y="2175296"/>
                  </a:lnTo>
                  <a:lnTo>
                    <a:pt x="3601760" y="2207358"/>
                  </a:lnTo>
                  <a:lnTo>
                    <a:pt x="3566112" y="2235475"/>
                  </a:lnTo>
                  <a:lnTo>
                    <a:pt x="3527240" y="2259288"/>
                  </a:lnTo>
                  <a:lnTo>
                    <a:pt x="3485503" y="2278435"/>
                  </a:lnTo>
                  <a:lnTo>
                    <a:pt x="3441262" y="2292557"/>
                  </a:lnTo>
                  <a:lnTo>
                    <a:pt x="3394875" y="2301295"/>
                  </a:lnTo>
                  <a:lnTo>
                    <a:pt x="3346704" y="2304287"/>
                  </a:lnTo>
                  <a:lnTo>
                    <a:pt x="384048" y="2304287"/>
                  </a:lnTo>
                  <a:lnTo>
                    <a:pt x="335876" y="2301295"/>
                  </a:lnTo>
                  <a:lnTo>
                    <a:pt x="289489" y="2292557"/>
                  </a:lnTo>
                  <a:lnTo>
                    <a:pt x="245248" y="2278435"/>
                  </a:lnTo>
                  <a:lnTo>
                    <a:pt x="203511" y="2259288"/>
                  </a:lnTo>
                  <a:lnTo>
                    <a:pt x="164639" y="2235475"/>
                  </a:lnTo>
                  <a:lnTo>
                    <a:pt x="128991" y="2207358"/>
                  </a:lnTo>
                  <a:lnTo>
                    <a:pt x="96929" y="2175296"/>
                  </a:lnTo>
                  <a:lnTo>
                    <a:pt x="68812" y="2139648"/>
                  </a:lnTo>
                  <a:lnTo>
                    <a:pt x="44999" y="2100776"/>
                  </a:lnTo>
                  <a:lnTo>
                    <a:pt x="25852" y="2059039"/>
                  </a:lnTo>
                  <a:lnTo>
                    <a:pt x="11730" y="2014798"/>
                  </a:lnTo>
                  <a:lnTo>
                    <a:pt x="2992" y="1968411"/>
                  </a:lnTo>
                  <a:lnTo>
                    <a:pt x="0" y="1920239"/>
                  </a:lnTo>
                  <a:lnTo>
                    <a:pt x="0" y="384047"/>
                  </a:lnTo>
                  <a:close/>
                </a:path>
              </a:pathLst>
            </a:custGeom>
            <a:ln w="15240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 descr="substation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90287" y="2084831"/>
              <a:ext cx="2999232" cy="18470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247643" y="2799587"/>
              <a:ext cx="5577840" cy="0"/>
            </a:xfrm>
            <a:custGeom>
              <a:avLst/>
              <a:gdLst/>
              <a:ahLst/>
              <a:cxnLst/>
              <a:rect l="l" t="t" r="r" b="b"/>
              <a:pathLst>
                <a:path w="5577840">
                  <a:moveTo>
                    <a:pt x="0" y="0"/>
                  </a:moveTo>
                  <a:lnTo>
                    <a:pt x="978407" y="0"/>
                  </a:lnTo>
                </a:path>
                <a:path w="5577840">
                  <a:moveTo>
                    <a:pt x="4709159" y="0"/>
                  </a:moveTo>
                  <a:lnTo>
                    <a:pt x="5577839" y="0"/>
                  </a:lnTo>
                </a:path>
              </a:pathLst>
            </a:custGeom>
            <a:ln w="27432">
              <a:solidFill>
                <a:srgbClr val="0168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109716" y="4180331"/>
              <a:ext cx="0" cy="466725"/>
            </a:xfrm>
            <a:custGeom>
              <a:avLst/>
              <a:gdLst/>
              <a:ahLst/>
              <a:cxnLst/>
              <a:rect l="l" t="t" r="r" b="b"/>
              <a:pathLst>
                <a:path h="466725">
                  <a:moveTo>
                    <a:pt x="0" y="0"/>
                  </a:moveTo>
                  <a:lnTo>
                    <a:pt x="0" y="466344"/>
                  </a:lnTo>
                </a:path>
              </a:pathLst>
            </a:custGeom>
            <a:ln w="2743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7596" y="1937003"/>
              <a:ext cx="2743200" cy="2212975"/>
            </a:xfrm>
            <a:custGeom>
              <a:avLst/>
              <a:gdLst/>
              <a:ahLst/>
              <a:cxnLst/>
              <a:rect l="l" t="t" r="r" b="b"/>
              <a:pathLst>
                <a:path w="2743200" h="2212975">
                  <a:moveTo>
                    <a:pt x="2374392" y="0"/>
                  </a:moveTo>
                  <a:lnTo>
                    <a:pt x="368808" y="0"/>
                  </a:lnTo>
                  <a:lnTo>
                    <a:pt x="322546" y="2873"/>
                  </a:lnTo>
                  <a:lnTo>
                    <a:pt x="277999" y="11262"/>
                  </a:lnTo>
                  <a:lnTo>
                    <a:pt x="235512" y="24822"/>
                  </a:lnTo>
                  <a:lnTo>
                    <a:pt x="195431" y="43207"/>
                  </a:lnTo>
                  <a:lnTo>
                    <a:pt x="158101" y="66072"/>
                  </a:lnTo>
                  <a:lnTo>
                    <a:pt x="123869" y="93071"/>
                  </a:lnTo>
                  <a:lnTo>
                    <a:pt x="93080" y="123859"/>
                  </a:lnTo>
                  <a:lnTo>
                    <a:pt x="66079" y="158090"/>
                  </a:lnTo>
                  <a:lnTo>
                    <a:pt x="43212" y="195420"/>
                  </a:lnTo>
                  <a:lnTo>
                    <a:pt x="24825" y="235502"/>
                  </a:lnTo>
                  <a:lnTo>
                    <a:pt x="11264" y="277990"/>
                  </a:lnTo>
                  <a:lnTo>
                    <a:pt x="2873" y="322541"/>
                  </a:lnTo>
                  <a:lnTo>
                    <a:pt x="0" y="368808"/>
                  </a:lnTo>
                  <a:lnTo>
                    <a:pt x="0" y="1844040"/>
                  </a:lnTo>
                  <a:lnTo>
                    <a:pt x="2873" y="1890306"/>
                  </a:lnTo>
                  <a:lnTo>
                    <a:pt x="11264" y="1934857"/>
                  </a:lnTo>
                  <a:lnTo>
                    <a:pt x="24825" y="1977345"/>
                  </a:lnTo>
                  <a:lnTo>
                    <a:pt x="43212" y="2017427"/>
                  </a:lnTo>
                  <a:lnTo>
                    <a:pt x="66079" y="2054757"/>
                  </a:lnTo>
                  <a:lnTo>
                    <a:pt x="93080" y="2088988"/>
                  </a:lnTo>
                  <a:lnTo>
                    <a:pt x="123869" y="2119776"/>
                  </a:lnTo>
                  <a:lnTo>
                    <a:pt x="158101" y="2146775"/>
                  </a:lnTo>
                  <a:lnTo>
                    <a:pt x="195431" y="2169640"/>
                  </a:lnTo>
                  <a:lnTo>
                    <a:pt x="235512" y="2188025"/>
                  </a:lnTo>
                  <a:lnTo>
                    <a:pt x="277999" y="2201585"/>
                  </a:lnTo>
                  <a:lnTo>
                    <a:pt x="322546" y="2209974"/>
                  </a:lnTo>
                  <a:lnTo>
                    <a:pt x="368808" y="2212848"/>
                  </a:lnTo>
                  <a:lnTo>
                    <a:pt x="2374392" y="2212848"/>
                  </a:lnTo>
                  <a:lnTo>
                    <a:pt x="2420658" y="2209974"/>
                  </a:lnTo>
                  <a:lnTo>
                    <a:pt x="2465209" y="2201585"/>
                  </a:lnTo>
                  <a:lnTo>
                    <a:pt x="2507697" y="2188025"/>
                  </a:lnTo>
                  <a:lnTo>
                    <a:pt x="2547779" y="2169640"/>
                  </a:lnTo>
                  <a:lnTo>
                    <a:pt x="2585109" y="2146775"/>
                  </a:lnTo>
                  <a:lnTo>
                    <a:pt x="2619340" y="2119776"/>
                  </a:lnTo>
                  <a:lnTo>
                    <a:pt x="2650128" y="2088988"/>
                  </a:lnTo>
                  <a:lnTo>
                    <a:pt x="2677127" y="2054757"/>
                  </a:lnTo>
                  <a:lnTo>
                    <a:pt x="2699992" y="2017427"/>
                  </a:lnTo>
                  <a:lnTo>
                    <a:pt x="2718377" y="1977345"/>
                  </a:lnTo>
                  <a:lnTo>
                    <a:pt x="2731937" y="1934857"/>
                  </a:lnTo>
                  <a:lnTo>
                    <a:pt x="2740326" y="1890306"/>
                  </a:lnTo>
                  <a:lnTo>
                    <a:pt x="2743200" y="1844040"/>
                  </a:lnTo>
                  <a:lnTo>
                    <a:pt x="2743200" y="368808"/>
                  </a:lnTo>
                  <a:lnTo>
                    <a:pt x="2740326" y="322541"/>
                  </a:lnTo>
                  <a:lnTo>
                    <a:pt x="2731937" y="277990"/>
                  </a:lnTo>
                  <a:lnTo>
                    <a:pt x="2718377" y="235502"/>
                  </a:lnTo>
                  <a:lnTo>
                    <a:pt x="2699992" y="195420"/>
                  </a:lnTo>
                  <a:lnTo>
                    <a:pt x="2677127" y="158090"/>
                  </a:lnTo>
                  <a:lnTo>
                    <a:pt x="2650128" y="123859"/>
                  </a:lnTo>
                  <a:lnTo>
                    <a:pt x="2619340" y="93071"/>
                  </a:lnTo>
                  <a:lnTo>
                    <a:pt x="2585109" y="66072"/>
                  </a:lnTo>
                  <a:lnTo>
                    <a:pt x="2547779" y="43207"/>
                  </a:lnTo>
                  <a:lnTo>
                    <a:pt x="2507697" y="24822"/>
                  </a:lnTo>
                  <a:lnTo>
                    <a:pt x="2465209" y="11262"/>
                  </a:lnTo>
                  <a:lnTo>
                    <a:pt x="2420658" y="2873"/>
                  </a:lnTo>
                  <a:lnTo>
                    <a:pt x="23743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77596" y="1937003"/>
              <a:ext cx="2743200" cy="2212975"/>
            </a:xfrm>
            <a:custGeom>
              <a:avLst/>
              <a:gdLst/>
              <a:ahLst/>
              <a:cxnLst/>
              <a:rect l="l" t="t" r="r" b="b"/>
              <a:pathLst>
                <a:path w="2743200" h="2212975">
                  <a:moveTo>
                    <a:pt x="0" y="368808"/>
                  </a:moveTo>
                  <a:lnTo>
                    <a:pt x="2873" y="322541"/>
                  </a:lnTo>
                  <a:lnTo>
                    <a:pt x="11264" y="277990"/>
                  </a:lnTo>
                  <a:lnTo>
                    <a:pt x="24825" y="235502"/>
                  </a:lnTo>
                  <a:lnTo>
                    <a:pt x="43212" y="195420"/>
                  </a:lnTo>
                  <a:lnTo>
                    <a:pt x="66079" y="158090"/>
                  </a:lnTo>
                  <a:lnTo>
                    <a:pt x="93080" y="123859"/>
                  </a:lnTo>
                  <a:lnTo>
                    <a:pt x="123869" y="93071"/>
                  </a:lnTo>
                  <a:lnTo>
                    <a:pt x="158101" y="66072"/>
                  </a:lnTo>
                  <a:lnTo>
                    <a:pt x="195431" y="43207"/>
                  </a:lnTo>
                  <a:lnTo>
                    <a:pt x="235512" y="24822"/>
                  </a:lnTo>
                  <a:lnTo>
                    <a:pt x="277999" y="11262"/>
                  </a:lnTo>
                  <a:lnTo>
                    <a:pt x="322546" y="2873"/>
                  </a:lnTo>
                  <a:lnTo>
                    <a:pt x="368808" y="0"/>
                  </a:lnTo>
                  <a:lnTo>
                    <a:pt x="2374392" y="0"/>
                  </a:lnTo>
                  <a:lnTo>
                    <a:pt x="2420658" y="2873"/>
                  </a:lnTo>
                  <a:lnTo>
                    <a:pt x="2465209" y="11262"/>
                  </a:lnTo>
                  <a:lnTo>
                    <a:pt x="2507697" y="24822"/>
                  </a:lnTo>
                  <a:lnTo>
                    <a:pt x="2547779" y="43207"/>
                  </a:lnTo>
                  <a:lnTo>
                    <a:pt x="2585109" y="66072"/>
                  </a:lnTo>
                  <a:lnTo>
                    <a:pt x="2619340" y="93071"/>
                  </a:lnTo>
                  <a:lnTo>
                    <a:pt x="2650128" y="123859"/>
                  </a:lnTo>
                  <a:lnTo>
                    <a:pt x="2677127" y="158090"/>
                  </a:lnTo>
                  <a:lnTo>
                    <a:pt x="2699992" y="195420"/>
                  </a:lnTo>
                  <a:lnTo>
                    <a:pt x="2718377" y="235502"/>
                  </a:lnTo>
                  <a:lnTo>
                    <a:pt x="2731937" y="277990"/>
                  </a:lnTo>
                  <a:lnTo>
                    <a:pt x="2740326" y="322541"/>
                  </a:lnTo>
                  <a:lnTo>
                    <a:pt x="2743200" y="368808"/>
                  </a:lnTo>
                  <a:lnTo>
                    <a:pt x="2743200" y="1844040"/>
                  </a:lnTo>
                  <a:lnTo>
                    <a:pt x="2740326" y="1890306"/>
                  </a:lnTo>
                  <a:lnTo>
                    <a:pt x="2731937" y="1934857"/>
                  </a:lnTo>
                  <a:lnTo>
                    <a:pt x="2718377" y="1977345"/>
                  </a:lnTo>
                  <a:lnTo>
                    <a:pt x="2699992" y="2017427"/>
                  </a:lnTo>
                  <a:lnTo>
                    <a:pt x="2677127" y="2054757"/>
                  </a:lnTo>
                  <a:lnTo>
                    <a:pt x="2650128" y="2088988"/>
                  </a:lnTo>
                  <a:lnTo>
                    <a:pt x="2619340" y="2119776"/>
                  </a:lnTo>
                  <a:lnTo>
                    <a:pt x="2585109" y="2146775"/>
                  </a:lnTo>
                  <a:lnTo>
                    <a:pt x="2547779" y="2169640"/>
                  </a:lnTo>
                  <a:lnTo>
                    <a:pt x="2507697" y="2188025"/>
                  </a:lnTo>
                  <a:lnTo>
                    <a:pt x="2465209" y="2201585"/>
                  </a:lnTo>
                  <a:lnTo>
                    <a:pt x="2420658" y="2209974"/>
                  </a:lnTo>
                  <a:lnTo>
                    <a:pt x="2374392" y="2212848"/>
                  </a:lnTo>
                  <a:lnTo>
                    <a:pt x="368808" y="2212848"/>
                  </a:lnTo>
                  <a:lnTo>
                    <a:pt x="322546" y="2209974"/>
                  </a:lnTo>
                  <a:lnTo>
                    <a:pt x="277999" y="2201585"/>
                  </a:lnTo>
                  <a:lnTo>
                    <a:pt x="235512" y="2188025"/>
                  </a:lnTo>
                  <a:lnTo>
                    <a:pt x="195431" y="2169640"/>
                  </a:lnTo>
                  <a:lnTo>
                    <a:pt x="158101" y="2146775"/>
                  </a:lnTo>
                  <a:lnTo>
                    <a:pt x="123869" y="2119776"/>
                  </a:lnTo>
                  <a:lnTo>
                    <a:pt x="93080" y="2088988"/>
                  </a:lnTo>
                  <a:lnTo>
                    <a:pt x="66079" y="2054757"/>
                  </a:lnTo>
                  <a:lnTo>
                    <a:pt x="43212" y="2017427"/>
                  </a:lnTo>
                  <a:lnTo>
                    <a:pt x="24825" y="1977345"/>
                  </a:lnTo>
                  <a:lnTo>
                    <a:pt x="11264" y="1934857"/>
                  </a:lnTo>
                  <a:lnTo>
                    <a:pt x="2873" y="1890306"/>
                  </a:lnTo>
                  <a:lnTo>
                    <a:pt x="0" y="1844040"/>
                  </a:lnTo>
                  <a:lnTo>
                    <a:pt x="0" y="368808"/>
                  </a:lnTo>
                  <a:close/>
                </a:path>
              </a:pathLst>
            </a:custGeom>
            <a:ln w="15240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14196" y="2083384"/>
            <a:ext cx="12858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94542"/>
                </a:solidFill>
                <a:latin typeface="Arial"/>
                <a:cs typeface="Arial"/>
              </a:rPr>
              <a:t>PRIMARY</a:t>
            </a:r>
            <a:r>
              <a:rPr sz="1200" b="1" spc="-2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94542"/>
                </a:solidFill>
                <a:latin typeface="Arial"/>
                <a:cs typeface="Arial"/>
              </a:rPr>
              <a:t>USERS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401697" y="2072513"/>
            <a:ext cx="537210" cy="317500"/>
            <a:chOff x="2401697" y="2072513"/>
            <a:chExt cx="537210" cy="317500"/>
          </a:xfrm>
        </p:grpSpPr>
        <p:sp>
          <p:nvSpPr>
            <p:cNvPr id="41" name="object 41"/>
            <p:cNvSpPr/>
            <p:nvPr/>
          </p:nvSpPr>
          <p:spPr>
            <a:xfrm>
              <a:off x="2404872" y="2075688"/>
              <a:ext cx="530860" cy="311150"/>
            </a:xfrm>
            <a:custGeom>
              <a:avLst/>
              <a:gdLst/>
              <a:ahLst/>
              <a:cxnLst/>
              <a:rect l="l" t="t" r="r" b="b"/>
              <a:pathLst>
                <a:path w="530860" h="311150">
                  <a:moveTo>
                    <a:pt x="478535" y="0"/>
                  </a:moveTo>
                  <a:lnTo>
                    <a:pt x="51815" y="0"/>
                  </a:lnTo>
                  <a:lnTo>
                    <a:pt x="31664" y="4077"/>
                  </a:lnTo>
                  <a:lnTo>
                    <a:pt x="15192" y="15192"/>
                  </a:lnTo>
                  <a:lnTo>
                    <a:pt x="4077" y="31664"/>
                  </a:lnTo>
                  <a:lnTo>
                    <a:pt x="0" y="51815"/>
                  </a:lnTo>
                  <a:lnTo>
                    <a:pt x="0" y="259079"/>
                  </a:lnTo>
                  <a:lnTo>
                    <a:pt x="4077" y="279231"/>
                  </a:lnTo>
                  <a:lnTo>
                    <a:pt x="15192" y="295703"/>
                  </a:lnTo>
                  <a:lnTo>
                    <a:pt x="31664" y="306818"/>
                  </a:lnTo>
                  <a:lnTo>
                    <a:pt x="51815" y="310896"/>
                  </a:lnTo>
                  <a:lnTo>
                    <a:pt x="478535" y="310896"/>
                  </a:lnTo>
                  <a:lnTo>
                    <a:pt x="498687" y="306818"/>
                  </a:lnTo>
                  <a:lnTo>
                    <a:pt x="515159" y="295703"/>
                  </a:lnTo>
                  <a:lnTo>
                    <a:pt x="526274" y="279231"/>
                  </a:lnTo>
                  <a:lnTo>
                    <a:pt x="530351" y="259079"/>
                  </a:lnTo>
                  <a:lnTo>
                    <a:pt x="530351" y="51815"/>
                  </a:lnTo>
                  <a:lnTo>
                    <a:pt x="526274" y="31664"/>
                  </a:lnTo>
                  <a:lnTo>
                    <a:pt x="515159" y="15192"/>
                  </a:lnTo>
                  <a:lnTo>
                    <a:pt x="498687" y="4077"/>
                  </a:lnTo>
                  <a:lnTo>
                    <a:pt x="478535" y="0"/>
                  </a:lnTo>
                  <a:close/>
                </a:path>
              </a:pathLst>
            </a:custGeom>
            <a:solidFill>
              <a:srgbClr val="E8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04872" y="2075688"/>
              <a:ext cx="530860" cy="311150"/>
            </a:xfrm>
            <a:custGeom>
              <a:avLst/>
              <a:gdLst/>
              <a:ahLst/>
              <a:cxnLst/>
              <a:rect l="l" t="t" r="r" b="b"/>
              <a:pathLst>
                <a:path w="530860" h="311150">
                  <a:moveTo>
                    <a:pt x="0" y="51815"/>
                  </a:moveTo>
                  <a:lnTo>
                    <a:pt x="4077" y="31664"/>
                  </a:lnTo>
                  <a:lnTo>
                    <a:pt x="15192" y="15192"/>
                  </a:lnTo>
                  <a:lnTo>
                    <a:pt x="31664" y="4077"/>
                  </a:lnTo>
                  <a:lnTo>
                    <a:pt x="51815" y="0"/>
                  </a:lnTo>
                  <a:lnTo>
                    <a:pt x="478535" y="0"/>
                  </a:lnTo>
                  <a:lnTo>
                    <a:pt x="498687" y="4077"/>
                  </a:lnTo>
                  <a:lnTo>
                    <a:pt x="515159" y="15192"/>
                  </a:lnTo>
                  <a:lnTo>
                    <a:pt x="526274" y="31664"/>
                  </a:lnTo>
                  <a:lnTo>
                    <a:pt x="530351" y="51815"/>
                  </a:lnTo>
                  <a:lnTo>
                    <a:pt x="530351" y="259079"/>
                  </a:lnTo>
                  <a:lnTo>
                    <a:pt x="526274" y="279231"/>
                  </a:lnTo>
                  <a:lnTo>
                    <a:pt x="515159" y="295703"/>
                  </a:lnTo>
                  <a:lnTo>
                    <a:pt x="498687" y="306818"/>
                  </a:lnTo>
                  <a:lnTo>
                    <a:pt x="478535" y="310896"/>
                  </a:lnTo>
                  <a:lnTo>
                    <a:pt x="51815" y="310896"/>
                  </a:lnTo>
                  <a:lnTo>
                    <a:pt x="31664" y="306818"/>
                  </a:lnTo>
                  <a:lnTo>
                    <a:pt x="15192" y="295703"/>
                  </a:lnTo>
                  <a:lnTo>
                    <a:pt x="4077" y="279231"/>
                  </a:lnTo>
                  <a:lnTo>
                    <a:pt x="0" y="259079"/>
                  </a:lnTo>
                  <a:lnTo>
                    <a:pt x="0" y="51815"/>
                  </a:lnTo>
                  <a:close/>
                </a:path>
              </a:pathLst>
            </a:custGeom>
            <a:ln w="6096">
              <a:solidFill>
                <a:srgbClr val="E8F3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458592" y="2160269"/>
            <a:ext cx="34290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-20" dirty="0">
                <a:solidFill>
                  <a:srgbClr val="016854"/>
                </a:solidFill>
                <a:latin typeface="Arial"/>
                <a:cs typeface="Arial"/>
              </a:rPr>
              <a:t>CORE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68680" y="1868423"/>
            <a:ext cx="10708005" cy="2228215"/>
            <a:chOff x="868680" y="1868423"/>
            <a:chExt cx="10708005" cy="2228215"/>
          </a:xfrm>
        </p:grpSpPr>
        <p:pic>
          <p:nvPicPr>
            <p:cNvPr id="45" name="object 45" descr="dashboar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680" y="2496311"/>
              <a:ext cx="384047" cy="384048"/>
            </a:xfrm>
            <a:prstGeom prst="rect">
              <a:avLst/>
            </a:prstGeom>
          </p:spPr>
        </p:pic>
        <p:pic>
          <p:nvPicPr>
            <p:cNvPr id="46" name="object 46" descr="building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8680" y="2999231"/>
              <a:ext cx="384047" cy="384048"/>
            </a:xfrm>
            <a:prstGeom prst="rect">
              <a:avLst/>
            </a:prstGeom>
          </p:spPr>
        </p:pic>
        <p:pic>
          <p:nvPicPr>
            <p:cNvPr id="47" name="object 47" descr="wrench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8680" y="3502151"/>
              <a:ext cx="384047" cy="38404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825484" y="1876043"/>
              <a:ext cx="2743200" cy="2212975"/>
            </a:xfrm>
            <a:custGeom>
              <a:avLst/>
              <a:gdLst/>
              <a:ahLst/>
              <a:cxnLst/>
              <a:rect l="l" t="t" r="r" b="b"/>
              <a:pathLst>
                <a:path w="2743200" h="2212975">
                  <a:moveTo>
                    <a:pt x="2374392" y="0"/>
                  </a:moveTo>
                  <a:lnTo>
                    <a:pt x="368808" y="0"/>
                  </a:lnTo>
                  <a:lnTo>
                    <a:pt x="322541" y="2873"/>
                  </a:lnTo>
                  <a:lnTo>
                    <a:pt x="277990" y="11262"/>
                  </a:lnTo>
                  <a:lnTo>
                    <a:pt x="235502" y="24822"/>
                  </a:lnTo>
                  <a:lnTo>
                    <a:pt x="195420" y="43207"/>
                  </a:lnTo>
                  <a:lnTo>
                    <a:pt x="158090" y="66072"/>
                  </a:lnTo>
                  <a:lnTo>
                    <a:pt x="123859" y="93071"/>
                  </a:lnTo>
                  <a:lnTo>
                    <a:pt x="93071" y="123859"/>
                  </a:lnTo>
                  <a:lnTo>
                    <a:pt x="66072" y="158090"/>
                  </a:lnTo>
                  <a:lnTo>
                    <a:pt x="43207" y="195420"/>
                  </a:lnTo>
                  <a:lnTo>
                    <a:pt x="24822" y="235502"/>
                  </a:lnTo>
                  <a:lnTo>
                    <a:pt x="11262" y="277990"/>
                  </a:lnTo>
                  <a:lnTo>
                    <a:pt x="2873" y="322541"/>
                  </a:lnTo>
                  <a:lnTo>
                    <a:pt x="0" y="368807"/>
                  </a:lnTo>
                  <a:lnTo>
                    <a:pt x="0" y="1844039"/>
                  </a:lnTo>
                  <a:lnTo>
                    <a:pt x="2873" y="1890306"/>
                  </a:lnTo>
                  <a:lnTo>
                    <a:pt x="11262" y="1934857"/>
                  </a:lnTo>
                  <a:lnTo>
                    <a:pt x="24822" y="1977345"/>
                  </a:lnTo>
                  <a:lnTo>
                    <a:pt x="43207" y="2017427"/>
                  </a:lnTo>
                  <a:lnTo>
                    <a:pt x="66072" y="2054757"/>
                  </a:lnTo>
                  <a:lnTo>
                    <a:pt x="93071" y="2088988"/>
                  </a:lnTo>
                  <a:lnTo>
                    <a:pt x="123859" y="2119776"/>
                  </a:lnTo>
                  <a:lnTo>
                    <a:pt x="158090" y="2146775"/>
                  </a:lnTo>
                  <a:lnTo>
                    <a:pt x="195420" y="2169640"/>
                  </a:lnTo>
                  <a:lnTo>
                    <a:pt x="235502" y="2188025"/>
                  </a:lnTo>
                  <a:lnTo>
                    <a:pt x="277990" y="2201585"/>
                  </a:lnTo>
                  <a:lnTo>
                    <a:pt x="322541" y="2209974"/>
                  </a:lnTo>
                  <a:lnTo>
                    <a:pt x="368808" y="2212847"/>
                  </a:lnTo>
                  <a:lnTo>
                    <a:pt x="2374392" y="2212847"/>
                  </a:lnTo>
                  <a:lnTo>
                    <a:pt x="2420658" y="2209974"/>
                  </a:lnTo>
                  <a:lnTo>
                    <a:pt x="2465209" y="2201585"/>
                  </a:lnTo>
                  <a:lnTo>
                    <a:pt x="2507697" y="2188025"/>
                  </a:lnTo>
                  <a:lnTo>
                    <a:pt x="2547779" y="2169640"/>
                  </a:lnTo>
                  <a:lnTo>
                    <a:pt x="2585109" y="2146775"/>
                  </a:lnTo>
                  <a:lnTo>
                    <a:pt x="2619340" y="2119776"/>
                  </a:lnTo>
                  <a:lnTo>
                    <a:pt x="2650128" y="2088988"/>
                  </a:lnTo>
                  <a:lnTo>
                    <a:pt x="2677127" y="2054757"/>
                  </a:lnTo>
                  <a:lnTo>
                    <a:pt x="2699992" y="2017427"/>
                  </a:lnTo>
                  <a:lnTo>
                    <a:pt x="2718377" y="1977345"/>
                  </a:lnTo>
                  <a:lnTo>
                    <a:pt x="2731937" y="1934857"/>
                  </a:lnTo>
                  <a:lnTo>
                    <a:pt x="2740326" y="1890306"/>
                  </a:lnTo>
                  <a:lnTo>
                    <a:pt x="2743200" y="1844039"/>
                  </a:lnTo>
                  <a:lnTo>
                    <a:pt x="2743200" y="368807"/>
                  </a:lnTo>
                  <a:lnTo>
                    <a:pt x="2740326" y="322541"/>
                  </a:lnTo>
                  <a:lnTo>
                    <a:pt x="2731937" y="277990"/>
                  </a:lnTo>
                  <a:lnTo>
                    <a:pt x="2718377" y="235502"/>
                  </a:lnTo>
                  <a:lnTo>
                    <a:pt x="2699992" y="195420"/>
                  </a:lnTo>
                  <a:lnTo>
                    <a:pt x="2677127" y="158090"/>
                  </a:lnTo>
                  <a:lnTo>
                    <a:pt x="2650128" y="123859"/>
                  </a:lnTo>
                  <a:lnTo>
                    <a:pt x="2619340" y="93071"/>
                  </a:lnTo>
                  <a:lnTo>
                    <a:pt x="2585109" y="66072"/>
                  </a:lnTo>
                  <a:lnTo>
                    <a:pt x="2547779" y="43207"/>
                  </a:lnTo>
                  <a:lnTo>
                    <a:pt x="2507697" y="24822"/>
                  </a:lnTo>
                  <a:lnTo>
                    <a:pt x="2465209" y="11262"/>
                  </a:lnTo>
                  <a:lnTo>
                    <a:pt x="2420658" y="2873"/>
                  </a:lnTo>
                  <a:lnTo>
                    <a:pt x="23743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825484" y="1876043"/>
              <a:ext cx="2743200" cy="2212975"/>
            </a:xfrm>
            <a:custGeom>
              <a:avLst/>
              <a:gdLst/>
              <a:ahLst/>
              <a:cxnLst/>
              <a:rect l="l" t="t" r="r" b="b"/>
              <a:pathLst>
                <a:path w="2743200" h="2212975">
                  <a:moveTo>
                    <a:pt x="0" y="368807"/>
                  </a:moveTo>
                  <a:lnTo>
                    <a:pt x="2873" y="322541"/>
                  </a:lnTo>
                  <a:lnTo>
                    <a:pt x="11262" y="277990"/>
                  </a:lnTo>
                  <a:lnTo>
                    <a:pt x="24822" y="235502"/>
                  </a:lnTo>
                  <a:lnTo>
                    <a:pt x="43207" y="195420"/>
                  </a:lnTo>
                  <a:lnTo>
                    <a:pt x="66072" y="158090"/>
                  </a:lnTo>
                  <a:lnTo>
                    <a:pt x="93071" y="123859"/>
                  </a:lnTo>
                  <a:lnTo>
                    <a:pt x="123859" y="93071"/>
                  </a:lnTo>
                  <a:lnTo>
                    <a:pt x="158090" y="66072"/>
                  </a:lnTo>
                  <a:lnTo>
                    <a:pt x="195420" y="43207"/>
                  </a:lnTo>
                  <a:lnTo>
                    <a:pt x="235502" y="24822"/>
                  </a:lnTo>
                  <a:lnTo>
                    <a:pt x="277990" y="11262"/>
                  </a:lnTo>
                  <a:lnTo>
                    <a:pt x="322541" y="2873"/>
                  </a:lnTo>
                  <a:lnTo>
                    <a:pt x="368808" y="0"/>
                  </a:lnTo>
                  <a:lnTo>
                    <a:pt x="2374392" y="0"/>
                  </a:lnTo>
                  <a:lnTo>
                    <a:pt x="2420658" y="2873"/>
                  </a:lnTo>
                  <a:lnTo>
                    <a:pt x="2465209" y="11262"/>
                  </a:lnTo>
                  <a:lnTo>
                    <a:pt x="2507697" y="24822"/>
                  </a:lnTo>
                  <a:lnTo>
                    <a:pt x="2547779" y="43207"/>
                  </a:lnTo>
                  <a:lnTo>
                    <a:pt x="2585109" y="66072"/>
                  </a:lnTo>
                  <a:lnTo>
                    <a:pt x="2619340" y="93071"/>
                  </a:lnTo>
                  <a:lnTo>
                    <a:pt x="2650128" y="123859"/>
                  </a:lnTo>
                  <a:lnTo>
                    <a:pt x="2677127" y="158090"/>
                  </a:lnTo>
                  <a:lnTo>
                    <a:pt x="2699992" y="195420"/>
                  </a:lnTo>
                  <a:lnTo>
                    <a:pt x="2718377" y="235502"/>
                  </a:lnTo>
                  <a:lnTo>
                    <a:pt x="2731937" y="277990"/>
                  </a:lnTo>
                  <a:lnTo>
                    <a:pt x="2740326" y="322541"/>
                  </a:lnTo>
                  <a:lnTo>
                    <a:pt x="2743200" y="368807"/>
                  </a:lnTo>
                  <a:lnTo>
                    <a:pt x="2743200" y="1844039"/>
                  </a:lnTo>
                  <a:lnTo>
                    <a:pt x="2740326" y="1890306"/>
                  </a:lnTo>
                  <a:lnTo>
                    <a:pt x="2731937" y="1934857"/>
                  </a:lnTo>
                  <a:lnTo>
                    <a:pt x="2718377" y="1977345"/>
                  </a:lnTo>
                  <a:lnTo>
                    <a:pt x="2699992" y="2017427"/>
                  </a:lnTo>
                  <a:lnTo>
                    <a:pt x="2677127" y="2054757"/>
                  </a:lnTo>
                  <a:lnTo>
                    <a:pt x="2650128" y="2088988"/>
                  </a:lnTo>
                  <a:lnTo>
                    <a:pt x="2619340" y="2119776"/>
                  </a:lnTo>
                  <a:lnTo>
                    <a:pt x="2585109" y="2146775"/>
                  </a:lnTo>
                  <a:lnTo>
                    <a:pt x="2547779" y="2169640"/>
                  </a:lnTo>
                  <a:lnTo>
                    <a:pt x="2507697" y="2188025"/>
                  </a:lnTo>
                  <a:lnTo>
                    <a:pt x="2465209" y="2201585"/>
                  </a:lnTo>
                  <a:lnTo>
                    <a:pt x="2420658" y="2209974"/>
                  </a:lnTo>
                  <a:lnTo>
                    <a:pt x="2374392" y="2212847"/>
                  </a:lnTo>
                  <a:lnTo>
                    <a:pt x="368808" y="2212847"/>
                  </a:lnTo>
                  <a:lnTo>
                    <a:pt x="322541" y="2209974"/>
                  </a:lnTo>
                  <a:lnTo>
                    <a:pt x="277990" y="2201585"/>
                  </a:lnTo>
                  <a:lnTo>
                    <a:pt x="235502" y="2188025"/>
                  </a:lnTo>
                  <a:lnTo>
                    <a:pt x="195420" y="2169640"/>
                  </a:lnTo>
                  <a:lnTo>
                    <a:pt x="158090" y="2146775"/>
                  </a:lnTo>
                  <a:lnTo>
                    <a:pt x="123859" y="2119776"/>
                  </a:lnTo>
                  <a:lnTo>
                    <a:pt x="93071" y="2088988"/>
                  </a:lnTo>
                  <a:lnTo>
                    <a:pt x="66072" y="2054757"/>
                  </a:lnTo>
                  <a:lnTo>
                    <a:pt x="43207" y="2017427"/>
                  </a:lnTo>
                  <a:lnTo>
                    <a:pt x="24822" y="1977345"/>
                  </a:lnTo>
                  <a:lnTo>
                    <a:pt x="11262" y="1934857"/>
                  </a:lnTo>
                  <a:lnTo>
                    <a:pt x="2873" y="1890306"/>
                  </a:lnTo>
                  <a:lnTo>
                    <a:pt x="0" y="1844039"/>
                  </a:lnTo>
                  <a:lnTo>
                    <a:pt x="0" y="368807"/>
                  </a:lnTo>
                  <a:close/>
                </a:path>
              </a:pathLst>
            </a:custGeom>
            <a:ln w="15240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 descr="industry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61703" y="2487167"/>
              <a:ext cx="384048" cy="384048"/>
            </a:xfrm>
            <a:prstGeom prst="rect">
              <a:avLst/>
            </a:prstGeom>
          </p:spPr>
        </p:pic>
        <p:pic>
          <p:nvPicPr>
            <p:cNvPr id="51" name="object 51" descr="leaf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61703" y="2962655"/>
              <a:ext cx="384048" cy="384048"/>
            </a:xfrm>
            <a:prstGeom prst="rect">
              <a:avLst/>
            </a:prstGeom>
          </p:spPr>
        </p:pic>
        <p:pic>
          <p:nvPicPr>
            <p:cNvPr id="52" name="object 52" descr="car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61703" y="3438143"/>
              <a:ext cx="384048" cy="384047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1340866" y="2417378"/>
            <a:ext cx="1624965" cy="47752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200" b="1" dirty="0">
                <a:solidFill>
                  <a:srgbClr val="0D2A2E"/>
                </a:solidFill>
                <a:latin typeface="Arial"/>
                <a:cs typeface="Arial"/>
              </a:rPr>
              <a:t>Grid</a:t>
            </a:r>
            <a:r>
              <a:rPr sz="1200" b="1" spc="-15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D2A2E"/>
                </a:solidFill>
                <a:latin typeface="Arial"/>
                <a:cs typeface="Arial"/>
              </a:rPr>
              <a:t>/</a:t>
            </a:r>
            <a:r>
              <a:rPr sz="1200" b="1" spc="-2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D2A2E"/>
                </a:solidFill>
                <a:latin typeface="Arial"/>
                <a:cs typeface="Arial"/>
              </a:rPr>
              <a:t>utility</a:t>
            </a:r>
            <a:r>
              <a:rPr sz="1200" b="1" spc="-15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D2A2E"/>
                </a:solidFill>
                <a:latin typeface="Arial"/>
                <a:cs typeface="Arial"/>
              </a:rPr>
              <a:t>operators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900" spc="-10" dirty="0">
                <a:solidFill>
                  <a:srgbClr val="5B6E6B"/>
                </a:solidFill>
                <a:latin typeface="Arial"/>
                <a:cs typeface="Arial"/>
              </a:rPr>
              <a:t>Real-</a:t>
            </a: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time</a:t>
            </a:r>
            <a:r>
              <a:rPr sz="900" spc="-50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operational</a:t>
            </a:r>
            <a:r>
              <a:rPr sz="900" spc="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B6E6B"/>
                </a:solidFill>
                <a:latin typeface="Arial"/>
                <a:cs typeface="Arial"/>
              </a:rPr>
              <a:t>decisions</a:t>
            </a:r>
            <a:endParaRPr sz="9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340866" y="2919957"/>
            <a:ext cx="1562735" cy="98107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200" b="1" dirty="0">
                <a:solidFill>
                  <a:srgbClr val="0D2A2E"/>
                </a:solidFill>
                <a:latin typeface="Arial"/>
                <a:cs typeface="Arial"/>
              </a:rPr>
              <a:t>Substation</a:t>
            </a:r>
            <a:r>
              <a:rPr sz="1200" b="1" spc="-6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D2A2E"/>
                </a:solidFill>
                <a:latin typeface="Arial"/>
                <a:cs typeface="Arial"/>
              </a:rPr>
              <a:t>operators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Asset</a:t>
            </a:r>
            <a:r>
              <a:rPr sz="900" spc="-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status</a:t>
            </a:r>
            <a:r>
              <a:rPr sz="900" spc="-3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+</a:t>
            </a:r>
            <a:r>
              <a:rPr sz="900" spc="-1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B6E6B"/>
                </a:solidFill>
                <a:latin typeface="Arial"/>
                <a:cs typeface="Arial"/>
              </a:rPr>
              <a:t>alarms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200" b="1" dirty="0">
                <a:solidFill>
                  <a:srgbClr val="0D2A2E"/>
                </a:solidFill>
                <a:latin typeface="Arial"/>
                <a:cs typeface="Arial"/>
              </a:rPr>
              <a:t>Maintenance</a:t>
            </a:r>
            <a:r>
              <a:rPr sz="1200" b="1" spc="-4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D2A2E"/>
                </a:solidFill>
                <a:latin typeface="Arial"/>
                <a:cs typeface="Arial"/>
              </a:rPr>
              <a:t>&amp;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10"/>
              </a:lnSpc>
            </a:pPr>
            <a:r>
              <a:rPr sz="1200" b="1" dirty="0">
                <a:solidFill>
                  <a:srgbClr val="0D2A2E"/>
                </a:solidFill>
                <a:latin typeface="Arial"/>
                <a:cs typeface="Arial"/>
              </a:rPr>
              <a:t>electrical</a:t>
            </a:r>
            <a:r>
              <a:rPr sz="1200" b="1" spc="-6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D2A2E"/>
                </a:solidFill>
                <a:latin typeface="Arial"/>
                <a:cs typeface="Arial"/>
              </a:rPr>
              <a:t>teams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950"/>
              </a:lnSpc>
            </a:pP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Inspection</a:t>
            </a:r>
            <a:r>
              <a:rPr sz="900" spc="-6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/ repair</a:t>
            </a:r>
            <a:r>
              <a:rPr sz="900" spc="-2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B6E6B"/>
                </a:solidFill>
                <a:latin typeface="Arial"/>
                <a:cs typeface="Arial"/>
              </a:rPr>
              <a:t>planning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087739" y="1973656"/>
            <a:ext cx="1860550" cy="189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94542"/>
                </a:solidFill>
                <a:latin typeface="Arial"/>
                <a:cs typeface="Arial"/>
              </a:rPr>
              <a:t>SECONDARY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094542"/>
                </a:solidFill>
                <a:latin typeface="Arial"/>
                <a:cs typeface="Arial"/>
              </a:rPr>
              <a:t>STAKEHOLDERS</a:t>
            </a:r>
            <a:endParaRPr sz="1200">
              <a:latin typeface="Arial"/>
              <a:cs typeface="Arial"/>
            </a:endParaRPr>
          </a:p>
          <a:p>
            <a:pPr marL="460375" marR="257810">
              <a:lnSpc>
                <a:spcPct val="100000"/>
              </a:lnSpc>
              <a:spcBef>
                <a:spcPts val="395"/>
              </a:spcBef>
            </a:pPr>
            <a:r>
              <a:rPr sz="1200" b="1" spc="-10" dirty="0">
                <a:solidFill>
                  <a:srgbClr val="0D2A2E"/>
                </a:solidFill>
                <a:latin typeface="Arial"/>
                <a:cs typeface="Arial"/>
              </a:rPr>
              <a:t>Transmission</a:t>
            </a:r>
            <a:r>
              <a:rPr sz="1200" b="1" spc="-2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D2A2E"/>
                </a:solidFill>
                <a:latin typeface="Arial"/>
                <a:cs typeface="Arial"/>
              </a:rPr>
              <a:t>&amp; </a:t>
            </a:r>
            <a:r>
              <a:rPr sz="1200" b="1" spc="-10" dirty="0">
                <a:solidFill>
                  <a:srgbClr val="0D2A2E"/>
                </a:solidFill>
                <a:latin typeface="Arial"/>
                <a:cs typeface="Arial"/>
              </a:rPr>
              <a:t>distribution</a:t>
            </a:r>
            <a:endParaRPr sz="1200">
              <a:latin typeface="Arial"/>
              <a:cs typeface="Arial"/>
            </a:endParaRPr>
          </a:p>
          <a:p>
            <a:pPr marL="460375">
              <a:lnSpc>
                <a:spcPts val="935"/>
              </a:lnSpc>
            </a:pP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Network</a:t>
            </a:r>
            <a:r>
              <a:rPr sz="900" spc="-3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5B6E6B"/>
                </a:solidFill>
                <a:latin typeface="Arial"/>
                <a:cs typeface="Arial"/>
              </a:rPr>
              <a:t>continuity</a:t>
            </a:r>
            <a:endParaRPr sz="1200">
              <a:latin typeface="Arial"/>
              <a:cs typeface="Arial"/>
            </a:endParaRPr>
          </a:p>
          <a:p>
            <a:pPr marL="460375">
              <a:lnSpc>
                <a:spcPts val="1370"/>
              </a:lnSpc>
            </a:pPr>
            <a:r>
              <a:rPr sz="1200" b="1" spc="-10" dirty="0">
                <a:solidFill>
                  <a:srgbClr val="0D2A2E"/>
                </a:solidFill>
                <a:latin typeface="Arial"/>
                <a:cs typeface="Arial"/>
              </a:rPr>
              <a:t>Renewable-energy</a:t>
            </a:r>
            <a:endParaRPr sz="1200">
              <a:latin typeface="Arial"/>
              <a:cs typeface="Arial"/>
            </a:endParaRPr>
          </a:p>
          <a:p>
            <a:pPr marL="460375">
              <a:lnSpc>
                <a:spcPts val="1420"/>
              </a:lnSpc>
            </a:pPr>
            <a:r>
              <a:rPr sz="1200" b="1" spc="-10" dirty="0">
                <a:solidFill>
                  <a:srgbClr val="0D2A2E"/>
                </a:solidFill>
                <a:latin typeface="Arial"/>
                <a:cs typeface="Arial"/>
              </a:rPr>
              <a:t>operators</a:t>
            </a:r>
            <a:endParaRPr sz="1200">
              <a:latin typeface="Arial"/>
              <a:cs typeface="Arial"/>
            </a:endParaRPr>
          </a:p>
          <a:p>
            <a:pPr marL="460375">
              <a:lnSpc>
                <a:spcPts val="969"/>
              </a:lnSpc>
            </a:pP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Variable</a:t>
            </a:r>
            <a:r>
              <a:rPr sz="900" spc="-5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/</a:t>
            </a:r>
            <a:r>
              <a:rPr sz="900" spc="1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bidirectional</a:t>
            </a:r>
            <a:r>
              <a:rPr sz="900" spc="-60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5B6E6B"/>
                </a:solidFill>
                <a:latin typeface="Arial"/>
                <a:cs typeface="Arial"/>
              </a:rPr>
              <a:t>flow</a:t>
            </a:r>
            <a:endParaRPr sz="900">
              <a:latin typeface="Arial"/>
              <a:cs typeface="Arial"/>
            </a:endParaRPr>
          </a:p>
          <a:p>
            <a:pPr marL="460375">
              <a:lnSpc>
                <a:spcPts val="1350"/>
              </a:lnSpc>
            </a:pPr>
            <a:r>
              <a:rPr sz="1200" b="1" dirty="0">
                <a:solidFill>
                  <a:srgbClr val="0D2A2E"/>
                </a:solidFill>
                <a:latin typeface="Arial"/>
                <a:cs typeface="Arial"/>
              </a:rPr>
              <a:t>EV</a:t>
            </a:r>
            <a:r>
              <a:rPr sz="1200" b="1" spc="-35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D2A2E"/>
                </a:solidFill>
                <a:latin typeface="Arial"/>
                <a:cs typeface="Arial"/>
              </a:rPr>
              <a:t>infrastructure</a:t>
            </a:r>
            <a:r>
              <a:rPr sz="1200" b="1" spc="-45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D2A2E"/>
                </a:solidFill>
                <a:latin typeface="Arial"/>
                <a:cs typeface="Arial"/>
              </a:rPr>
              <a:t>&amp;</a:t>
            </a:r>
            <a:endParaRPr sz="1200">
              <a:latin typeface="Arial"/>
              <a:cs typeface="Arial"/>
            </a:endParaRPr>
          </a:p>
          <a:p>
            <a:pPr marL="460375">
              <a:lnSpc>
                <a:spcPts val="1415"/>
              </a:lnSpc>
            </a:pPr>
            <a:r>
              <a:rPr sz="1200" b="1" spc="-10" dirty="0">
                <a:solidFill>
                  <a:srgbClr val="0D2A2E"/>
                </a:solidFill>
                <a:latin typeface="Arial"/>
                <a:cs typeface="Arial"/>
              </a:rPr>
              <a:t>regulators</a:t>
            </a:r>
            <a:endParaRPr sz="1200">
              <a:latin typeface="Arial"/>
              <a:cs typeface="Arial"/>
            </a:endParaRPr>
          </a:p>
          <a:p>
            <a:pPr marL="433070">
              <a:lnSpc>
                <a:spcPts val="1055"/>
              </a:lnSpc>
            </a:pP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New</a:t>
            </a:r>
            <a:r>
              <a:rPr sz="900" spc="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load</a:t>
            </a:r>
            <a:r>
              <a:rPr sz="900" spc="-10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+</a:t>
            </a:r>
            <a:r>
              <a:rPr sz="900" spc="-10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B6E6B"/>
                </a:solidFill>
                <a:latin typeface="Arial"/>
                <a:cs typeface="Arial"/>
              </a:rPr>
              <a:t>grid</a:t>
            </a:r>
            <a:r>
              <a:rPr sz="900" spc="-30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B6E6B"/>
                </a:solidFill>
                <a:latin typeface="Arial"/>
                <a:cs typeface="Arial"/>
              </a:rPr>
              <a:t>oversight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816083" y="5286755"/>
            <a:ext cx="822960" cy="951230"/>
          </a:xfrm>
          <a:custGeom>
            <a:avLst/>
            <a:gdLst/>
            <a:ahLst/>
            <a:cxnLst/>
            <a:rect l="l" t="t" r="r" b="b"/>
            <a:pathLst>
              <a:path w="822959" h="951229">
                <a:moveTo>
                  <a:pt x="411480" y="0"/>
                </a:moveTo>
                <a:lnTo>
                  <a:pt x="822960" y="205740"/>
                </a:lnTo>
                <a:lnTo>
                  <a:pt x="822960" y="745236"/>
                </a:lnTo>
                <a:lnTo>
                  <a:pt x="411480" y="950976"/>
                </a:lnTo>
                <a:lnTo>
                  <a:pt x="0" y="745236"/>
                </a:lnTo>
                <a:lnTo>
                  <a:pt x="0" y="205740"/>
                </a:lnTo>
                <a:lnTo>
                  <a:pt x="411480" y="0"/>
                </a:lnTo>
                <a:close/>
              </a:path>
            </a:pathLst>
          </a:custGeom>
          <a:ln w="15240">
            <a:solidFill>
              <a:srgbClr val="4FA1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06100" y="4591811"/>
            <a:ext cx="1234440" cy="1426845"/>
          </a:xfrm>
          <a:custGeom>
            <a:avLst/>
            <a:gdLst/>
            <a:ahLst/>
            <a:cxnLst/>
            <a:rect l="l" t="t" r="r" b="b"/>
            <a:pathLst>
              <a:path w="1234440" h="1426845">
                <a:moveTo>
                  <a:pt x="617220" y="0"/>
                </a:moveTo>
                <a:lnTo>
                  <a:pt x="1234440" y="308610"/>
                </a:lnTo>
                <a:lnTo>
                  <a:pt x="1234440" y="1117854"/>
                </a:lnTo>
                <a:lnTo>
                  <a:pt x="617220" y="1426464"/>
                </a:lnTo>
                <a:lnTo>
                  <a:pt x="0" y="1117854"/>
                </a:lnTo>
                <a:lnTo>
                  <a:pt x="0" y="308610"/>
                </a:lnTo>
                <a:lnTo>
                  <a:pt x="617220" y="0"/>
                </a:lnTo>
                <a:close/>
              </a:path>
            </a:pathLst>
          </a:custGeom>
          <a:ln w="15240">
            <a:solidFill>
              <a:srgbClr val="4FA1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44883" y="3777996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547116" y="883158"/>
                </a:moveTo>
                <a:lnTo>
                  <a:pt x="411480" y="950976"/>
                </a:lnTo>
                <a:lnTo>
                  <a:pt x="0" y="745235"/>
                </a:lnTo>
                <a:lnTo>
                  <a:pt x="0" y="205739"/>
                </a:lnTo>
                <a:lnTo>
                  <a:pt x="411480" y="0"/>
                </a:lnTo>
                <a:lnTo>
                  <a:pt x="547116" y="67817"/>
                </a:lnTo>
              </a:path>
            </a:pathLst>
          </a:custGeom>
          <a:ln w="15240">
            <a:solidFill>
              <a:srgbClr val="4FA1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6" name="object 56"/>
          <p:cNvGrpSpPr/>
          <p:nvPr/>
        </p:nvGrpSpPr>
        <p:grpSpPr>
          <a:xfrm>
            <a:off x="1914144" y="4657344"/>
            <a:ext cx="8747760" cy="1130935"/>
            <a:chOff x="1914144" y="4657344"/>
            <a:chExt cx="8747760" cy="1130935"/>
          </a:xfrm>
        </p:grpSpPr>
        <p:sp>
          <p:nvSpPr>
            <p:cNvPr id="57" name="object 57"/>
            <p:cNvSpPr/>
            <p:nvPr/>
          </p:nvSpPr>
          <p:spPr>
            <a:xfrm>
              <a:off x="1921764" y="4664964"/>
              <a:ext cx="8732520" cy="1115695"/>
            </a:xfrm>
            <a:custGeom>
              <a:avLst/>
              <a:gdLst/>
              <a:ahLst/>
              <a:cxnLst/>
              <a:rect l="l" t="t" r="r" b="b"/>
              <a:pathLst>
                <a:path w="8732520" h="1115695">
                  <a:moveTo>
                    <a:pt x="8546592" y="0"/>
                  </a:moveTo>
                  <a:lnTo>
                    <a:pt x="185928" y="0"/>
                  </a:lnTo>
                  <a:lnTo>
                    <a:pt x="136480" y="6637"/>
                  </a:lnTo>
                  <a:lnTo>
                    <a:pt x="92060" y="25371"/>
                  </a:lnTo>
                  <a:lnTo>
                    <a:pt x="54435" y="54435"/>
                  </a:lnTo>
                  <a:lnTo>
                    <a:pt x="25371" y="92060"/>
                  </a:lnTo>
                  <a:lnTo>
                    <a:pt x="6637" y="136480"/>
                  </a:lnTo>
                  <a:lnTo>
                    <a:pt x="0" y="185928"/>
                  </a:lnTo>
                  <a:lnTo>
                    <a:pt x="0" y="929640"/>
                  </a:lnTo>
                  <a:lnTo>
                    <a:pt x="6637" y="979065"/>
                  </a:lnTo>
                  <a:lnTo>
                    <a:pt x="25371" y="1023478"/>
                  </a:lnTo>
                  <a:lnTo>
                    <a:pt x="54435" y="1061108"/>
                  </a:lnTo>
                  <a:lnTo>
                    <a:pt x="92060" y="1090182"/>
                  </a:lnTo>
                  <a:lnTo>
                    <a:pt x="136480" y="1108926"/>
                  </a:lnTo>
                  <a:lnTo>
                    <a:pt x="185928" y="1115568"/>
                  </a:lnTo>
                  <a:lnTo>
                    <a:pt x="8546592" y="1115568"/>
                  </a:lnTo>
                  <a:lnTo>
                    <a:pt x="8596039" y="1108926"/>
                  </a:lnTo>
                  <a:lnTo>
                    <a:pt x="8640459" y="1090182"/>
                  </a:lnTo>
                  <a:lnTo>
                    <a:pt x="8678084" y="1061108"/>
                  </a:lnTo>
                  <a:lnTo>
                    <a:pt x="8707148" y="1023478"/>
                  </a:lnTo>
                  <a:lnTo>
                    <a:pt x="8725882" y="979065"/>
                  </a:lnTo>
                  <a:lnTo>
                    <a:pt x="8732519" y="929640"/>
                  </a:lnTo>
                  <a:lnTo>
                    <a:pt x="8732519" y="185928"/>
                  </a:lnTo>
                  <a:lnTo>
                    <a:pt x="8725882" y="136480"/>
                  </a:lnTo>
                  <a:lnTo>
                    <a:pt x="8707148" y="92060"/>
                  </a:lnTo>
                  <a:lnTo>
                    <a:pt x="8678084" y="54435"/>
                  </a:lnTo>
                  <a:lnTo>
                    <a:pt x="8640459" y="25371"/>
                  </a:lnTo>
                  <a:lnTo>
                    <a:pt x="8596039" y="6637"/>
                  </a:lnTo>
                  <a:lnTo>
                    <a:pt x="85465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921764" y="4664964"/>
              <a:ext cx="8732520" cy="1115695"/>
            </a:xfrm>
            <a:custGeom>
              <a:avLst/>
              <a:gdLst/>
              <a:ahLst/>
              <a:cxnLst/>
              <a:rect l="l" t="t" r="r" b="b"/>
              <a:pathLst>
                <a:path w="8732520" h="1115695">
                  <a:moveTo>
                    <a:pt x="0" y="185928"/>
                  </a:moveTo>
                  <a:lnTo>
                    <a:pt x="6637" y="136480"/>
                  </a:lnTo>
                  <a:lnTo>
                    <a:pt x="25371" y="92060"/>
                  </a:lnTo>
                  <a:lnTo>
                    <a:pt x="54435" y="54435"/>
                  </a:lnTo>
                  <a:lnTo>
                    <a:pt x="92060" y="25371"/>
                  </a:lnTo>
                  <a:lnTo>
                    <a:pt x="136480" y="6637"/>
                  </a:lnTo>
                  <a:lnTo>
                    <a:pt x="185928" y="0"/>
                  </a:lnTo>
                  <a:lnTo>
                    <a:pt x="8546592" y="0"/>
                  </a:lnTo>
                  <a:lnTo>
                    <a:pt x="8596039" y="6637"/>
                  </a:lnTo>
                  <a:lnTo>
                    <a:pt x="8640459" y="25371"/>
                  </a:lnTo>
                  <a:lnTo>
                    <a:pt x="8678084" y="54435"/>
                  </a:lnTo>
                  <a:lnTo>
                    <a:pt x="8707148" y="92060"/>
                  </a:lnTo>
                  <a:lnTo>
                    <a:pt x="8725882" y="136480"/>
                  </a:lnTo>
                  <a:lnTo>
                    <a:pt x="8732519" y="185928"/>
                  </a:lnTo>
                  <a:lnTo>
                    <a:pt x="8732519" y="929640"/>
                  </a:lnTo>
                  <a:lnTo>
                    <a:pt x="8725882" y="979065"/>
                  </a:lnTo>
                  <a:lnTo>
                    <a:pt x="8707148" y="1023478"/>
                  </a:lnTo>
                  <a:lnTo>
                    <a:pt x="8678084" y="1061108"/>
                  </a:lnTo>
                  <a:lnTo>
                    <a:pt x="8640459" y="1090182"/>
                  </a:lnTo>
                  <a:lnTo>
                    <a:pt x="8596039" y="1108926"/>
                  </a:lnTo>
                  <a:lnTo>
                    <a:pt x="8546592" y="1115568"/>
                  </a:lnTo>
                  <a:lnTo>
                    <a:pt x="185928" y="1115568"/>
                  </a:lnTo>
                  <a:lnTo>
                    <a:pt x="136480" y="1108926"/>
                  </a:lnTo>
                  <a:lnTo>
                    <a:pt x="92060" y="1090182"/>
                  </a:lnTo>
                  <a:lnTo>
                    <a:pt x="54435" y="1061108"/>
                  </a:lnTo>
                  <a:lnTo>
                    <a:pt x="25371" y="1023478"/>
                  </a:lnTo>
                  <a:lnTo>
                    <a:pt x="6637" y="979065"/>
                  </a:lnTo>
                  <a:lnTo>
                    <a:pt x="0" y="929640"/>
                  </a:lnTo>
                  <a:lnTo>
                    <a:pt x="0" y="185928"/>
                  </a:lnTo>
                  <a:close/>
                </a:path>
              </a:pathLst>
            </a:custGeom>
            <a:ln w="15240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2257805" y="3852417"/>
            <a:ext cx="505650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0645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16854"/>
                </a:solidFill>
                <a:latin typeface="Arial"/>
                <a:cs typeface="Arial"/>
              </a:rPr>
              <a:t>GRID</a:t>
            </a:r>
            <a:r>
              <a:rPr sz="1100" b="1" spc="-55" dirty="0">
                <a:solidFill>
                  <a:srgbClr val="0168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16854"/>
                </a:solidFill>
                <a:latin typeface="Arial"/>
                <a:cs typeface="Arial"/>
              </a:rPr>
              <a:t>ASSET</a:t>
            </a:r>
            <a:r>
              <a:rPr sz="1100" b="1" spc="-35" dirty="0">
                <a:solidFill>
                  <a:srgbClr val="0168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16854"/>
                </a:solidFill>
                <a:latin typeface="Arial"/>
                <a:cs typeface="Arial"/>
              </a:rPr>
              <a:t>+</a:t>
            </a:r>
            <a:r>
              <a:rPr sz="1100" b="1" spc="-65" dirty="0">
                <a:solidFill>
                  <a:srgbClr val="01685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16854"/>
                </a:solidFill>
                <a:latin typeface="Arial"/>
                <a:cs typeface="Arial"/>
              </a:rPr>
              <a:t>MONITORING</a:t>
            </a:r>
            <a:r>
              <a:rPr sz="1100" b="1" spc="-10" dirty="0">
                <a:solidFill>
                  <a:srgbClr val="016854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16854"/>
                </a:solidFill>
                <a:latin typeface="Arial"/>
                <a:cs typeface="Arial"/>
              </a:rPr>
              <a:t>LAYER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Arial"/>
              <a:cs typeface="Arial"/>
            </a:endParaRPr>
          </a:p>
          <a:p>
            <a:pPr marR="1534795" algn="ctr">
              <a:lnSpc>
                <a:spcPct val="100000"/>
              </a:lnSpc>
            </a:pPr>
            <a:r>
              <a:rPr sz="1400" b="1" dirty="0">
                <a:solidFill>
                  <a:srgbClr val="016854"/>
                </a:solidFill>
                <a:latin typeface="Arial"/>
                <a:cs typeface="Arial"/>
              </a:rPr>
              <a:t>RELIABLE</a:t>
            </a:r>
            <a:r>
              <a:rPr sz="1400" b="1" spc="5" dirty="0">
                <a:solidFill>
                  <a:srgbClr val="016854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16854"/>
                </a:solidFill>
                <a:latin typeface="Arial"/>
                <a:cs typeface="Arial"/>
              </a:rPr>
              <a:t>•</a:t>
            </a:r>
            <a:r>
              <a:rPr sz="1400" b="1" spc="-60" dirty="0">
                <a:solidFill>
                  <a:srgbClr val="016854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16854"/>
                </a:solidFill>
                <a:latin typeface="Arial"/>
                <a:cs typeface="Arial"/>
              </a:rPr>
              <a:t>CONTINUOUS</a:t>
            </a:r>
            <a:r>
              <a:rPr sz="1400" b="1" spc="10" dirty="0">
                <a:solidFill>
                  <a:srgbClr val="016854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16854"/>
                </a:solidFill>
                <a:latin typeface="Arial"/>
                <a:cs typeface="Arial"/>
              </a:rPr>
              <a:t>•</a:t>
            </a:r>
            <a:r>
              <a:rPr sz="1400" b="1" spc="-65" dirty="0">
                <a:solidFill>
                  <a:srgbClr val="01685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16854"/>
                </a:solidFill>
                <a:latin typeface="Arial"/>
                <a:cs typeface="Arial"/>
              </a:rPr>
              <a:t>PLANNABLE</a:t>
            </a:r>
            <a:endParaRPr sz="1400">
              <a:latin typeface="Arial"/>
              <a:cs typeface="Arial"/>
            </a:endParaRPr>
          </a:p>
          <a:p>
            <a:pPr marR="1536065" algn="ctr">
              <a:lnSpc>
                <a:spcPct val="100000"/>
              </a:lnSpc>
            </a:pPr>
            <a:r>
              <a:rPr sz="1400" b="1" spc="-10" dirty="0">
                <a:solidFill>
                  <a:srgbClr val="016854"/>
                </a:solidFill>
                <a:latin typeface="Arial"/>
                <a:cs typeface="Arial"/>
              </a:rPr>
              <a:t>POWER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187320" y="4965572"/>
            <a:ext cx="14922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094542"/>
                </a:solidFill>
                <a:latin typeface="Arial"/>
                <a:cs typeface="Arial"/>
              </a:rPr>
              <a:t>WHO</a:t>
            </a:r>
            <a:r>
              <a:rPr sz="1400" b="1" spc="-20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94542"/>
                </a:solidFill>
                <a:latin typeface="Arial"/>
                <a:cs typeface="Arial"/>
              </a:rPr>
              <a:t>BENEFITS?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627120" y="4818888"/>
            <a:ext cx="1792605" cy="518159"/>
            <a:chOff x="3627120" y="4818888"/>
            <a:chExt cx="1792605" cy="518159"/>
          </a:xfrm>
        </p:grpSpPr>
        <p:pic>
          <p:nvPicPr>
            <p:cNvPr id="61" name="object 61" descr="home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27120" y="4818888"/>
              <a:ext cx="515112" cy="518159"/>
            </a:xfrm>
            <a:prstGeom prst="rect">
              <a:avLst/>
            </a:prstGeom>
          </p:spPr>
        </p:pic>
        <p:pic>
          <p:nvPicPr>
            <p:cNvPr id="62" name="object 62" descr="industry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40808" y="4843272"/>
              <a:ext cx="478536" cy="478535"/>
            </a:xfrm>
            <a:prstGeom prst="rect">
              <a:avLst/>
            </a:prstGeom>
          </p:spPr>
        </p:pic>
      </p:grpSp>
      <p:sp>
        <p:nvSpPr>
          <p:cNvPr id="63" name="object 63"/>
          <p:cNvSpPr txBox="1"/>
          <p:nvPr/>
        </p:nvSpPr>
        <p:spPr>
          <a:xfrm>
            <a:off x="4263009" y="4987493"/>
            <a:ext cx="221234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22375" algn="l"/>
              </a:tabLst>
            </a:pPr>
            <a:r>
              <a:rPr sz="1400" b="1" spc="-10" dirty="0">
                <a:solidFill>
                  <a:srgbClr val="0D2A2E"/>
                </a:solidFill>
                <a:latin typeface="Arial"/>
                <a:cs typeface="Arial"/>
              </a:rPr>
              <a:t>Homes</a:t>
            </a:r>
            <a:r>
              <a:rPr sz="1400" b="1" dirty="0">
                <a:solidFill>
                  <a:srgbClr val="0D2A2E"/>
                </a:solidFill>
                <a:latin typeface="Arial"/>
                <a:cs typeface="Arial"/>
              </a:rPr>
              <a:t>	</a:t>
            </a:r>
            <a:r>
              <a:rPr sz="2100" b="1" spc="-15" baseline="1984" dirty="0">
                <a:solidFill>
                  <a:srgbClr val="0D2A2E"/>
                </a:solidFill>
                <a:latin typeface="Arial"/>
                <a:cs typeface="Arial"/>
              </a:rPr>
              <a:t>Businesses</a:t>
            </a:r>
            <a:endParaRPr sz="2100" baseline="1984"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416040" y="4855464"/>
            <a:ext cx="3075940" cy="481965"/>
            <a:chOff x="6416040" y="4855464"/>
            <a:chExt cx="3075940" cy="481965"/>
          </a:xfrm>
        </p:grpSpPr>
        <p:pic>
          <p:nvPicPr>
            <p:cNvPr id="65" name="object 65" descr="hospital.png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16040" y="4855464"/>
              <a:ext cx="478536" cy="481584"/>
            </a:xfrm>
            <a:prstGeom prst="rect">
              <a:avLst/>
            </a:prstGeom>
          </p:spPr>
        </p:pic>
        <p:pic>
          <p:nvPicPr>
            <p:cNvPr id="66" name="object 66" descr="building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63840" y="4855464"/>
              <a:ext cx="329183" cy="329184"/>
            </a:xfrm>
            <a:prstGeom prst="rect">
              <a:avLst/>
            </a:prstGeom>
          </p:spPr>
        </p:pic>
        <p:pic>
          <p:nvPicPr>
            <p:cNvPr id="67" name="object 67" descr="bolt.png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62288" y="4855464"/>
              <a:ext cx="329183" cy="329184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6947661" y="4927472"/>
            <a:ext cx="8159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0D2A2E"/>
                </a:solidFill>
                <a:latin typeface="Arial"/>
                <a:cs typeface="Arial"/>
              </a:rPr>
              <a:t>Hospitals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246491" y="4927472"/>
            <a:ext cx="6604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0D2A2E"/>
                </a:solidFill>
                <a:latin typeface="Arial"/>
                <a:cs typeface="Arial"/>
              </a:rPr>
              <a:t>Utilities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545193" y="4927472"/>
            <a:ext cx="3898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0" dirty="0">
                <a:solidFill>
                  <a:srgbClr val="0D2A2E"/>
                </a:solidFill>
                <a:latin typeface="Arial"/>
                <a:cs typeface="Arial"/>
              </a:rPr>
              <a:t>Grid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6345935"/>
            <a:ext cx="12192000" cy="512445"/>
            <a:chOff x="0" y="6345935"/>
            <a:chExt cx="12192000" cy="512445"/>
          </a:xfrm>
        </p:grpSpPr>
        <p:sp>
          <p:nvSpPr>
            <p:cNvPr id="28" name="object 28"/>
            <p:cNvSpPr/>
            <p:nvPr/>
          </p:nvSpPr>
          <p:spPr>
            <a:xfrm>
              <a:off x="0" y="6345935"/>
              <a:ext cx="12192000" cy="512445"/>
            </a:xfrm>
            <a:custGeom>
              <a:avLst/>
              <a:gdLst/>
              <a:ahLst/>
              <a:cxnLst/>
              <a:rect l="l" t="t" r="r" b="b"/>
              <a:pathLst>
                <a:path w="12192000" h="512445">
                  <a:moveTo>
                    <a:pt x="12192000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12192000" y="51206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42B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274552" y="6400799"/>
              <a:ext cx="457200" cy="429895"/>
            </a:xfrm>
            <a:custGeom>
              <a:avLst/>
              <a:gdLst/>
              <a:ahLst/>
              <a:cxnLst/>
              <a:rect l="l" t="t" r="r" b="b"/>
              <a:pathLst>
                <a:path w="457200" h="429895">
                  <a:moveTo>
                    <a:pt x="349757" y="0"/>
                  </a:moveTo>
                  <a:lnTo>
                    <a:pt x="107442" y="0"/>
                  </a:lnTo>
                  <a:lnTo>
                    <a:pt x="0" y="214884"/>
                  </a:lnTo>
                  <a:lnTo>
                    <a:pt x="107442" y="429768"/>
                  </a:lnTo>
                  <a:lnTo>
                    <a:pt x="349757" y="429768"/>
                  </a:lnTo>
                  <a:lnTo>
                    <a:pt x="457200" y="214884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274552" y="6400799"/>
              <a:ext cx="457200" cy="429895"/>
            </a:xfrm>
            <a:custGeom>
              <a:avLst/>
              <a:gdLst/>
              <a:ahLst/>
              <a:cxnLst/>
              <a:rect l="l" t="t" r="r" b="b"/>
              <a:pathLst>
                <a:path w="457200" h="429895">
                  <a:moveTo>
                    <a:pt x="0" y="214884"/>
                  </a:moveTo>
                  <a:lnTo>
                    <a:pt x="107442" y="0"/>
                  </a:lnTo>
                  <a:lnTo>
                    <a:pt x="349757" y="0"/>
                  </a:lnTo>
                  <a:lnTo>
                    <a:pt x="457200" y="214884"/>
                  </a:lnTo>
                  <a:lnTo>
                    <a:pt x="349757" y="429768"/>
                  </a:lnTo>
                  <a:lnTo>
                    <a:pt x="107442" y="429768"/>
                  </a:lnTo>
                  <a:lnTo>
                    <a:pt x="0" y="214884"/>
                  </a:lnTo>
                  <a:close/>
                </a:path>
              </a:pathLst>
            </a:custGeom>
            <a:ln w="6096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xfrm>
            <a:off x="11408156" y="6533117"/>
            <a:ext cx="321055" cy="172483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>
                <a:solidFill>
                  <a:srgbClr val="042B35"/>
                </a:solidFill>
                <a:latin typeface="+mn-lt"/>
                <a:cs typeface="Arial"/>
              </a:rPr>
              <a:t>3</a:t>
            </a:fld>
            <a:endParaRPr dirty="0">
              <a:latin typeface="+mn-lt"/>
              <a:cs typeface="Arial"/>
            </a:endParaRPr>
          </a:p>
        </p:txBody>
      </p:sp>
      <p:pic>
        <p:nvPicPr>
          <p:cNvPr id="73" name="Lead Icon" descr="Lightbulb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476" y="1437399"/>
            <a:ext cx="274320" cy="274320"/>
          </a:xfrm>
          <a:prstGeom prst="rect">
            <a:avLst/>
          </a:prstGeom>
        </p:spPr>
      </p:pic>
      <p:grpSp>
        <p:nvGrpSpPr>
          <p:cNvPr id="75" name="object 3"/>
          <p:cNvGrpSpPr/>
          <p:nvPr/>
        </p:nvGrpSpPr>
        <p:grpSpPr>
          <a:xfrm>
            <a:off x="542267" y="422733"/>
            <a:ext cx="657788" cy="600964"/>
            <a:chOff x="633983" y="405384"/>
            <a:chExt cx="469900" cy="469900"/>
          </a:xfrm>
        </p:grpSpPr>
        <p:sp>
          <p:nvSpPr>
            <p:cNvPr id="76" name="object 4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5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8" name="Team Icon" descr="Team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901" y="551971"/>
            <a:ext cx="36576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8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57200" y="320039"/>
            <a:ext cx="2633980" cy="822960"/>
            <a:chOff x="457200" y="320039"/>
            <a:chExt cx="2633980" cy="822960"/>
          </a:xfrm>
        </p:grpSpPr>
        <p:sp>
          <p:nvSpPr>
            <p:cNvPr id="11" name="object 11"/>
            <p:cNvSpPr/>
            <p:nvPr/>
          </p:nvSpPr>
          <p:spPr>
            <a:xfrm>
              <a:off x="457200" y="320039"/>
              <a:ext cx="2633980" cy="822960"/>
            </a:xfrm>
            <a:custGeom>
              <a:avLst/>
              <a:gdLst/>
              <a:ahLst/>
              <a:cxnLst/>
              <a:rect l="l" t="t" r="r" b="b"/>
              <a:pathLst>
                <a:path w="2633980" h="822960">
                  <a:moveTo>
                    <a:pt x="2496312" y="0"/>
                  </a:moveTo>
                  <a:lnTo>
                    <a:pt x="137159" y="0"/>
                  </a:lnTo>
                  <a:lnTo>
                    <a:pt x="93805" y="6998"/>
                  </a:lnTo>
                  <a:lnTo>
                    <a:pt x="56153" y="26481"/>
                  </a:lnTo>
                  <a:lnTo>
                    <a:pt x="26462" y="56180"/>
                  </a:lnTo>
                  <a:lnTo>
                    <a:pt x="6992" y="93829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6992" y="729130"/>
                  </a:lnTo>
                  <a:lnTo>
                    <a:pt x="26462" y="766779"/>
                  </a:lnTo>
                  <a:lnTo>
                    <a:pt x="56153" y="796478"/>
                  </a:lnTo>
                  <a:lnTo>
                    <a:pt x="93805" y="815961"/>
                  </a:lnTo>
                  <a:lnTo>
                    <a:pt x="137159" y="822959"/>
                  </a:lnTo>
                  <a:lnTo>
                    <a:pt x="2496312" y="822959"/>
                  </a:lnTo>
                  <a:lnTo>
                    <a:pt x="2539642" y="815961"/>
                  </a:lnTo>
                  <a:lnTo>
                    <a:pt x="2577291" y="796478"/>
                  </a:lnTo>
                  <a:lnTo>
                    <a:pt x="2606990" y="766779"/>
                  </a:lnTo>
                  <a:lnTo>
                    <a:pt x="2626473" y="729130"/>
                  </a:lnTo>
                  <a:lnTo>
                    <a:pt x="2633472" y="685799"/>
                  </a:lnTo>
                  <a:lnTo>
                    <a:pt x="2633472" y="137159"/>
                  </a:lnTo>
                  <a:lnTo>
                    <a:pt x="2626473" y="93829"/>
                  </a:lnTo>
                  <a:lnTo>
                    <a:pt x="2606990" y="56180"/>
                  </a:lnTo>
                  <a:lnTo>
                    <a:pt x="2577291" y="26481"/>
                  </a:lnTo>
                  <a:lnTo>
                    <a:pt x="2539642" y="6998"/>
                  </a:lnTo>
                  <a:lnTo>
                    <a:pt x="24963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320039"/>
              <a:ext cx="2633980" cy="822960"/>
            </a:xfrm>
            <a:custGeom>
              <a:avLst/>
              <a:gdLst/>
              <a:ahLst/>
              <a:cxnLst/>
              <a:rect l="l" t="t" r="r" b="b"/>
              <a:pathLst>
                <a:path w="2633980" h="822960">
                  <a:moveTo>
                    <a:pt x="0" y="137159"/>
                  </a:moveTo>
                  <a:lnTo>
                    <a:pt x="6992" y="93829"/>
                  </a:lnTo>
                  <a:lnTo>
                    <a:pt x="26462" y="56180"/>
                  </a:lnTo>
                  <a:lnTo>
                    <a:pt x="56153" y="26481"/>
                  </a:lnTo>
                  <a:lnTo>
                    <a:pt x="93805" y="6998"/>
                  </a:lnTo>
                  <a:lnTo>
                    <a:pt x="137159" y="0"/>
                  </a:lnTo>
                  <a:lnTo>
                    <a:pt x="2496312" y="0"/>
                  </a:lnTo>
                  <a:lnTo>
                    <a:pt x="2539642" y="6998"/>
                  </a:lnTo>
                  <a:lnTo>
                    <a:pt x="2577291" y="26481"/>
                  </a:lnTo>
                  <a:lnTo>
                    <a:pt x="2606990" y="56180"/>
                  </a:lnTo>
                  <a:lnTo>
                    <a:pt x="2626473" y="93829"/>
                  </a:lnTo>
                  <a:lnTo>
                    <a:pt x="2633472" y="137159"/>
                  </a:lnTo>
                  <a:lnTo>
                    <a:pt x="2633472" y="685799"/>
                  </a:lnTo>
                  <a:lnTo>
                    <a:pt x="2626473" y="729130"/>
                  </a:lnTo>
                  <a:lnTo>
                    <a:pt x="2606990" y="766779"/>
                  </a:lnTo>
                  <a:lnTo>
                    <a:pt x="2577291" y="796478"/>
                  </a:lnTo>
                  <a:lnTo>
                    <a:pt x="2539642" y="815961"/>
                  </a:lnTo>
                  <a:lnTo>
                    <a:pt x="2496312" y="822959"/>
                  </a:lnTo>
                  <a:lnTo>
                    <a:pt x="137159" y="822959"/>
                  </a:lnTo>
                  <a:lnTo>
                    <a:pt x="93805" y="815961"/>
                  </a:lnTo>
                  <a:lnTo>
                    <a:pt x="56153" y="796478"/>
                  </a:lnTo>
                  <a:lnTo>
                    <a:pt x="26462" y="766779"/>
                  </a:lnTo>
                  <a:lnTo>
                    <a:pt x="6992" y="729130"/>
                  </a:lnTo>
                  <a:lnTo>
                    <a:pt x="0" y="685799"/>
                  </a:lnTo>
                  <a:lnTo>
                    <a:pt x="0" y="137159"/>
                  </a:lnTo>
                  <a:close/>
                </a:path>
              </a:pathLst>
            </a:custGeom>
            <a:ln w="12192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1792" y="438911"/>
              <a:ext cx="512445" cy="494030"/>
            </a:xfrm>
            <a:custGeom>
              <a:avLst/>
              <a:gdLst/>
              <a:ahLst/>
              <a:cxnLst/>
              <a:rect l="l" t="t" r="r" b="b"/>
              <a:pathLst>
                <a:path w="512444" h="494030">
                  <a:moveTo>
                    <a:pt x="388620" y="0"/>
                  </a:moveTo>
                  <a:lnTo>
                    <a:pt x="123443" y="0"/>
                  </a:lnTo>
                  <a:lnTo>
                    <a:pt x="0" y="246887"/>
                  </a:lnTo>
                  <a:lnTo>
                    <a:pt x="123443" y="493775"/>
                  </a:lnTo>
                  <a:lnTo>
                    <a:pt x="388620" y="493775"/>
                  </a:lnTo>
                  <a:lnTo>
                    <a:pt x="512064" y="246887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F6F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1792" y="438911"/>
              <a:ext cx="512445" cy="494030"/>
            </a:xfrm>
            <a:custGeom>
              <a:avLst/>
              <a:gdLst/>
              <a:ahLst/>
              <a:cxnLst/>
              <a:rect l="l" t="t" r="r" b="b"/>
              <a:pathLst>
                <a:path w="512444" h="494030">
                  <a:moveTo>
                    <a:pt x="0" y="246887"/>
                  </a:moveTo>
                  <a:lnTo>
                    <a:pt x="123443" y="0"/>
                  </a:lnTo>
                  <a:lnTo>
                    <a:pt x="388620" y="0"/>
                  </a:lnTo>
                  <a:lnTo>
                    <a:pt x="512064" y="246887"/>
                  </a:lnTo>
                  <a:lnTo>
                    <a:pt x="388620" y="493775"/>
                  </a:lnTo>
                  <a:lnTo>
                    <a:pt x="123443" y="493775"/>
                  </a:lnTo>
                  <a:lnTo>
                    <a:pt x="0" y="246887"/>
                  </a:lnTo>
                  <a:close/>
                </a:path>
              </a:pathLst>
            </a:custGeom>
            <a:ln w="6096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95730" y="393186"/>
            <a:ext cx="844550" cy="480059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900" b="1" spc="-20" dirty="0">
                <a:solidFill>
                  <a:srgbClr val="5B6E6B"/>
                </a:solidFill>
                <a:latin typeface="Arial"/>
                <a:cs typeface="Arial"/>
              </a:rPr>
              <a:t>TEAM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500" b="1" spc="-10" dirty="0">
                <a:solidFill>
                  <a:srgbClr val="016854"/>
                </a:solidFill>
                <a:latin typeface="Arial"/>
                <a:cs typeface="Arial"/>
              </a:rPr>
              <a:t>NEXORA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890" rIns="0" bIns="0" rtlCol="0">
            <a:spAutoFit/>
          </a:bodyPr>
          <a:lstStyle/>
          <a:p>
            <a:pPr marL="11017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42B35"/>
                </a:solidFill>
              </a:rPr>
              <a:t>CURRENT</a:t>
            </a:r>
            <a:r>
              <a:rPr spc="-30" dirty="0">
                <a:solidFill>
                  <a:srgbClr val="042B35"/>
                </a:solidFill>
              </a:rPr>
              <a:t> </a:t>
            </a:r>
            <a:r>
              <a:rPr spc="-40" dirty="0">
                <a:solidFill>
                  <a:srgbClr val="042B35"/>
                </a:solidFill>
              </a:rPr>
              <a:t>SITUATION</a:t>
            </a:r>
            <a:r>
              <a:rPr spc="-60" dirty="0">
                <a:solidFill>
                  <a:srgbClr val="042B35"/>
                </a:solidFill>
              </a:rPr>
              <a:t> </a:t>
            </a:r>
            <a:r>
              <a:rPr dirty="0">
                <a:solidFill>
                  <a:srgbClr val="042B35"/>
                </a:solidFill>
              </a:rPr>
              <a:t>&amp;</a:t>
            </a:r>
            <a:r>
              <a:rPr spc="-30" dirty="0">
                <a:solidFill>
                  <a:srgbClr val="042B35"/>
                </a:solidFill>
              </a:rPr>
              <a:t> </a:t>
            </a:r>
            <a:r>
              <a:rPr spc="-10" dirty="0">
                <a:solidFill>
                  <a:srgbClr val="042B35"/>
                </a:solidFill>
              </a:rPr>
              <a:t>CONTEXT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908792" y="316991"/>
            <a:ext cx="832485" cy="832485"/>
            <a:chOff x="10908792" y="316991"/>
            <a:chExt cx="832485" cy="832485"/>
          </a:xfrm>
        </p:grpSpPr>
        <p:sp>
          <p:nvSpPr>
            <p:cNvPr id="4" name="object 4"/>
            <p:cNvSpPr/>
            <p:nvPr/>
          </p:nvSpPr>
          <p:spPr>
            <a:xfrm>
              <a:off x="10913364" y="321563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713231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713231"/>
                  </a:lnTo>
                  <a:lnTo>
                    <a:pt x="8626" y="755933"/>
                  </a:lnTo>
                  <a:lnTo>
                    <a:pt x="32146" y="790813"/>
                  </a:lnTo>
                  <a:lnTo>
                    <a:pt x="67026" y="814333"/>
                  </a:lnTo>
                  <a:lnTo>
                    <a:pt x="109727" y="822959"/>
                  </a:lnTo>
                  <a:lnTo>
                    <a:pt x="713231" y="822959"/>
                  </a:lnTo>
                  <a:lnTo>
                    <a:pt x="755933" y="814333"/>
                  </a:lnTo>
                  <a:lnTo>
                    <a:pt x="790813" y="790813"/>
                  </a:lnTo>
                  <a:lnTo>
                    <a:pt x="814333" y="755933"/>
                  </a:lnTo>
                  <a:lnTo>
                    <a:pt x="822959" y="713231"/>
                  </a:lnTo>
                  <a:lnTo>
                    <a:pt x="822959" y="109727"/>
                  </a:lnTo>
                  <a:lnTo>
                    <a:pt x="814333" y="67026"/>
                  </a:lnTo>
                  <a:lnTo>
                    <a:pt x="790813" y="32146"/>
                  </a:lnTo>
                  <a:lnTo>
                    <a:pt x="755933" y="8626"/>
                  </a:lnTo>
                  <a:lnTo>
                    <a:pt x="713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913364" y="321563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713231" y="0"/>
                  </a:lnTo>
                  <a:lnTo>
                    <a:pt x="755933" y="8626"/>
                  </a:lnTo>
                  <a:lnTo>
                    <a:pt x="790813" y="32146"/>
                  </a:lnTo>
                  <a:lnTo>
                    <a:pt x="814333" y="67026"/>
                  </a:lnTo>
                  <a:lnTo>
                    <a:pt x="822959" y="109727"/>
                  </a:lnTo>
                  <a:lnTo>
                    <a:pt x="822959" y="713231"/>
                  </a:lnTo>
                  <a:lnTo>
                    <a:pt x="814333" y="755933"/>
                  </a:lnTo>
                  <a:lnTo>
                    <a:pt x="790813" y="790813"/>
                  </a:lnTo>
                  <a:lnTo>
                    <a:pt x="755933" y="814333"/>
                  </a:lnTo>
                  <a:lnTo>
                    <a:pt x="713231" y="822959"/>
                  </a:lnTo>
                  <a:lnTo>
                    <a:pt x="109727" y="822959"/>
                  </a:lnTo>
                  <a:lnTo>
                    <a:pt x="67026" y="814333"/>
                  </a:lnTo>
                  <a:lnTo>
                    <a:pt x="32146" y="790813"/>
                  </a:lnTo>
                  <a:lnTo>
                    <a:pt x="8626" y="755933"/>
                  </a:lnTo>
                  <a:lnTo>
                    <a:pt x="0" y="713231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D2E6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55096" y="384047"/>
              <a:ext cx="536448" cy="694943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0905743" y="304800"/>
            <a:ext cx="853440" cy="835660"/>
            <a:chOff x="10905743" y="304800"/>
            <a:chExt cx="853440" cy="835660"/>
          </a:xfrm>
        </p:grpSpPr>
        <p:sp>
          <p:nvSpPr>
            <p:cNvPr id="18" name="object 18"/>
            <p:cNvSpPr/>
            <p:nvPr/>
          </p:nvSpPr>
          <p:spPr>
            <a:xfrm>
              <a:off x="10911839" y="310895"/>
              <a:ext cx="841375" cy="822960"/>
            </a:xfrm>
            <a:custGeom>
              <a:avLst/>
              <a:gdLst/>
              <a:ahLst/>
              <a:cxnLst/>
              <a:rect l="l" t="t" r="r" b="b"/>
              <a:pathLst>
                <a:path w="841375" h="822960">
                  <a:moveTo>
                    <a:pt x="704087" y="0"/>
                  </a:moveTo>
                  <a:lnTo>
                    <a:pt x="137159" y="0"/>
                  </a:ln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59"/>
                  </a:lnTo>
                  <a:lnTo>
                    <a:pt x="0" y="685800"/>
                  </a:lnTo>
                  <a:lnTo>
                    <a:pt x="6998" y="729130"/>
                  </a:lnTo>
                  <a:lnTo>
                    <a:pt x="26481" y="766779"/>
                  </a:lnTo>
                  <a:lnTo>
                    <a:pt x="56180" y="796478"/>
                  </a:lnTo>
                  <a:lnTo>
                    <a:pt x="93829" y="815961"/>
                  </a:lnTo>
                  <a:lnTo>
                    <a:pt x="137159" y="822959"/>
                  </a:lnTo>
                  <a:lnTo>
                    <a:pt x="704087" y="822959"/>
                  </a:lnTo>
                  <a:lnTo>
                    <a:pt x="747418" y="815961"/>
                  </a:lnTo>
                  <a:lnTo>
                    <a:pt x="785067" y="796478"/>
                  </a:lnTo>
                  <a:lnTo>
                    <a:pt x="814766" y="766779"/>
                  </a:lnTo>
                  <a:lnTo>
                    <a:pt x="834249" y="729130"/>
                  </a:lnTo>
                  <a:lnTo>
                    <a:pt x="841248" y="685800"/>
                  </a:lnTo>
                  <a:lnTo>
                    <a:pt x="841248" y="137159"/>
                  </a:lnTo>
                  <a:lnTo>
                    <a:pt x="834249" y="93829"/>
                  </a:lnTo>
                  <a:lnTo>
                    <a:pt x="814766" y="56180"/>
                  </a:lnTo>
                  <a:lnTo>
                    <a:pt x="785067" y="26481"/>
                  </a:lnTo>
                  <a:lnTo>
                    <a:pt x="747418" y="6998"/>
                  </a:lnTo>
                  <a:lnTo>
                    <a:pt x="7040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911839" y="310895"/>
              <a:ext cx="841375" cy="822960"/>
            </a:xfrm>
            <a:custGeom>
              <a:avLst/>
              <a:gdLst/>
              <a:ahLst/>
              <a:cxnLst/>
              <a:rect l="l" t="t" r="r" b="b"/>
              <a:pathLst>
                <a:path w="841375" h="822960">
                  <a:moveTo>
                    <a:pt x="0" y="137159"/>
                  </a:moveTo>
                  <a:lnTo>
                    <a:pt x="6998" y="93829"/>
                  </a:lnTo>
                  <a:lnTo>
                    <a:pt x="26481" y="56180"/>
                  </a:lnTo>
                  <a:lnTo>
                    <a:pt x="56180" y="26481"/>
                  </a:lnTo>
                  <a:lnTo>
                    <a:pt x="93829" y="6998"/>
                  </a:lnTo>
                  <a:lnTo>
                    <a:pt x="137159" y="0"/>
                  </a:lnTo>
                  <a:lnTo>
                    <a:pt x="704087" y="0"/>
                  </a:lnTo>
                  <a:lnTo>
                    <a:pt x="747418" y="6998"/>
                  </a:lnTo>
                  <a:lnTo>
                    <a:pt x="785067" y="26481"/>
                  </a:lnTo>
                  <a:lnTo>
                    <a:pt x="814766" y="56180"/>
                  </a:lnTo>
                  <a:lnTo>
                    <a:pt x="834249" y="93829"/>
                  </a:lnTo>
                  <a:lnTo>
                    <a:pt x="841248" y="137159"/>
                  </a:lnTo>
                  <a:lnTo>
                    <a:pt x="841248" y="685800"/>
                  </a:lnTo>
                  <a:lnTo>
                    <a:pt x="834249" y="729130"/>
                  </a:lnTo>
                  <a:lnTo>
                    <a:pt x="814766" y="766779"/>
                  </a:lnTo>
                  <a:lnTo>
                    <a:pt x="785067" y="796478"/>
                  </a:lnTo>
                  <a:lnTo>
                    <a:pt x="747418" y="815961"/>
                  </a:lnTo>
                  <a:lnTo>
                    <a:pt x="704087" y="822959"/>
                  </a:lnTo>
                  <a:lnTo>
                    <a:pt x="137159" y="822959"/>
                  </a:lnTo>
                  <a:lnTo>
                    <a:pt x="93829" y="815961"/>
                  </a:lnTo>
                  <a:lnTo>
                    <a:pt x="56180" y="796478"/>
                  </a:lnTo>
                  <a:lnTo>
                    <a:pt x="26481" y="766779"/>
                  </a:lnTo>
                  <a:lnTo>
                    <a:pt x="6998" y="729130"/>
                  </a:lnTo>
                  <a:lnTo>
                    <a:pt x="0" y="685800"/>
                  </a:lnTo>
                  <a:lnTo>
                    <a:pt x="0" y="137159"/>
                  </a:lnTo>
                  <a:close/>
                </a:path>
              </a:pathLst>
            </a:custGeom>
            <a:ln w="12192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imag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73383" y="405384"/>
              <a:ext cx="530351" cy="688848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545744" y="1370710"/>
            <a:ext cx="463550" cy="463550"/>
            <a:chOff x="572897" y="1469008"/>
            <a:chExt cx="463550" cy="463550"/>
          </a:xfrm>
        </p:grpSpPr>
        <p:sp>
          <p:nvSpPr>
            <p:cNvPr id="23" name="object 23"/>
            <p:cNvSpPr/>
            <p:nvPr/>
          </p:nvSpPr>
          <p:spPr>
            <a:xfrm>
              <a:off x="576072" y="147218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6072" y="147218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6096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94612" y="1454277"/>
            <a:ext cx="945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94542"/>
                </a:solidFill>
                <a:latin typeface="Arial"/>
                <a:cs typeface="Arial"/>
              </a:rPr>
              <a:t>Today’s</a:t>
            </a:r>
            <a:r>
              <a:rPr sz="1800" b="1" spc="4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grid</a:t>
            </a:r>
            <a:r>
              <a:rPr sz="1800" b="1" spc="-40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protection</a:t>
            </a:r>
            <a:r>
              <a:rPr sz="1800" b="1" spc="-4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isolates</a:t>
            </a:r>
            <a:r>
              <a:rPr sz="1800" b="1" spc="-6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faults;</a:t>
            </a:r>
            <a:r>
              <a:rPr sz="1800" b="1" spc="-50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the</a:t>
            </a:r>
            <a:r>
              <a:rPr sz="1800" b="1" spc="-40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gap</a:t>
            </a:r>
            <a:r>
              <a:rPr sz="1800" b="1" spc="-40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is</a:t>
            </a:r>
            <a:r>
              <a:rPr sz="1800" b="1" spc="-40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earlier</a:t>
            </a:r>
            <a:r>
              <a:rPr sz="1800" b="1" spc="-5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detection</a:t>
            </a:r>
            <a:r>
              <a:rPr sz="1800" b="1" spc="-6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of</a:t>
            </a:r>
            <a:r>
              <a:rPr sz="1800" b="1" spc="-20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94542"/>
                </a:solidFill>
                <a:latin typeface="Arial"/>
                <a:cs typeface="Arial"/>
              </a:rPr>
              <a:t>asset</a:t>
            </a:r>
            <a:r>
              <a:rPr sz="1800" b="1" spc="-4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94542"/>
                </a:solidFill>
                <a:latin typeface="Arial"/>
                <a:cs typeface="Arial"/>
              </a:rPr>
              <a:t>degradation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3983" y="1868423"/>
            <a:ext cx="2959735" cy="4038600"/>
            <a:chOff x="633983" y="1868423"/>
            <a:chExt cx="2959735" cy="4038600"/>
          </a:xfrm>
        </p:grpSpPr>
        <p:sp>
          <p:nvSpPr>
            <p:cNvPr id="32" name="object 32"/>
            <p:cNvSpPr/>
            <p:nvPr/>
          </p:nvSpPr>
          <p:spPr>
            <a:xfrm>
              <a:off x="641603" y="1876043"/>
              <a:ext cx="2944495" cy="4023360"/>
            </a:xfrm>
            <a:custGeom>
              <a:avLst/>
              <a:gdLst/>
              <a:ahLst/>
              <a:cxnLst/>
              <a:rect l="l" t="t" r="r" b="b"/>
              <a:pathLst>
                <a:path w="2944495" h="4023360">
                  <a:moveTo>
                    <a:pt x="2453640" y="0"/>
                  </a:moveTo>
                  <a:lnTo>
                    <a:pt x="490740" y="0"/>
                  </a:lnTo>
                  <a:lnTo>
                    <a:pt x="443478" y="2246"/>
                  </a:lnTo>
                  <a:lnTo>
                    <a:pt x="397487" y="8848"/>
                  </a:lnTo>
                  <a:lnTo>
                    <a:pt x="352973" y="19601"/>
                  </a:lnTo>
                  <a:lnTo>
                    <a:pt x="310142" y="34297"/>
                  </a:lnTo>
                  <a:lnTo>
                    <a:pt x="269198" y="52733"/>
                  </a:lnTo>
                  <a:lnTo>
                    <a:pt x="230348" y="74702"/>
                  </a:lnTo>
                  <a:lnTo>
                    <a:pt x="193798" y="99998"/>
                  </a:lnTo>
                  <a:lnTo>
                    <a:pt x="159752" y="128416"/>
                  </a:lnTo>
                  <a:lnTo>
                    <a:pt x="128418" y="159751"/>
                  </a:lnTo>
                  <a:lnTo>
                    <a:pt x="99999" y="193795"/>
                  </a:lnTo>
                  <a:lnTo>
                    <a:pt x="74702" y="230345"/>
                  </a:lnTo>
                  <a:lnTo>
                    <a:pt x="52733" y="269194"/>
                  </a:lnTo>
                  <a:lnTo>
                    <a:pt x="34298" y="310136"/>
                  </a:lnTo>
                  <a:lnTo>
                    <a:pt x="19601" y="352966"/>
                  </a:lnTo>
                  <a:lnTo>
                    <a:pt x="8848" y="397479"/>
                  </a:lnTo>
                  <a:lnTo>
                    <a:pt x="2246" y="443468"/>
                  </a:lnTo>
                  <a:lnTo>
                    <a:pt x="0" y="490727"/>
                  </a:lnTo>
                  <a:lnTo>
                    <a:pt x="0" y="3532631"/>
                  </a:lnTo>
                  <a:lnTo>
                    <a:pt x="2246" y="3579891"/>
                  </a:lnTo>
                  <a:lnTo>
                    <a:pt x="8848" y="3625880"/>
                  </a:lnTo>
                  <a:lnTo>
                    <a:pt x="19601" y="3670393"/>
                  </a:lnTo>
                  <a:lnTo>
                    <a:pt x="34298" y="3713223"/>
                  </a:lnTo>
                  <a:lnTo>
                    <a:pt x="52733" y="3754165"/>
                  </a:lnTo>
                  <a:lnTo>
                    <a:pt x="74702" y="3793014"/>
                  </a:lnTo>
                  <a:lnTo>
                    <a:pt x="99999" y="3829564"/>
                  </a:lnTo>
                  <a:lnTo>
                    <a:pt x="128418" y="3863608"/>
                  </a:lnTo>
                  <a:lnTo>
                    <a:pt x="159752" y="3894943"/>
                  </a:lnTo>
                  <a:lnTo>
                    <a:pt x="193798" y="3923361"/>
                  </a:lnTo>
                  <a:lnTo>
                    <a:pt x="230348" y="3948657"/>
                  </a:lnTo>
                  <a:lnTo>
                    <a:pt x="269198" y="3970626"/>
                  </a:lnTo>
                  <a:lnTo>
                    <a:pt x="310142" y="3989062"/>
                  </a:lnTo>
                  <a:lnTo>
                    <a:pt x="352973" y="4003758"/>
                  </a:lnTo>
                  <a:lnTo>
                    <a:pt x="397487" y="4014511"/>
                  </a:lnTo>
                  <a:lnTo>
                    <a:pt x="443478" y="4021113"/>
                  </a:lnTo>
                  <a:lnTo>
                    <a:pt x="490740" y="4023359"/>
                  </a:lnTo>
                  <a:lnTo>
                    <a:pt x="2453640" y="4023359"/>
                  </a:lnTo>
                  <a:lnTo>
                    <a:pt x="2500899" y="4021113"/>
                  </a:lnTo>
                  <a:lnTo>
                    <a:pt x="2546888" y="4014511"/>
                  </a:lnTo>
                  <a:lnTo>
                    <a:pt x="2591401" y="4003758"/>
                  </a:lnTo>
                  <a:lnTo>
                    <a:pt x="2634231" y="3989062"/>
                  </a:lnTo>
                  <a:lnTo>
                    <a:pt x="2675173" y="3970626"/>
                  </a:lnTo>
                  <a:lnTo>
                    <a:pt x="2714022" y="3948657"/>
                  </a:lnTo>
                  <a:lnTo>
                    <a:pt x="2750572" y="3923361"/>
                  </a:lnTo>
                  <a:lnTo>
                    <a:pt x="2784616" y="3894943"/>
                  </a:lnTo>
                  <a:lnTo>
                    <a:pt x="2815951" y="3863608"/>
                  </a:lnTo>
                  <a:lnTo>
                    <a:pt x="2844369" y="3829564"/>
                  </a:lnTo>
                  <a:lnTo>
                    <a:pt x="2869665" y="3793014"/>
                  </a:lnTo>
                  <a:lnTo>
                    <a:pt x="2891634" y="3754165"/>
                  </a:lnTo>
                  <a:lnTo>
                    <a:pt x="2910070" y="3713223"/>
                  </a:lnTo>
                  <a:lnTo>
                    <a:pt x="2924766" y="3670393"/>
                  </a:lnTo>
                  <a:lnTo>
                    <a:pt x="2935519" y="3625880"/>
                  </a:lnTo>
                  <a:lnTo>
                    <a:pt x="2942121" y="3579891"/>
                  </a:lnTo>
                  <a:lnTo>
                    <a:pt x="2944368" y="3532631"/>
                  </a:lnTo>
                  <a:lnTo>
                    <a:pt x="2944368" y="490727"/>
                  </a:lnTo>
                  <a:lnTo>
                    <a:pt x="2942121" y="443468"/>
                  </a:lnTo>
                  <a:lnTo>
                    <a:pt x="2935519" y="397479"/>
                  </a:lnTo>
                  <a:lnTo>
                    <a:pt x="2924766" y="352966"/>
                  </a:lnTo>
                  <a:lnTo>
                    <a:pt x="2910070" y="310136"/>
                  </a:lnTo>
                  <a:lnTo>
                    <a:pt x="2891634" y="269194"/>
                  </a:lnTo>
                  <a:lnTo>
                    <a:pt x="2869665" y="230345"/>
                  </a:lnTo>
                  <a:lnTo>
                    <a:pt x="2844369" y="193795"/>
                  </a:lnTo>
                  <a:lnTo>
                    <a:pt x="2815951" y="159751"/>
                  </a:lnTo>
                  <a:lnTo>
                    <a:pt x="2784616" y="128416"/>
                  </a:lnTo>
                  <a:lnTo>
                    <a:pt x="2750572" y="99998"/>
                  </a:lnTo>
                  <a:lnTo>
                    <a:pt x="2714022" y="74702"/>
                  </a:lnTo>
                  <a:lnTo>
                    <a:pt x="2675173" y="52733"/>
                  </a:lnTo>
                  <a:lnTo>
                    <a:pt x="2634231" y="34297"/>
                  </a:lnTo>
                  <a:lnTo>
                    <a:pt x="2591401" y="19601"/>
                  </a:lnTo>
                  <a:lnTo>
                    <a:pt x="2546888" y="8848"/>
                  </a:lnTo>
                  <a:lnTo>
                    <a:pt x="2500899" y="2246"/>
                  </a:lnTo>
                  <a:lnTo>
                    <a:pt x="2453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1603" y="1876043"/>
              <a:ext cx="2944495" cy="4023360"/>
            </a:xfrm>
            <a:custGeom>
              <a:avLst/>
              <a:gdLst/>
              <a:ahLst/>
              <a:cxnLst/>
              <a:rect l="l" t="t" r="r" b="b"/>
              <a:pathLst>
                <a:path w="2944495" h="4023360">
                  <a:moveTo>
                    <a:pt x="0" y="490727"/>
                  </a:moveTo>
                  <a:lnTo>
                    <a:pt x="2246" y="443468"/>
                  </a:lnTo>
                  <a:lnTo>
                    <a:pt x="8848" y="397479"/>
                  </a:lnTo>
                  <a:lnTo>
                    <a:pt x="19601" y="352966"/>
                  </a:lnTo>
                  <a:lnTo>
                    <a:pt x="34298" y="310136"/>
                  </a:lnTo>
                  <a:lnTo>
                    <a:pt x="52733" y="269194"/>
                  </a:lnTo>
                  <a:lnTo>
                    <a:pt x="74702" y="230345"/>
                  </a:lnTo>
                  <a:lnTo>
                    <a:pt x="99999" y="193795"/>
                  </a:lnTo>
                  <a:lnTo>
                    <a:pt x="128418" y="159751"/>
                  </a:lnTo>
                  <a:lnTo>
                    <a:pt x="159752" y="128416"/>
                  </a:lnTo>
                  <a:lnTo>
                    <a:pt x="193798" y="99998"/>
                  </a:lnTo>
                  <a:lnTo>
                    <a:pt x="230348" y="74702"/>
                  </a:lnTo>
                  <a:lnTo>
                    <a:pt x="269198" y="52733"/>
                  </a:lnTo>
                  <a:lnTo>
                    <a:pt x="310142" y="34297"/>
                  </a:lnTo>
                  <a:lnTo>
                    <a:pt x="352973" y="19601"/>
                  </a:lnTo>
                  <a:lnTo>
                    <a:pt x="397487" y="8848"/>
                  </a:lnTo>
                  <a:lnTo>
                    <a:pt x="443478" y="2246"/>
                  </a:lnTo>
                  <a:lnTo>
                    <a:pt x="490740" y="0"/>
                  </a:lnTo>
                  <a:lnTo>
                    <a:pt x="2453640" y="0"/>
                  </a:lnTo>
                  <a:lnTo>
                    <a:pt x="2500899" y="2246"/>
                  </a:lnTo>
                  <a:lnTo>
                    <a:pt x="2546888" y="8848"/>
                  </a:lnTo>
                  <a:lnTo>
                    <a:pt x="2591401" y="19601"/>
                  </a:lnTo>
                  <a:lnTo>
                    <a:pt x="2634231" y="34297"/>
                  </a:lnTo>
                  <a:lnTo>
                    <a:pt x="2675173" y="52733"/>
                  </a:lnTo>
                  <a:lnTo>
                    <a:pt x="2714022" y="74702"/>
                  </a:lnTo>
                  <a:lnTo>
                    <a:pt x="2750572" y="99998"/>
                  </a:lnTo>
                  <a:lnTo>
                    <a:pt x="2784616" y="128416"/>
                  </a:lnTo>
                  <a:lnTo>
                    <a:pt x="2815951" y="159751"/>
                  </a:lnTo>
                  <a:lnTo>
                    <a:pt x="2844369" y="193795"/>
                  </a:lnTo>
                  <a:lnTo>
                    <a:pt x="2869665" y="230345"/>
                  </a:lnTo>
                  <a:lnTo>
                    <a:pt x="2891634" y="269194"/>
                  </a:lnTo>
                  <a:lnTo>
                    <a:pt x="2910070" y="310136"/>
                  </a:lnTo>
                  <a:lnTo>
                    <a:pt x="2924766" y="352966"/>
                  </a:lnTo>
                  <a:lnTo>
                    <a:pt x="2935519" y="397479"/>
                  </a:lnTo>
                  <a:lnTo>
                    <a:pt x="2942121" y="443468"/>
                  </a:lnTo>
                  <a:lnTo>
                    <a:pt x="2944368" y="490727"/>
                  </a:lnTo>
                  <a:lnTo>
                    <a:pt x="2944368" y="3532631"/>
                  </a:lnTo>
                  <a:lnTo>
                    <a:pt x="2942121" y="3579891"/>
                  </a:lnTo>
                  <a:lnTo>
                    <a:pt x="2935519" y="3625880"/>
                  </a:lnTo>
                  <a:lnTo>
                    <a:pt x="2924766" y="3670393"/>
                  </a:lnTo>
                  <a:lnTo>
                    <a:pt x="2910070" y="3713223"/>
                  </a:lnTo>
                  <a:lnTo>
                    <a:pt x="2891634" y="3754165"/>
                  </a:lnTo>
                  <a:lnTo>
                    <a:pt x="2869665" y="3793014"/>
                  </a:lnTo>
                  <a:lnTo>
                    <a:pt x="2844369" y="3829564"/>
                  </a:lnTo>
                  <a:lnTo>
                    <a:pt x="2815951" y="3863608"/>
                  </a:lnTo>
                  <a:lnTo>
                    <a:pt x="2784616" y="3894943"/>
                  </a:lnTo>
                  <a:lnTo>
                    <a:pt x="2750572" y="3923361"/>
                  </a:lnTo>
                  <a:lnTo>
                    <a:pt x="2714022" y="3948657"/>
                  </a:lnTo>
                  <a:lnTo>
                    <a:pt x="2675173" y="3970626"/>
                  </a:lnTo>
                  <a:lnTo>
                    <a:pt x="2634231" y="3989062"/>
                  </a:lnTo>
                  <a:lnTo>
                    <a:pt x="2591401" y="4003758"/>
                  </a:lnTo>
                  <a:lnTo>
                    <a:pt x="2546888" y="4014511"/>
                  </a:lnTo>
                  <a:lnTo>
                    <a:pt x="2500899" y="4021113"/>
                  </a:lnTo>
                  <a:lnTo>
                    <a:pt x="2453640" y="4023359"/>
                  </a:lnTo>
                  <a:lnTo>
                    <a:pt x="490740" y="4023359"/>
                  </a:lnTo>
                  <a:lnTo>
                    <a:pt x="443478" y="4021113"/>
                  </a:lnTo>
                  <a:lnTo>
                    <a:pt x="397487" y="4014511"/>
                  </a:lnTo>
                  <a:lnTo>
                    <a:pt x="352973" y="4003758"/>
                  </a:lnTo>
                  <a:lnTo>
                    <a:pt x="310142" y="3989062"/>
                  </a:lnTo>
                  <a:lnTo>
                    <a:pt x="269198" y="3970626"/>
                  </a:lnTo>
                  <a:lnTo>
                    <a:pt x="230348" y="3948657"/>
                  </a:lnTo>
                  <a:lnTo>
                    <a:pt x="193798" y="3923361"/>
                  </a:lnTo>
                  <a:lnTo>
                    <a:pt x="159752" y="3894943"/>
                  </a:lnTo>
                  <a:lnTo>
                    <a:pt x="128418" y="3863608"/>
                  </a:lnTo>
                  <a:lnTo>
                    <a:pt x="99999" y="3829564"/>
                  </a:lnTo>
                  <a:lnTo>
                    <a:pt x="74702" y="3793014"/>
                  </a:lnTo>
                  <a:lnTo>
                    <a:pt x="52733" y="3754165"/>
                  </a:lnTo>
                  <a:lnTo>
                    <a:pt x="34298" y="3713223"/>
                  </a:lnTo>
                  <a:lnTo>
                    <a:pt x="19601" y="3670393"/>
                  </a:lnTo>
                  <a:lnTo>
                    <a:pt x="8848" y="3625880"/>
                  </a:lnTo>
                  <a:lnTo>
                    <a:pt x="2246" y="3579891"/>
                  </a:lnTo>
                  <a:lnTo>
                    <a:pt x="0" y="3532631"/>
                  </a:lnTo>
                  <a:lnTo>
                    <a:pt x="0" y="490727"/>
                  </a:lnTo>
                  <a:close/>
                </a:path>
              </a:pathLst>
            </a:custGeom>
            <a:ln w="15240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20292" y="2083054"/>
            <a:ext cx="184848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094542"/>
                </a:solidFill>
                <a:latin typeface="Arial"/>
                <a:cs typeface="Arial"/>
              </a:rPr>
              <a:t>WHAT</a:t>
            </a:r>
            <a:r>
              <a:rPr sz="1150" b="1" spc="-20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094542"/>
                </a:solidFill>
                <a:latin typeface="Arial"/>
                <a:cs typeface="Arial"/>
              </a:rPr>
              <a:t>HAPPENS</a:t>
            </a:r>
            <a:r>
              <a:rPr sz="1150" b="1" spc="-50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094542"/>
                </a:solidFill>
                <a:latin typeface="Arial"/>
                <a:cs typeface="Arial"/>
              </a:rPr>
              <a:t>TODAY?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816096" y="1868423"/>
            <a:ext cx="7739380" cy="963294"/>
            <a:chOff x="3816096" y="1868423"/>
            <a:chExt cx="7739380" cy="963294"/>
          </a:xfrm>
        </p:grpSpPr>
        <p:sp>
          <p:nvSpPr>
            <p:cNvPr id="54" name="object 54"/>
            <p:cNvSpPr/>
            <p:nvPr/>
          </p:nvSpPr>
          <p:spPr>
            <a:xfrm>
              <a:off x="3822192" y="1874519"/>
              <a:ext cx="7726680" cy="951230"/>
            </a:xfrm>
            <a:custGeom>
              <a:avLst/>
              <a:gdLst/>
              <a:ahLst/>
              <a:cxnLst/>
              <a:rect l="l" t="t" r="r" b="b"/>
              <a:pathLst>
                <a:path w="7726680" h="951230">
                  <a:moveTo>
                    <a:pt x="7568184" y="0"/>
                  </a:moveTo>
                  <a:lnTo>
                    <a:pt x="158496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5"/>
                  </a:lnTo>
                  <a:lnTo>
                    <a:pt x="0" y="792479"/>
                  </a:lnTo>
                  <a:lnTo>
                    <a:pt x="8083" y="842564"/>
                  </a:lnTo>
                  <a:lnTo>
                    <a:pt x="30589" y="886071"/>
                  </a:lnTo>
                  <a:lnTo>
                    <a:pt x="64904" y="920386"/>
                  </a:lnTo>
                  <a:lnTo>
                    <a:pt x="108411" y="942892"/>
                  </a:lnTo>
                  <a:lnTo>
                    <a:pt x="158496" y="950976"/>
                  </a:lnTo>
                  <a:lnTo>
                    <a:pt x="7568184" y="950976"/>
                  </a:lnTo>
                  <a:lnTo>
                    <a:pt x="7618268" y="942892"/>
                  </a:lnTo>
                  <a:lnTo>
                    <a:pt x="7661775" y="920386"/>
                  </a:lnTo>
                  <a:lnTo>
                    <a:pt x="7696090" y="886071"/>
                  </a:lnTo>
                  <a:lnTo>
                    <a:pt x="7718596" y="842564"/>
                  </a:lnTo>
                  <a:lnTo>
                    <a:pt x="7726680" y="792479"/>
                  </a:lnTo>
                  <a:lnTo>
                    <a:pt x="7726680" y="158495"/>
                  </a:lnTo>
                  <a:lnTo>
                    <a:pt x="7718596" y="108411"/>
                  </a:lnTo>
                  <a:lnTo>
                    <a:pt x="7696090" y="64904"/>
                  </a:lnTo>
                  <a:lnTo>
                    <a:pt x="7661775" y="30589"/>
                  </a:lnTo>
                  <a:lnTo>
                    <a:pt x="7618268" y="8083"/>
                  </a:lnTo>
                  <a:lnTo>
                    <a:pt x="7568184" y="0"/>
                  </a:lnTo>
                  <a:close/>
                </a:path>
              </a:pathLst>
            </a:custGeom>
            <a:solidFill>
              <a:srgbClr val="FCFD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22192" y="1874519"/>
              <a:ext cx="7726680" cy="951230"/>
            </a:xfrm>
            <a:custGeom>
              <a:avLst/>
              <a:gdLst/>
              <a:ahLst/>
              <a:cxnLst/>
              <a:rect l="l" t="t" r="r" b="b"/>
              <a:pathLst>
                <a:path w="7726680" h="951230">
                  <a:moveTo>
                    <a:pt x="0" y="158495"/>
                  </a:moveTo>
                  <a:lnTo>
                    <a:pt x="8083" y="108411"/>
                  </a:lnTo>
                  <a:lnTo>
                    <a:pt x="30589" y="64904"/>
                  </a:lnTo>
                  <a:lnTo>
                    <a:pt x="64904" y="30589"/>
                  </a:lnTo>
                  <a:lnTo>
                    <a:pt x="108411" y="8083"/>
                  </a:lnTo>
                  <a:lnTo>
                    <a:pt x="158496" y="0"/>
                  </a:lnTo>
                  <a:lnTo>
                    <a:pt x="7568184" y="0"/>
                  </a:lnTo>
                  <a:lnTo>
                    <a:pt x="7618268" y="8083"/>
                  </a:lnTo>
                  <a:lnTo>
                    <a:pt x="7661775" y="30589"/>
                  </a:lnTo>
                  <a:lnTo>
                    <a:pt x="7696090" y="64904"/>
                  </a:lnTo>
                  <a:lnTo>
                    <a:pt x="7718596" y="108411"/>
                  </a:lnTo>
                  <a:lnTo>
                    <a:pt x="7726680" y="158495"/>
                  </a:lnTo>
                  <a:lnTo>
                    <a:pt x="7726680" y="792479"/>
                  </a:lnTo>
                  <a:lnTo>
                    <a:pt x="7718596" y="842564"/>
                  </a:lnTo>
                  <a:lnTo>
                    <a:pt x="7696090" y="886071"/>
                  </a:lnTo>
                  <a:lnTo>
                    <a:pt x="7661775" y="920386"/>
                  </a:lnTo>
                  <a:lnTo>
                    <a:pt x="7618268" y="942892"/>
                  </a:lnTo>
                  <a:lnTo>
                    <a:pt x="7568184" y="950976"/>
                  </a:lnTo>
                  <a:lnTo>
                    <a:pt x="158496" y="950976"/>
                  </a:lnTo>
                  <a:lnTo>
                    <a:pt x="108411" y="942892"/>
                  </a:lnTo>
                  <a:lnTo>
                    <a:pt x="64904" y="920386"/>
                  </a:lnTo>
                  <a:lnTo>
                    <a:pt x="30589" y="886071"/>
                  </a:lnTo>
                  <a:lnTo>
                    <a:pt x="8083" y="842564"/>
                  </a:lnTo>
                  <a:lnTo>
                    <a:pt x="0" y="792479"/>
                  </a:lnTo>
                  <a:lnTo>
                    <a:pt x="0" y="158495"/>
                  </a:lnTo>
                  <a:close/>
                </a:path>
              </a:pathLst>
            </a:custGeom>
            <a:ln w="12192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79748" y="2113787"/>
              <a:ext cx="1920239" cy="411480"/>
            </a:xfrm>
            <a:custGeom>
              <a:avLst/>
              <a:gdLst/>
              <a:ahLst/>
              <a:cxnLst/>
              <a:rect l="l" t="t" r="r" b="b"/>
              <a:pathLst>
                <a:path w="1920239" h="411480">
                  <a:moveTo>
                    <a:pt x="1851660" y="0"/>
                  </a:moveTo>
                  <a:lnTo>
                    <a:pt x="68579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79"/>
                  </a:lnTo>
                  <a:lnTo>
                    <a:pt x="0" y="342900"/>
                  </a:lnTo>
                  <a:lnTo>
                    <a:pt x="5393" y="369581"/>
                  </a:lnTo>
                  <a:lnTo>
                    <a:pt x="20097" y="391382"/>
                  </a:lnTo>
                  <a:lnTo>
                    <a:pt x="41898" y="406086"/>
                  </a:lnTo>
                  <a:lnTo>
                    <a:pt x="68579" y="411479"/>
                  </a:lnTo>
                  <a:lnTo>
                    <a:pt x="1851660" y="411479"/>
                  </a:lnTo>
                  <a:lnTo>
                    <a:pt x="1878341" y="406086"/>
                  </a:lnTo>
                  <a:lnTo>
                    <a:pt x="1900142" y="391382"/>
                  </a:lnTo>
                  <a:lnTo>
                    <a:pt x="1914846" y="369581"/>
                  </a:lnTo>
                  <a:lnTo>
                    <a:pt x="1920239" y="342900"/>
                  </a:lnTo>
                  <a:lnTo>
                    <a:pt x="1920239" y="68579"/>
                  </a:lnTo>
                  <a:lnTo>
                    <a:pt x="1914846" y="41898"/>
                  </a:lnTo>
                  <a:lnTo>
                    <a:pt x="1900142" y="20097"/>
                  </a:lnTo>
                  <a:lnTo>
                    <a:pt x="1878341" y="5393"/>
                  </a:lnTo>
                  <a:lnTo>
                    <a:pt x="1851660" y="0"/>
                  </a:lnTo>
                  <a:close/>
                </a:path>
              </a:pathLst>
            </a:custGeom>
            <a:solidFill>
              <a:srgbClr val="F6E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79748" y="2113787"/>
              <a:ext cx="1920239" cy="411480"/>
            </a:xfrm>
            <a:custGeom>
              <a:avLst/>
              <a:gdLst/>
              <a:ahLst/>
              <a:cxnLst/>
              <a:rect l="l" t="t" r="r" b="b"/>
              <a:pathLst>
                <a:path w="1920239" h="411480">
                  <a:moveTo>
                    <a:pt x="0" y="68579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79" y="0"/>
                  </a:lnTo>
                  <a:lnTo>
                    <a:pt x="1851660" y="0"/>
                  </a:lnTo>
                  <a:lnTo>
                    <a:pt x="1878341" y="5393"/>
                  </a:lnTo>
                  <a:lnTo>
                    <a:pt x="1900142" y="20097"/>
                  </a:lnTo>
                  <a:lnTo>
                    <a:pt x="1914846" y="41898"/>
                  </a:lnTo>
                  <a:lnTo>
                    <a:pt x="1920239" y="68579"/>
                  </a:lnTo>
                  <a:lnTo>
                    <a:pt x="1920239" y="342900"/>
                  </a:lnTo>
                  <a:lnTo>
                    <a:pt x="1914846" y="369581"/>
                  </a:lnTo>
                  <a:lnTo>
                    <a:pt x="1900142" y="391382"/>
                  </a:lnTo>
                  <a:lnTo>
                    <a:pt x="1878341" y="406086"/>
                  </a:lnTo>
                  <a:lnTo>
                    <a:pt x="1851660" y="411479"/>
                  </a:lnTo>
                  <a:lnTo>
                    <a:pt x="68579" y="411479"/>
                  </a:lnTo>
                  <a:lnTo>
                    <a:pt x="41898" y="406086"/>
                  </a:lnTo>
                  <a:lnTo>
                    <a:pt x="20097" y="391382"/>
                  </a:lnTo>
                  <a:lnTo>
                    <a:pt x="5393" y="369581"/>
                  </a:lnTo>
                  <a:lnTo>
                    <a:pt x="0" y="342900"/>
                  </a:lnTo>
                  <a:lnTo>
                    <a:pt x="0" y="68579"/>
                  </a:lnTo>
                  <a:close/>
                </a:path>
              </a:pathLst>
            </a:custGeom>
            <a:ln w="9144">
              <a:solidFill>
                <a:srgbClr val="E8C6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268470" y="2195322"/>
            <a:ext cx="154368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B84949"/>
                </a:solidFill>
                <a:latin typeface="Arial"/>
                <a:cs typeface="Arial"/>
              </a:rPr>
              <a:t>REACTIVE</a:t>
            </a:r>
            <a:r>
              <a:rPr sz="1000" b="1" spc="-45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B84949"/>
                </a:solidFill>
                <a:latin typeface="Arial"/>
                <a:cs typeface="Arial"/>
              </a:rPr>
              <a:t>PROTECTION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179311" y="2178557"/>
            <a:ext cx="4980940" cy="338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05"/>
              </a:spcBef>
            </a:pPr>
            <a:r>
              <a:rPr sz="1000" dirty="0">
                <a:solidFill>
                  <a:srgbClr val="0D2A2E"/>
                </a:solidFill>
                <a:latin typeface="Arial"/>
                <a:cs typeface="Arial"/>
              </a:rPr>
              <a:t>Protective</a:t>
            </a:r>
            <a:r>
              <a:rPr sz="1000" spc="35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D2A2E"/>
                </a:solidFill>
                <a:latin typeface="Arial"/>
                <a:cs typeface="Arial"/>
              </a:rPr>
              <a:t>relays/breakers</a:t>
            </a:r>
            <a:r>
              <a:rPr sz="1000" spc="5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D2A2E"/>
                </a:solidFill>
                <a:latin typeface="Arial"/>
                <a:cs typeface="Arial"/>
              </a:rPr>
              <a:t>act</a:t>
            </a:r>
            <a:r>
              <a:rPr sz="1000" spc="14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D2A2E"/>
                </a:solidFill>
                <a:latin typeface="Arial"/>
                <a:cs typeface="Arial"/>
              </a:rPr>
              <a:t>when</a:t>
            </a:r>
            <a:r>
              <a:rPr sz="1000" spc="215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D2A2E"/>
                </a:solidFill>
                <a:latin typeface="Arial"/>
                <a:cs typeface="Arial"/>
              </a:rPr>
              <a:t>measured</a:t>
            </a:r>
            <a:r>
              <a:rPr sz="1000" spc="11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D2A2E"/>
                </a:solidFill>
                <a:latin typeface="Arial"/>
                <a:cs typeface="Arial"/>
              </a:rPr>
              <a:t>conditions</a:t>
            </a:r>
            <a:r>
              <a:rPr sz="1000" spc="5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D2A2E"/>
                </a:solidFill>
                <a:latin typeface="Arial"/>
                <a:cs typeface="Arial"/>
              </a:rPr>
              <a:t>cross</a:t>
            </a:r>
            <a:r>
              <a:rPr sz="1000" spc="9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D2A2E"/>
                </a:solidFill>
                <a:latin typeface="Arial"/>
                <a:cs typeface="Arial"/>
              </a:rPr>
              <a:t>protection</a:t>
            </a:r>
            <a:r>
              <a:rPr sz="1000" spc="11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D2A2E"/>
                </a:solidFill>
                <a:latin typeface="Arial"/>
                <a:cs typeface="Arial"/>
              </a:rPr>
              <a:t>thresholds; </a:t>
            </a:r>
            <a:r>
              <a:rPr sz="1000" dirty="0">
                <a:solidFill>
                  <a:srgbClr val="0D2A2E"/>
                </a:solidFill>
                <a:latin typeface="Arial"/>
                <a:cs typeface="Arial"/>
              </a:rPr>
              <a:t>they</a:t>
            </a:r>
            <a:r>
              <a:rPr sz="1000" spc="8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D2A2E"/>
                </a:solidFill>
                <a:latin typeface="Arial"/>
                <a:cs typeface="Arial"/>
              </a:rPr>
              <a:t>are</a:t>
            </a:r>
            <a:r>
              <a:rPr sz="1000" spc="10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D2A2E"/>
                </a:solidFill>
                <a:latin typeface="Arial"/>
                <a:cs typeface="Arial"/>
              </a:rPr>
              <a:t>not</a:t>
            </a:r>
            <a:r>
              <a:rPr sz="1000" spc="95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D2A2E"/>
                </a:solidFill>
                <a:latin typeface="Arial"/>
                <a:cs typeface="Arial"/>
              </a:rPr>
              <a:t>a</a:t>
            </a:r>
            <a:r>
              <a:rPr sz="1000" spc="10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D2A2E"/>
                </a:solidFill>
                <a:latin typeface="Arial"/>
                <a:cs typeface="Arial"/>
              </a:rPr>
              <a:t>predictive degradation</a:t>
            </a:r>
            <a:r>
              <a:rPr sz="1000" spc="70" dirty="0">
                <a:solidFill>
                  <a:srgbClr val="0D2A2E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D2A2E"/>
                </a:solidFill>
                <a:latin typeface="Arial"/>
                <a:cs typeface="Arial"/>
              </a:rPr>
              <a:t>layer.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68680" y="2423160"/>
            <a:ext cx="2423160" cy="2481580"/>
            <a:chOff x="868680" y="2423160"/>
            <a:chExt cx="2423160" cy="2481580"/>
          </a:xfrm>
        </p:grpSpPr>
        <p:pic>
          <p:nvPicPr>
            <p:cNvPr id="36" name="object 36" descr="substation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680" y="2423160"/>
              <a:ext cx="2423160" cy="20574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96112" y="4590288"/>
              <a:ext cx="1051560" cy="311150"/>
            </a:xfrm>
            <a:custGeom>
              <a:avLst/>
              <a:gdLst/>
              <a:ahLst/>
              <a:cxnLst/>
              <a:rect l="l" t="t" r="r" b="b"/>
              <a:pathLst>
                <a:path w="1051560" h="311150">
                  <a:moveTo>
                    <a:pt x="999744" y="0"/>
                  </a:moveTo>
                  <a:lnTo>
                    <a:pt x="51815" y="0"/>
                  </a:lnTo>
                  <a:lnTo>
                    <a:pt x="31648" y="4077"/>
                  </a:lnTo>
                  <a:lnTo>
                    <a:pt x="15178" y="15192"/>
                  </a:lnTo>
                  <a:lnTo>
                    <a:pt x="4072" y="31664"/>
                  </a:lnTo>
                  <a:lnTo>
                    <a:pt x="0" y="51816"/>
                  </a:lnTo>
                  <a:lnTo>
                    <a:pt x="0" y="259080"/>
                  </a:lnTo>
                  <a:lnTo>
                    <a:pt x="4072" y="279231"/>
                  </a:lnTo>
                  <a:lnTo>
                    <a:pt x="15178" y="295703"/>
                  </a:lnTo>
                  <a:lnTo>
                    <a:pt x="31648" y="306818"/>
                  </a:lnTo>
                  <a:lnTo>
                    <a:pt x="51815" y="310895"/>
                  </a:lnTo>
                  <a:lnTo>
                    <a:pt x="999744" y="310895"/>
                  </a:lnTo>
                  <a:lnTo>
                    <a:pt x="1019895" y="306818"/>
                  </a:lnTo>
                  <a:lnTo>
                    <a:pt x="1036367" y="295703"/>
                  </a:lnTo>
                  <a:lnTo>
                    <a:pt x="1047482" y="279231"/>
                  </a:lnTo>
                  <a:lnTo>
                    <a:pt x="1051560" y="259080"/>
                  </a:lnTo>
                  <a:lnTo>
                    <a:pt x="1051560" y="51816"/>
                  </a:lnTo>
                  <a:lnTo>
                    <a:pt x="1047482" y="31664"/>
                  </a:lnTo>
                  <a:lnTo>
                    <a:pt x="1036367" y="15192"/>
                  </a:lnTo>
                  <a:lnTo>
                    <a:pt x="1019895" y="4077"/>
                  </a:lnTo>
                  <a:lnTo>
                    <a:pt x="999744" y="0"/>
                  </a:lnTo>
                  <a:close/>
                </a:path>
              </a:pathLst>
            </a:custGeom>
            <a:solidFill>
              <a:srgbClr val="E7F0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96112" y="4590288"/>
              <a:ext cx="1051560" cy="311150"/>
            </a:xfrm>
            <a:custGeom>
              <a:avLst/>
              <a:gdLst/>
              <a:ahLst/>
              <a:cxnLst/>
              <a:rect l="l" t="t" r="r" b="b"/>
              <a:pathLst>
                <a:path w="1051560" h="311150">
                  <a:moveTo>
                    <a:pt x="0" y="51816"/>
                  </a:moveTo>
                  <a:lnTo>
                    <a:pt x="4072" y="31664"/>
                  </a:lnTo>
                  <a:lnTo>
                    <a:pt x="15178" y="15192"/>
                  </a:lnTo>
                  <a:lnTo>
                    <a:pt x="31648" y="4077"/>
                  </a:lnTo>
                  <a:lnTo>
                    <a:pt x="51815" y="0"/>
                  </a:lnTo>
                  <a:lnTo>
                    <a:pt x="999744" y="0"/>
                  </a:lnTo>
                  <a:lnTo>
                    <a:pt x="1019895" y="4077"/>
                  </a:lnTo>
                  <a:lnTo>
                    <a:pt x="1036367" y="15192"/>
                  </a:lnTo>
                  <a:lnTo>
                    <a:pt x="1047482" y="31664"/>
                  </a:lnTo>
                  <a:lnTo>
                    <a:pt x="1051560" y="51816"/>
                  </a:lnTo>
                  <a:lnTo>
                    <a:pt x="1051560" y="259080"/>
                  </a:lnTo>
                  <a:lnTo>
                    <a:pt x="1047482" y="279231"/>
                  </a:lnTo>
                  <a:lnTo>
                    <a:pt x="1036367" y="295703"/>
                  </a:lnTo>
                  <a:lnTo>
                    <a:pt x="1019895" y="306818"/>
                  </a:lnTo>
                  <a:lnTo>
                    <a:pt x="999744" y="310895"/>
                  </a:lnTo>
                  <a:lnTo>
                    <a:pt x="51815" y="310895"/>
                  </a:lnTo>
                  <a:lnTo>
                    <a:pt x="31648" y="306818"/>
                  </a:lnTo>
                  <a:lnTo>
                    <a:pt x="15178" y="295703"/>
                  </a:lnTo>
                  <a:lnTo>
                    <a:pt x="4072" y="279231"/>
                  </a:lnTo>
                  <a:lnTo>
                    <a:pt x="0" y="259080"/>
                  </a:lnTo>
                  <a:lnTo>
                    <a:pt x="0" y="51816"/>
                  </a:lnTo>
                  <a:close/>
                </a:path>
              </a:pathLst>
            </a:custGeom>
            <a:ln w="6096">
              <a:solidFill>
                <a:srgbClr val="E7F0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3846957" y="3088969"/>
            <a:ext cx="160337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dirty="0">
                <a:solidFill>
                  <a:srgbClr val="B84949"/>
                </a:solidFill>
                <a:latin typeface="Arial"/>
                <a:cs typeface="Arial"/>
              </a:rPr>
              <a:t>CURRENT</a:t>
            </a:r>
            <a:r>
              <a:rPr sz="1150" b="1" spc="-25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B84949"/>
                </a:solidFill>
                <a:latin typeface="Arial"/>
                <a:cs typeface="Arial"/>
              </a:rPr>
              <a:t>APPROACH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815841" y="3376929"/>
            <a:ext cx="1036955" cy="972819"/>
            <a:chOff x="3815841" y="3376929"/>
            <a:chExt cx="1036955" cy="972819"/>
          </a:xfrm>
        </p:grpSpPr>
        <p:sp>
          <p:nvSpPr>
            <p:cNvPr id="62" name="object 62"/>
            <p:cNvSpPr/>
            <p:nvPr/>
          </p:nvSpPr>
          <p:spPr>
            <a:xfrm>
              <a:off x="3822191" y="3383279"/>
              <a:ext cx="1024255" cy="960119"/>
            </a:xfrm>
            <a:custGeom>
              <a:avLst/>
              <a:gdLst/>
              <a:ahLst/>
              <a:cxnLst/>
              <a:rect l="l" t="t" r="r" b="b"/>
              <a:pathLst>
                <a:path w="1024254" h="960120">
                  <a:moveTo>
                    <a:pt x="864108" y="0"/>
                  </a:moveTo>
                  <a:lnTo>
                    <a:pt x="160020" y="0"/>
                  </a:ln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20"/>
                  </a:lnTo>
                  <a:lnTo>
                    <a:pt x="0" y="800100"/>
                  </a:lnTo>
                  <a:lnTo>
                    <a:pt x="8156" y="850684"/>
                  </a:lnTo>
                  <a:lnTo>
                    <a:pt x="30870" y="894612"/>
                  </a:lnTo>
                  <a:lnTo>
                    <a:pt x="65507" y="929249"/>
                  </a:lnTo>
                  <a:lnTo>
                    <a:pt x="109435" y="951963"/>
                  </a:lnTo>
                  <a:lnTo>
                    <a:pt x="160020" y="960120"/>
                  </a:lnTo>
                  <a:lnTo>
                    <a:pt x="864108" y="960120"/>
                  </a:lnTo>
                  <a:lnTo>
                    <a:pt x="914692" y="951963"/>
                  </a:lnTo>
                  <a:lnTo>
                    <a:pt x="958620" y="929249"/>
                  </a:lnTo>
                  <a:lnTo>
                    <a:pt x="993257" y="894612"/>
                  </a:lnTo>
                  <a:lnTo>
                    <a:pt x="1015971" y="850684"/>
                  </a:lnTo>
                  <a:lnTo>
                    <a:pt x="1024128" y="800100"/>
                  </a:lnTo>
                  <a:lnTo>
                    <a:pt x="1024128" y="160020"/>
                  </a:lnTo>
                  <a:lnTo>
                    <a:pt x="1015971" y="109435"/>
                  </a:lnTo>
                  <a:lnTo>
                    <a:pt x="993257" y="65507"/>
                  </a:lnTo>
                  <a:lnTo>
                    <a:pt x="958620" y="30870"/>
                  </a:lnTo>
                  <a:lnTo>
                    <a:pt x="914692" y="8156"/>
                  </a:lnTo>
                  <a:lnTo>
                    <a:pt x="8641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822191" y="3383279"/>
              <a:ext cx="1024255" cy="960119"/>
            </a:xfrm>
            <a:custGeom>
              <a:avLst/>
              <a:gdLst/>
              <a:ahLst/>
              <a:cxnLst/>
              <a:rect l="l" t="t" r="r" b="b"/>
              <a:pathLst>
                <a:path w="1024254" h="960120">
                  <a:moveTo>
                    <a:pt x="0" y="160020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864108" y="0"/>
                  </a:lnTo>
                  <a:lnTo>
                    <a:pt x="914692" y="8156"/>
                  </a:lnTo>
                  <a:lnTo>
                    <a:pt x="958620" y="30870"/>
                  </a:lnTo>
                  <a:lnTo>
                    <a:pt x="993257" y="65507"/>
                  </a:lnTo>
                  <a:lnTo>
                    <a:pt x="1015971" y="109435"/>
                  </a:lnTo>
                  <a:lnTo>
                    <a:pt x="1024128" y="160020"/>
                  </a:lnTo>
                  <a:lnTo>
                    <a:pt x="1024128" y="800100"/>
                  </a:lnTo>
                  <a:lnTo>
                    <a:pt x="1015971" y="850684"/>
                  </a:lnTo>
                  <a:lnTo>
                    <a:pt x="993257" y="894612"/>
                  </a:lnTo>
                  <a:lnTo>
                    <a:pt x="958620" y="929249"/>
                  </a:lnTo>
                  <a:lnTo>
                    <a:pt x="914692" y="951963"/>
                  </a:lnTo>
                  <a:lnTo>
                    <a:pt x="864108" y="960120"/>
                  </a:lnTo>
                  <a:lnTo>
                    <a:pt x="160020" y="960120"/>
                  </a:lnTo>
                  <a:lnTo>
                    <a:pt x="109435" y="951963"/>
                  </a:lnTo>
                  <a:lnTo>
                    <a:pt x="65507" y="929249"/>
                  </a:lnTo>
                  <a:lnTo>
                    <a:pt x="30870" y="894612"/>
                  </a:lnTo>
                  <a:lnTo>
                    <a:pt x="8156" y="850684"/>
                  </a:lnTo>
                  <a:lnTo>
                    <a:pt x="0" y="800100"/>
                  </a:lnTo>
                  <a:lnTo>
                    <a:pt x="0" y="160020"/>
                  </a:lnTo>
                  <a:close/>
                </a:path>
              </a:pathLst>
            </a:custGeom>
            <a:ln w="12192">
              <a:solidFill>
                <a:srgbClr val="E3DD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 descr="bolt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1375" y="3493007"/>
              <a:ext cx="310896" cy="310895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4102989" y="3753253"/>
            <a:ext cx="463550" cy="3987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670"/>
              </a:spcBef>
            </a:pPr>
            <a:r>
              <a:rPr sz="900" b="1" spc="-10" dirty="0">
                <a:solidFill>
                  <a:srgbClr val="0D2A2E"/>
                </a:solidFill>
                <a:latin typeface="Arial"/>
                <a:cs typeface="Arial"/>
              </a:rPr>
              <a:t>Normal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700" dirty="0">
                <a:solidFill>
                  <a:srgbClr val="5B6E6B"/>
                </a:solidFill>
                <a:latin typeface="Arial"/>
                <a:cs typeface="Arial"/>
              </a:rPr>
              <a:t>grid</a:t>
            </a:r>
            <a:r>
              <a:rPr sz="700" spc="-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B6E6B"/>
                </a:solidFill>
                <a:latin typeface="Arial"/>
                <a:cs typeface="Arial"/>
              </a:rPr>
              <a:t>/</a:t>
            </a:r>
            <a:r>
              <a:rPr sz="700" spc="-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asset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833937" y="3376929"/>
            <a:ext cx="1299210" cy="972819"/>
            <a:chOff x="4833937" y="3376929"/>
            <a:chExt cx="1299210" cy="972819"/>
          </a:xfrm>
        </p:grpSpPr>
        <p:sp>
          <p:nvSpPr>
            <p:cNvPr id="67" name="object 67"/>
            <p:cNvSpPr/>
            <p:nvPr/>
          </p:nvSpPr>
          <p:spPr>
            <a:xfrm>
              <a:off x="4846320" y="3858767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>
                  <a:moveTo>
                    <a:pt x="0" y="0"/>
                  </a:moveTo>
                  <a:lnTo>
                    <a:pt x="237743" y="0"/>
                  </a:lnTo>
                </a:path>
              </a:pathLst>
            </a:custGeom>
            <a:ln w="24384">
              <a:solidFill>
                <a:srgbClr val="B8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102352" y="3383279"/>
              <a:ext cx="1024255" cy="960119"/>
            </a:xfrm>
            <a:custGeom>
              <a:avLst/>
              <a:gdLst/>
              <a:ahLst/>
              <a:cxnLst/>
              <a:rect l="l" t="t" r="r" b="b"/>
              <a:pathLst>
                <a:path w="1024254" h="960120">
                  <a:moveTo>
                    <a:pt x="864108" y="0"/>
                  </a:moveTo>
                  <a:lnTo>
                    <a:pt x="160020" y="0"/>
                  </a:ln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20"/>
                  </a:lnTo>
                  <a:lnTo>
                    <a:pt x="0" y="800100"/>
                  </a:lnTo>
                  <a:lnTo>
                    <a:pt x="8156" y="850684"/>
                  </a:lnTo>
                  <a:lnTo>
                    <a:pt x="30870" y="894612"/>
                  </a:lnTo>
                  <a:lnTo>
                    <a:pt x="65507" y="929249"/>
                  </a:lnTo>
                  <a:lnTo>
                    <a:pt x="109435" y="951963"/>
                  </a:lnTo>
                  <a:lnTo>
                    <a:pt x="160020" y="960120"/>
                  </a:lnTo>
                  <a:lnTo>
                    <a:pt x="864108" y="960120"/>
                  </a:lnTo>
                  <a:lnTo>
                    <a:pt x="914692" y="951963"/>
                  </a:lnTo>
                  <a:lnTo>
                    <a:pt x="958620" y="929249"/>
                  </a:lnTo>
                  <a:lnTo>
                    <a:pt x="993257" y="894612"/>
                  </a:lnTo>
                  <a:lnTo>
                    <a:pt x="1015971" y="850684"/>
                  </a:lnTo>
                  <a:lnTo>
                    <a:pt x="1024127" y="800100"/>
                  </a:lnTo>
                  <a:lnTo>
                    <a:pt x="1024127" y="160020"/>
                  </a:lnTo>
                  <a:lnTo>
                    <a:pt x="1015971" y="109435"/>
                  </a:lnTo>
                  <a:lnTo>
                    <a:pt x="993257" y="65507"/>
                  </a:lnTo>
                  <a:lnTo>
                    <a:pt x="958620" y="30870"/>
                  </a:lnTo>
                  <a:lnTo>
                    <a:pt x="914692" y="8156"/>
                  </a:lnTo>
                  <a:lnTo>
                    <a:pt x="8641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102352" y="3383279"/>
              <a:ext cx="1024255" cy="960119"/>
            </a:xfrm>
            <a:custGeom>
              <a:avLst/>
              <a:gdLst/>
              <a:ahLst/>
              <a:cxnLst/>
              <a:rect l="l" t="t" r="r" b="b"/>
              <a:pathLst>
                <a:path w="1024254" h="960120">
                  <a:moveTo>
                    <a:pt x="0" y="160020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864108" y="0"/>
                  </a:lnTo>
                  <a:lnTo>
                    <a:pt x="914692" y="8156"/>
                  </a:lnTo>
                  <a:lnTo>
                    <a:pt x="958620" y="30870"/>
                  </a:lnTo>
                  <a:lnTo>
                    <a:pt x="993257" y="65507"/>
                  </a:lnTo>
                  <a:lnTo>
                    <a:pt x="1015971" y="109435"/>
                  </a:lnTo>
                  <a:lnTo>
                    <a:pt x="1024127" y="160020"/>
                  </a:lnTo>
                  <a:lnTo>
                    <a:pt x="1024127" y="800100"/>
                  </a:lnTo>
                  <a:lnTo>
                    <a:pt x="1015971" y="850684"/>
                  </a:lnTo>
                  <a:lnTo>
                    <a:pt x="993257" y="894612"/>
                  </a:lnTo>
                  <a:lnTo>
                    <a:pt x="958620" y="929249"/>
                  </a:lnTo>
                  <a:lnTo>
                    <a:pt x="914692" y="951963"/>
                  </a:lnTo>
                  <a:lnTo>
                    <a:pt x="864108" y="960120"/>
                  </a:lnTo>
                  <a:lnTo>
                    <a:pt x="160020" y="960120"/>
                  </a:lnTo>
                  <a:lnTo>
                    <a:pt x="109435" y="951963"/>
                  </a:lnTo>
                  <a:lnTo>
                    <a:pt x="65507" y="929249"/>
                  </a:lnTo>
                  <a:lnTo>
                    <a:pt x="30870" y="894612"/>
                  </a:lnTo>
                  <a:lnTo>
                    <a:pt x="8156" y="850684"/>
                  </a:lnTo>
                  <a:lnTo>
                    <a:pt x="0" y="800100"/>
                  </a:lnTo>
                  <a:lnTo>
                    <a:pt x="0" y="160020"/>
                  </a:lnTo>
                  <a:close/>
                </a:path>
              </a:pathLst>
            </a:custGeom>
            <a:ln w="12192">
              <a:solidFill>
                <a:srgbClr val="E3DD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 descr="cogs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1536" y="3493007"/>
              <a:ext cx="310896" cy="310895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368290" y="3753253"/>
            <a:ext cx="494665" cy="3987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670"/>
              </a:spcBef>
            </a:pPr>
            <a:r>
              <a:rPr sz="900" b="1" spc="-10" dirty="0">
                <a:solidFill>
                  <a:srgbClr val="0D2A2E"/>
                </a:solidFill>
                <a:latin typeface="Arial"/>
                <a:cs typeface="Arial"/>
              </a:rPr>
              <a:t>Hidden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degradation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6114097" y="3376929"/>
            <a:ext cx="1299210" cy="972819"/>
            <a:chOff x="6114097" y="3376929"/>
            <a:chExt cx="1299210" cy="972819"/>
          </a:xfrm>
        </p:grpSpPr>
        <p:sp>
          <p:nvSpPr>
            <p:cNvPr id="73" name="object 73"/>
            <p:cNvSpPr/>
            <p:nvPr/>
          </p:nvSpPr>
          <p:spPr>
            <a:xfrm>
              <a:off x="6126479" y="3858767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>
                  <a:moveTo>
                    <a:pt x="0" y="0"/>
                  </a:moveTo>
                  <a:lnTo>
                    <a:pt x="237744" y="0"/>
                  </a:lnTo>
                </a:path>
              </a:pathLst>
            </a:custGeom>
            <a:ln w="24384">
              <a:solidFill>
                <a:srgbClr val="B8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382511" y="3383279"/>
              <a:ext cx="1024255" cy="960119"/>
            </a:xfrm>
            <a:custGeom>
              <a:avLst/>
              <a:gdLst/>
              <a:ahLst/>
              <a:cxnLst/>
              <a:rect l="l" t="t" r="r" b="b"/>
              <a:pathLst>
                <a:path w="1024254" h="960120">
                  <a:moveTo>
                    <a:pt x="864108" y="0"/>
                  </a:moveTo>
                  <a:lnTo>
                    <a:pt x="160019" y="0"/>
                  </a:ln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20"/>
                  </a:lnTo>
                  <a:lnTo>
                    <a:pt x="0" y="800100"/>
                  </a:lnTo>
                  <a:lnTo>
                    <a:pt x="8156" y="850684"/>
                  </a:lnTo>
                  <a:lnTo>
                    <a:pt x="30870" y="894612"/>
                  </a:lnTo>
                  <a:lnTo>
                    <a:pt x="65507" y="929249"/>
                  </a:lnTo>
                  <a:lnTo>
                    <a:pt x="109435" y="951963"/>
                  </a:lnTo>
                  <a:lnTo>
                    <a:pt x="160019" y="960120"/>
                  </a:lnTo>
                  <a:lnTo>
                    <a:pt x="864108" y="960120"/>
                  </a:lnTo>
                  <a:lnTo>
                    <a:pt x="914692" y="951963"/>
                  </a:lnTo>
                  <a:lnTo>
                    <a:pt x="958620" y="929249"/>
                  </a:lnTo>
                  <a:lnTo>
                    <a:pt x="993257" y="894612"/>
                  </a:lnTo>
                  <a:lnTo>
                    <a:pt x="1015971" y="850684"/>
                  </a:lnTo>
                  <a:lnTo>
                    <a:pt x="1024128" y="800100"/>
                  </a:lnTo>
                  <a:lnTo>
                    <a:pt x="1024128" y="160020"/>
                  </a:lnTo>
                  <a:lnTo>
                    <a:pt x="1015971" y="109435"/>
                  </a:lnTo>
                  <a:lnTo>
                    <a:pt x="993257" y="65507"/>
                  </a:lnTo>
                  <a:lnTo>
                    <a:pt x="958620" y="30870"/>
                  </a:lnTo>
                  <a:lnTo>
                    <a:pt x="914692" y="8156"/>
                  </a:lnTo>
                  <a:lnTo>
                    <a:pt x="8641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382511" y="3383279"/>
              <a:ext cx="1024255" cy="960119"/>
            </a:xfrm>
            <a:custGeom>
              <a:avLst/>
              <a:gdLst/>
              <a:ahLst/>
              <a:cxnLst/>
              <a:rect l="l" t="t" r="r" b="b"/>
              <a:pathLst>
                <a:path w="1024254" h="960120">
                  <a:moveTo>
                    <a:pt x="0" y="160020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19" y="0"/>
                  </a:lnTo>
                  <a:lnTo>
                    <a:pt x="864108" y="0"/>
                  </a:lnTo>
                  <a:lnTo>
                    <a:pt x="914692" y="8156"/>
                  </a:lnTo>
                  <a:lnTo>
                    <a:pt x="958620" y="30870"/>
                  </a:lnTo>
                  <a:lnTo>
                    <a:pt x="993257" y="65507"/>
                  </a:lnTo>
                  <a:lnTo>
                    <a:pt x="1015971" y="109435"/>
                  </a:lnTo>
                  <a:lnTo>
                    <a:pt x="1024128" y="160020"/>
                  </a:lnTo>
                  <a:lnTo>
                    <a:pt x="1024128" y="800100"/>
                  </a:lnTo>
                  <a:lnTo>
                    <a:pt x="1015971" y="850684"/>
                  </a:lnTo>
                  <a:lnTo>
                    <a:pt x="993257" y="894612"/>
                  </a:lnTo>
                  <a:lnTo>
                    <a:pt x="958620" y="929249"/>
                  </a:lnTo>
                  <a:lnTo>
                    <a:pt x="914692" y="951963"/>
                  </a:lnTo>
                  <a:lnTo>
                    <a:pt x="864108" y="960120"/>
                  </a:lnTo>
                  <a:lnTo>
                    <a:pt x="160019" y="960120"/>
                  </a:lnTo>
                  <a:lnTo>
                    <a:pt x="109435" y="951963"/>
                  </a:lnTo>
                  <a:lnTo>
                    <a:pt x="65507" y="929249"/>
                  </a:lnTo>
                  <a:lnTo>
                    <a:pt x="30870" y="894612"/>
                  </a:lnTo>
                  <a:lnTo>
                    <a:pt x="8156" y="850684"/>
                  </a:lnTo>
                  <a:lnTo>
                    <a:pt x="0" y="800100"/>
                  </a:lnTo>
                  <a:lnTo>
                    <a:pt x="0" y="160020"/>
                  </a:lnTo>
                  <a:close/>
                </a:path>
              </a:pathLst>
            </a:custGeom>
            <a:ln w="12192">
              <a:solidFill>
                <a:srgbClr val="E3DD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 descr="shiel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1695" y="3493007"/>
              <a:ext cx="310896" cy="310895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6530085" y="3753253"/>
            <a:ext cx="729615" cy="3987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70"/>
              </a:spcBef>
            </a:pPr>
            <a:r>
              <a:rPr sz="900" b="1" spc="-10" dirty="0">
                <a:solidFill>
                  <a:srgbClr val="0D2A2E"/>
                </a:solidFill>
                <a:latin typeface="Arial"/>
                <a:cs typeface="Arial"/>
              </a:rPr>
              <a:t>Fault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sz="700" dirty="0">
                <a:solidFill>
                  <a:srgbClr val="5B6E6B"/>
                </a:solidFill>
                <a:latin typeface="Arial"/>
                <a:cs typeface="Arial"/>
              </a:rPr>
              <a:t>threshold</a:t>
            </a:r>
            <a:r>
              <a:rPr sz="700" spc="-40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crossed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7394257" y="3376929"/>
            <a:ext cx="1299210" cy="972819"/>
            <a:chOff x="7394257" y="3376929"/>
            <a:chExt cx="1299210" cy="972819"/>
          </a:xfrm>
        </p:grpSpPr>
        <p:sp>
          <p:nvSpPr>
            <p:cNvPr id="79" name="object 79"/>
            <p:cNvSpPr/>
            <p:nvPr/>
          </p:nvSpPr>
          <p:spPr>
            <a:xfrm>
              <a:off x="7406639" y="3858767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>
                  <a:moveTo>
                    <a:pt x="0" y="0"/>
                  </a:moveTo>
                  <a:lnTo>
                    <a:pt x="237743" y="0"/>
                  </a:lnTo>
                </a:path>
              </a:pathLst>
            </a:custGeom>
            <a:ln w="24384">
              <a:solidFill>
                <a:srgbClr val="B8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662671" y="3383279"/>
              <a:ext cx="1024255" cy="960119"/>
            </a:xfrm>
            <a:custGeom>
              <a:avLst/>
              <a:gdLst/>
              <a:ahLst/>
              <a:cxnLst/>
              <a:rect l="l" t="t" r="r" b="b"/>
              <a:pathLst>
                <a:path w="1024254" h="960120">
                  <a:moveTo>
                    <a:pt x="864107" y="0"/>
                  </a:moveTo>
                  <a:lnTo>
                    <a:pt x="160020" y="0"/>
                  </a:ln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20"/>
                  </a:lnTo>
                  <a:lnTo>
                    <a:pt x="0" y="800100"/>
                  </a:lnTo>
                  <a:lnTo>
                    <a:pt x="8156" y="850684"/>
                  </a:lnTo>
                  <a:lnTo>
                    <a:pt x="30870" y="894612"/>
                  </a:lnTo>
                  <a:lnTo>
                    <a:pt x="65507" y="929249"/>
                  </a:lnTo>
                  <a:lnTo>
                    <a:pt x="109435" y="951963"/>
                  </a:lnTo>
                  <a:lnTo>
                    <a:pt x="160020" y="960120"/>
                  </a:lnTo>
                  <a:lnTo>
                    <a:pt x="864107" y="960120"/>
                  </a:lnTo>
                  <a:lnTo>
                    <a:pt x="914692" y="951963"/>
                  </a:lnTo>
                  <a:lnTo>
                    <a:pt x="958620" y="929249"/>
                  </a:lnTo>
                  <a:lnTo>
                    <a:pt x="993257" y="894612"/>
                  </a:lnTo>
                  <a:lnTo>
                    <a:pt x="1015971" y="850684"/>
                  </a:lnTo>
                  <a:lnTo>
                    <a:pt x="1024127" y="800100"/>
                  </a:lnTo>
                  <a:lnTo>
                    <a:pt x="1024127" y="160020"/>
                  </a:lnTo>
                  <a:lnTo>
                    <a:pt x="1015971" y="109435"/>
                  </a:lnTo>
                  <a:lnTo>
                    <a:pt x="993257" y="65507"/>
                  </a:lnTo>
                  <a:lnTo>
                    <a:pt x="958620" y="30870"/>
                  </a:lnTo>
                  <a:lnTo>
                    <a:pt x="914692" y="8156"/>
                  </a:lnTo>
                  <a:lnTo>
                    <a:pt x="8641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662671" y="3383279"/>
              <a:ext cx="1024255" cy="960119"/>
            </a:xfrm>
            <a:custGeom>
              <a:avLst/>
              <a:gdLst/>
              <a:ahLst/>
              <a:cxnLst/>
              <a:rect l="l" t="t" r="r" b="b"/>
              <a:pathLst>
                <a:path w="1024254" h="960120">
                  <a:moveTo>
                    <a:pt x="0" y="160020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864107" y="0"/>
                  </a:lnTo>
                  <a:lnTo>
                    <a:pt x="914692" y="8156"/>
                  </a:lnTo>
                  <a:lnTo>
                    <a:pt x="958620" y="30870"/>
                  </a:lnTo>
                  <a:lnTo>
                    <a:pt x="993257" y="65507"/>
                  </a:lnTo>
                  <a:lnTo>
                    <a:pt x="1015971" y="109435"/>
                  </a:lnTo>
                  <a:lnTo>
                    <a:pt x="1024127" y="160020"/>
                  </a:lnTo>
                  <a:lnTo>
                    <a:pt x="1024127" y="800100"/>
                  </a:lnTo>
                  <a:lnTo>
                    <a:pt x="1015971" y="850684"/>
                  </a:lnTo>
                  <a:lnTo>
                    <a:pt x="993257" y="894612"/>
                  </a:lnTo>
                  <a:lnTo>
                    <a:pt x="958620" y="929249"/>
                  </a:lnTo>
                  <a:lnTo>
                    <a:pt x="914692" y="951963"/>
                  </a:lnTo>
                  <a:lnTo>
                    <a:pt x="864107" y="960120"/>
                  </a:lnTo>
                  <a:lnTo>
                    <a:pt x="160020" y="960120"/>
                  </a:lnTo>
                  <a:lnTo>
                    <a:pt x="109435" y="951963"/>
                  </a:lnTo>
                  <a:lnTo>
                    <a:pt x="65507" y="929249"/>
                  </a:lnTo>
                  <a:lnTo>
                    <a:pt x="30870" y="894612"/>
                  </a:lnTo>
                  <a:lnTo>
                    <a:pt x="8156" y="850684"/>
                  </a:lnTo>
                  <a:lnTo>
                    <a:pt x="0" y="800100"/>
                  </a:lnTo>
                  <a:lnTo>
                    <a:pt x="0" y="160020"/>
                  </a:lnTo>
                  <a:close/>
                </a:path>
              </a:pathLst>
            </a:custGeom>
            <a:ln w="12192">
              <a:solidFill>
                <a:srgbClr val="E3DD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 descr="plug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91855" y="3493007"/>
              <a:ext cx="310896" cy="310895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7865491" y="3753253"/>
            <a:ext cx="618490" cy="3987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670"/>
              </a:spcBef>
            </a:pPr>
            <a:r>
              <a:rPr sz="900" b="1" spc="-20" dirty="0">
                <a:solidFill>
                  <a:srgbClr val="0D2A2E"/>
                </a:solidFill>
                <a:latin typeface="Arial"/>
                <a:cs typeface="Arial"/>
              </a:rPr>
              <a:t>Trip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sz="700" dirty="0">
                <a:solidFill>
                  <a:srgbClr val="5B6E6B"/>
                </a:solidFill>
                <a:latin typeface="Arial"/>
                <a:cs typeface="Arial"/>
              </a:rPr>
              <a:t>relay</a:t>
            </a:r>
            <a:r>
              <a:rPr sz="700" spc="-30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B6E6B"/>
                </a:solidFill>
                <a:latin typeface="Arial"/>
                <a:cs typeface="Arial"/>
              </a:rPr>
              <a:t>+</a:t>
            </a:r>
            <a:r>
              <a:rPr sz="700" spc="10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breaker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8674417" y="3376929"/>
            <a:ext cx="1299210" cy="972819"/>
            <a:chOff x="8674417" y="3376929"/>
            <a:chExt cx="1299210" cy="972819"/>
          </a:xfrm>
        </p:grpSpPr>
        <p:sp>
          <p:nvSpPr>
            <p:cNvPr id="85" name="object 85"/>
            <p:cNvSpPr/>
            <p:nvPr/>
          </p:nvSpPr>
          <p:spPr>
            <a:xfrm>
              <a:off x="8686800" y="3858767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>
                  <a:moveTo>
                    <a:pt x="0" y="0"/>
                  </a:moveTo>
                  <a:lnTo>
                    <a:pt x="237744" y="0"/>
                  </a:lnTo>
                </a:path>
              </a:pathLst>
            </a:custGeom>
            <a:ln w="24384">
              <a:solidFill>
                <a:srgbClr val="B8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942832" y="3383279"/>
              <a:ext cx="1024255" cy="960119"/>
            </a:xfrm>
            <a:custGeom>
              <a:avLst/>
              <a:gdLst/>
              <a:ahLst/>
              <a:cxnLst/>
              <a:rect l="l" t="t" r="r" b="b"/>
              <a:pathLst>
                <a:path w="1024254" h="960120">
                  <a:moveTo>
                    <a:pt x="864108" y="0"/>
                  </a:moveTo>
                  <a:lnTo>
                    <a:pt x="160020" y="0"/>
                  </a:ln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20"/>
                  </a:lnTo>
                  <a:lnTo>
                    <a:pt x="0" y="800100"/>
                  </a:lnTo>
                  <a:lnTo>
                    <a:pt x="8156" y="850684"/>
                  </a:lnTo>
                  <a:lnTo>
                    <a:pt x="30870" y="894612"/>
                  </a:lnTo>
                  <a:lnTo>
                    <a:pt x="65507" y="929249"/>
                  </a:lnTo>
                  <a:lnTo>
                    <a:pt x="109435" y="951963"/>
                  </a:lnTo>
                  <a:lnTo>
                    <a:pt x="160020" y="960120"/>
                  </a:lnTo>
                  <a:lnTo>
                    <a:pt x="864108" y="960120"/>
                  </a:lnTo>
                  <a:lnTo>
                    <a:pt x="914692" y="951963"/>
                  </a:lnTo>
                  <a:lnTo>
                    <a:pt x="958620" y="929249"/>
                  </a:lnTo>
                  <a:lnTo>
                    <a:pt x="993257" y="894612"/>
                  </a:lnTo>
                  <a:lnTo>
                    <a:pt x="1015971" y="850684"/>
                  </a:lnTo>
                  <a:lnTo>
                    <a:pt x="1024127" y="800100"/>
                  </a:lnTo>
                  <a:lnTo>
                    <a:pt x="1024127" y="160020"/>
                  </a:lnTo>
                  <a:lnTo>
                    <a:pt x="1015971" y="109435"/>
                  </a:lnTo>
                  <a:lnTo>
                    <a:pt x="993257" y="65507"/>
                  </a:lnTo>
                  <a:lnTo>
                    <a:pt x="958620" y="30870"/>
                  </a:lnTo>
                  <a:lnTo>
                    <a:pt x="914692" y="8156"/>
                  </a:lnTo>
                  <a:lnTo>
                    <a:pt x="8641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942832" y="3383279"/>
              <a:ext cx="1024255" cy="960119"/>
            </a:xfrm>
            <a:custGeom>
              <a:avLst/>
              <a:gdLst/>
              <a:ahLst/>
              <a:cxnLst/>
              <a:rect l="l" t="t" r="r" b="b"/>
              <a:pathLst>
                <a:path w="1024254" h="960120">
                  <a:moveTo>
                    <a:pt x="0" y="160020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864108" y="0"/>
                  </a:lnTo>
                  <a:lnTo>
                    <a:pt x="914692" y="8156"/>
                  </a:lnTo>
                  <a:lnTo>
                    <a:pt x="958620" y="30870"/>
                  </a:lnTo>
                  <a:lnTo>
                    <a:pt x="993257" y="65507"/>
                  </a:lnTo>
                  <a:lnTo>
                    <a:pt x="1015971" y="109435"/>
                  </a:lnTo>
                  <a:lnTo>
                    <a:pt x="1024127" y="160020"/>
                  </a:lnTo>
                  <a:lnTo>
                    <a:pt x="1024127" y="800100"/>
                  </a:lnTo>
                  <a:lnTo>
                    <a:pt x="1015971" y="850684"/>
                  </a:lnTo>
                  <a:lnTo>
                    <a:pt x="993257" y="894612"/>
                  </a:lnTo>
                  <a:lnTo>
                    <a:pt x="958620" y="929249"/>
                  </a:lnTo>
                  <a:lnTo>
                    <a:pt x="914692" y="951963"/>
                  </a:lnTo>
                  <a:lnTo>
                    <a:pt x="864108" y="960120"/>
                  </a:lnTo>
                  <a:lnTo>
                    <a:pt x="160020" y="960120"/>
                  </a:lnTo>
                  <a:lnTo>
                    <a:pt x="109435" y="951963"/>
                  </a:lnTo>
                  <a:lnTo>
                    <a:pt x="65507" y="929249"/>
                  </a:lnTo>
                  <a:lnTo>
                    <a:pt x="30870" y="894612"/>
                  </a:lnTo>
                  <a:lnTo>
                    <a:pt x="8156" y="850684"/>
                  </a:lnTo>
                  <a:lnTo>
                    <a:pt x="0" y="800100"/>
                  </a:lnTo>
                  <a:lnTo>
                    <a:pt x="0" y="160020"/>
                  </a:lnTo>
                  <a:close/>
                </a:path>
              </a:pathLst>
            </a:custGeom>
            <a:ln w="12192">
              <a:solidFill>
                <a:srgbClr val="E3DD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 descr="wrench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72016" y="3493007"/>
              <a:ext cx="310896" cy="310895"/>
            </a:xfrm>
            <a:prstGeom prst="rect">
              <a:avLst/>
            </a:prstGeom>
          </p:spPr>
        </p:pic>
      </p:grpSp>
      <p:sp>
        <p:nvSpPr>
          <p:cNvPr id="89" name="object 89"/>
          <p:cNvSpPr txBox="1"/>
          <p:nvPr/>
        </p:nvSpPr>
        <p:spPr>
          <a:xfrm>
            <a:off x="9081896" y="3753253"/>
            <a:ext cx="751205" cy="3987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900" b="1" spc="-10" dirty="0">
                <a:solidFill>
                  <a:srgbClr val="0D2A2E"/>
                </a:solidFill>
                <a:latin typeface="Arial"/>
                <a:cs typeface="Arial"/>
              </a:rPr>
              <a:t>Outage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sz="700" dirty="0">
                <a:solidFill>
                  <a:srgbClr val="5B6E6B"/>
                </a:solidFill>
                <a:latin typeface="Arial"/>
                <a:cs typeface="Arial"/>
              </a:rPr>
              <a:t>damage</a:t>
            </a: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B6E6B"/>
                </a:solidFill>
                <a:latin typeface="Arial"/>
                <a:cs typeface="Arial"/>
              </a:rPr>
              <a:t>/</a:t>
            </a:r>
            <a:r>
              <a:rPr sz="700" spc="-2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isolation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9966959" y="3377184"/>
            <a:ext cx="1286510" cy="972819"/>
            <a:chOff x="9966959" y="3377184"/>
            <a:chExt cx="1286510" cy="972819"/>
          </a:xfrm>
        </p:grpSpPr>
        <p:sp>
          <p:nvSpPr>
            <p:cNvPr id="91" name="object 91"/>
            <p:cNvSpPr/>
            <p:nvPr/>
          </p:nvSpPr>
          <p:spPr>
            <a:xfrm>
              <a:off x="9966959" y="3858768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>
                  <a:moveTo>
                    <a:pt x="0" y="0"/>
                  </a:moveTo>
                  <a:lnTo>
                    <a:pt x="237744" y="0"/>
                  </a:lnTo>
                </a:path>
              </a:pathLst>
            </a:custGeom>
            <a:ln w="24384">
              <a:solidFill>
                <a:srgbClr val="B8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0222991" y="3383280"/>
              <a:ext cx="1024255" cy="960119"/>
            </a:xfrm>
            <a:custGeom>
              <a:avLst/>
              <a:gdLst/>
              <a:ahLst/>
              <a:cxnLst/>
              <a:rect l="l" t="t" r="r" b="b"/>
              <a:pathLst>
                <a:path w="1024254" h="960120">
                  <a:moveTo>
                    <a:pt x="864107" y="0"/>
                  </a:moveTo>
                  <a:lnTo>
                    <a:pt x="160019" y="0"/>
                  </a:ln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20"/>
                  </a:lnTo>
                  <a:lnTo>
                    <a:pt x="0" y="800100"/>
                  </a:lnTo>
                  <a:lnTo>
                    <a:pt x="8156" y="850684"/>
                  </a:lnTo>
                  <a:lnTo>
                    <a:pt x="30870" y="894612"/>
                  </a:lnTo>
                  <a:lnTo>
                    <a:pt x="65507" y="929249"/>
                  </a:lnTo>
                  <a:lnTo>
                    <a:pt x="109435" y="951963"/>
                  </a:lnTo>
                  <a:lnTo>
                    <a:pt x="160019" y="960120"/>
                  </a:lnTo>
                  <a:lnTo>
                    <a:pt x="864107" y="960120"/>
                  </a:lnTo>
                  <a:lnTo>
                    <a:pt x="914692" y="951963"/>
                  </a:lnTo>
                  <a:lnTo>
                    <a:pt x="958620" y="929249"/>
                  </a:lnTo>
                  <a:lnTo>
                    <a:pt x="993257" y="894612"/>
                  </a:lnTo>
                  <a:lnTo>
                    <a:pt x="1015971" y="850684"/>
                  </a:lnTo>
                  <a:lnTo>
                    <a:pt x="1024127" y="800100"/>
                  </a:lnTo>
                  <a:lnTo>
                    <a:pt x="1024127" y="160020"/>
                  </a:lnTo>
                  <a:lnTo>
                    <a:pt x="1015971" y="109435"/>
                  </a:lnTo>
                  <a:lnTo>
                    <a:pt x="993257" y="65507"/>
                  </a:lnTo>
                  <a:lnTo>
                    <a:pt x="958620" y="30870"/>
                  </a:lnTo>
                  <a:lnTo>
                    <a:pt x="914692" y="8156"/>
                  </a:lnTo>
                  <a:lnTo>
                    <a:pt x="8641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0222991" y="3383280"/>
              <a:ext cx="1024255" cy="960119"/>
            </a:xfrm>
            <a:custGeom>
              <a:avLst/>
              <a:gdLst/>
              <a:ahLst/>
              <a:cxnLst/>
              <a:rect l="l" t="t" r="r" b="b"/>
              <a:pathLst>
                <a:path w="1024254" h="960120">
                  <a:moveTo>
                    <a:pt x="0" y="160020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19" y="0"/>
                  </a:lnTo>
                  <a:lnTo>
                    <a:pt x="864107" y="0"/>
                  </a:lnTo>
                  <a:lnTo>
                    <a:pt x="914692" y="8156"/>
                  </a:lnTo>
                  <a:lnTo>
                    <a:pt x="958620" y="30870"/>
                  </a:lnTo>
                  <a:lnTo>
                    <a:pt x="993257" y="65507"/>
                  </a:lnTo>
                  <a:lnTo>
                    <a:pt x="1015971" y="109435"/>
                  </a:lnTo>
                  <a:lnTo>
                    <a:pt x="1024127" y="160020"/>
                  </a:lnTo>
                  <a:lnTo>
                    <a:pt x="1024127" y="800100"/>
                  </a:lnTo>
                  <a:lnTo>
                    <a:pt x="1015971" y="850684"/>
                  </a:lnTo>
                  <a:lnTo>
                    <a:pt x="993257" y="894612"/>
                  </a:lnTo>
                  <a:lnTo>
                    <a:pt x="958620" y="929249"/>
                  </a:lnTo>
                  <a:lnTo>
                    <a:pt x="914692" y="951963"/>
                  </a:lnTo>
                  <a:lnTo>
                    <a:pt x="864107" y="960120"/>
                  </a:lnTo>
                  <a:lnTo>
                    <a:pt x="160019" y="960120"/>
                  </a:lnTo>
                  <a:lnTo>
                    <a:pt x="109435" y="951963"/>
                  </a:lnTo>
                  <a:lnTo>
                    <a:pt x="65507" y="929249"/>
                  </a:lnTo>
                  <a:lnTo>
                    <a:pt x="30870" y="894612"/>
                  </a:lnTo>
                  <a:lnTo>
                    <a:pt x="8156" y="850684"/>
                  </a:lnTo>
                  <a:lnTo>
                    <a:pt x="0" y="800100"/>
                  </a:lnTo>
                  <a:lnTo>
                    <a:pt x="0" y="160020"/>
                  </a:lnTo>
                  <a:close/>
                </a:path>
              </a:pathLst>
            </a:custGeom>
            <a:ln w="12192">
              <a:solidFill>
                <a:srgbClr val="E3DD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 descr="building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52175" y="3493008"/>
              <a:ext cx="310896" cy="310895"/>
            </a:xfrm>
            <a:prstGeom prst="rect">
              <a:avLst/>
            </a:prstGeom>
          </p:spPr>
        </p:pic>
      </p:grpSp>
      <p:sp>
        <p:nvSpPr>
          <p:cNvPr id="95" name="object 95"/>
          <p:cNvSpPr txBox="1"/>
          <p:nvPr/>
        </p:nvSpPr>
        <p:spPr>
          <a:xfrm>
            <a:off x="10392918" y="3753253"/>
            <a:ext cx="687070" cy="3987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670"/>
              </a:spcBef>
            </a:pPr>
            <a:r>
              <a:rPr sz="900" b="1" spc="-10" dirty="0">
                <a:solidFill>
                  <a:srgbClr val="0D2A2E"/>
                </a:solidFill>
                <a:latin typeface="Arial"/>
                <a:cs typeface="Arial"/>
              </a:rPr>
              <a:t>Repair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sz="700" dirty="0">
                <a:solidFill>
                  <a:srgbClr val="5B6E6B"/>
                </a:solidFill>
                <a:latin typeface="Arial"/>
                <a:cs typeface="Arial"/>
              </a:rPr>
              <a:t>inspect</a:t>
            </a:r>
            <a:r>
              <a:rPr sz="700" spc="-1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B6E6B"/>
                </a:solidFill>
                <a:latin typeface="Arial"/>
                <a:cs typeface="Arial"/>
              </a:rPr>
              <a:t>+</a:t>
            </a:r>
            <a:r>
              <a:rPr sz="700" spc="-1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restore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816083" y="5286755"/>
            <a:ext cx="822960" cy="951230"/>
          </a:xfrm>
          <a:custGeom>
            <a:avLst/>
            <a:gdLst/>
            <a:ahLst/>
            <a:cxnLst/>
            <a:rect l="l" t="t" r="r" b="b"/>
            <a:pathLst>
              <a:path w="822959" h="951229">
                <a:moveTo>
                  <a:pt x="411480" y="0"/>
                </a:moveTo>
                <a:lnTo>
                  <a:pt x="822960" y="205740"/>
                </a:lnTo>
                <a:lnTo>
                  <a:pt x="822960" y="745236"/>
                </a:lnTo>
                <a:lnTo>
                  <a:pt x="411480" y="950976"/>
                </a:lnTo>
                <a:lnTo>
                  <a:pt x="0" y="745236"/>
                </a:lnTo>
                <a:lnTo>
                  <a:pt x="0" y="205740"/>
                </a:lnTo>
                <a:lnTo>
                  <a:pt x="411480" y="0"/>
                </a:lnTo>
                <a:close/>
              </a:path>
            </a:pathLst>
          </a:custGeom>
          <a:ln w="15240">
            <a:solidFill>
              <a:srgbClr val="4FA1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06100" y="4591811"/>
            <a:ext cx="1234440" cy="1426845"/>
          </a:xfrm>
          <a:custGeom>
            <a:avLst/>
            <a:gdLst/>
            <a:ahLst/>
            <a:cxnLst/>
            <a:rect l="l" t="t" r="r" b="b"/>
            <a:pathLst>
              <a:path w="1234440" h="1426845">
                <a:moveTo>
                  <a:pt x="617220" y="0"/>
                </a:moveTo>
                <a:lnTo>
                  <a:pt x="1234440" y="308610"/>
                </a:lnTo>
                <a:lnTo>
                  <a:pt x="1234440" y="1117854"/>
                </a:lnTo>
                <a:lnTo>
                  <a:pt x="617220" y="1426464"/>
                </a:lnTo>
                <a:lnTo>
                  <a:pt x="0" y="1117854"/>
                </a:lnTo>
                <a:lnTo>
                  <a:pt x="0" y="308610"/>
                </a:lnTo>
                <a:lnTo>
                  <a:pt x="617220" y="0"/>
                </a:lnTo>
                <a:close/>
              </a:path>
            </a:pathLst>
          </a:custGeom>
          <a:ln w="15240">
            <a:solidFill>
              <a:srgbClr val="4FA1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44883" y="3777996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547116" y="883158"/>
                </a:moveTo>
                <a:lnTo>
                  <a:pt x="411480" y="950976"/>
                </a:lnTo>
                <a:lnTo>
                  <a:pt x="0" y="745235"/>
                </a:lnTo>
                <a:lnTo>
                  <a:pt x="0" y="205739"/>
                </a:lnTo>
                <a:lnTo>
                  <a:pt x="411480" y="0"/>
                </a:lnTo>
                <a:lnTo>
                  <a:pt x="547116" y="67817"/>
                </a:lnTo>
              </a:path>
            </a:pathLst>
          </a:custGeom>
          <a:ln w="15240">
            <a:solidFill>
              <a:srgbClr val="4FA1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314069" y="4647691"/>
            <a:ext cx="220979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dirty="0">
                <a:solidFill>
                  <a:srgbClr val="094542"/>
                </a:solidFill>
                <a:latin typeface="Arial"/>
                <a:cs typeface="Arial"/>
              </a:rPr>
              <a:t>V</a:t>
            </a:r>
            <a:r>
              <a:rPr sz="850" b="1" spc="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094542"/>
                </a:solidFill>
                <a:latin typeface="Arial"/>
                <a:cs typeface="Arial"/>
              </a:rPr>
              <a:t>/</a:t>
            </a:r>
            <a:r>
              <a:rPr sz="850" b="1" spc="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850" b="1" spc="-50" dirty="0">
                <a:solidFill>
                  <a:srgbClr val="094542"/>
                </a:solidFill>
                <a:latin typeface="Arial"/>
                <a:cs typeface="Arial"/>
              </a:rPr>
              <a:t>I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035936" y="4587113"/>
            <a:ext cx="1223010" cy="317500"/>
            <a:chOff x="2035936" y="4587113"/>
            <a:chExt cx="1223010" cy="317500"/>
          </a:xfrm>
        </p:grpSpPr>
        <p:sp>
          <p:nvSpPr>
            <p:cNvPr id="41" name="object 41"/>
            <p:cNvSpPr/>
            <p:nvPr/>
          </p:nvSpPr>
          <p:spPr>
            <a:xfrm>
              <a:off x="2039111" y="4590288"/>
              <a:ext cx="1216660" cy="311150"/>
            </a:xfrm>
            <a:custGeom>
              <a:avLst/>
              <a:gdLst/>
              <a:ahLst/>
              <a:cxnLst/>
              <a:rect l="l" t="t" r="r" b="b"/>
              <a:pathLst>
                <a:path w="1216660" h="311150">
                  <a:moveTo>
                    <a:pt x="1164336" y="0"/>
                  </a:moveTo>
                  <a:lnTo>
                    <a:pt x="51815" y="0"/>
                  </a:lnTo>
                  <a:lnTo>
                    <a:pt x="31664" y="4077"/>
                  </a:lnTo>
                  <a:lnTo>
                    <a:pt x="15192" y="15192"/>
                  </a:lnTo>
                  <a:lnTo>
                    <a:pt x="4077" y="31664"/>
                  </a:lnTo>
                  <a:lnTo>
                    <a:pt x="0" y="51816"/>
                  </a:lnTo>
                  <a:lnTo>
                    <a:pt x="0" y="259080"/>
                  </a:lnTo>
                  <a:lnTo>
                    <a:pt x="4077" y="279231"/>
                  </a:lnTo>
                  <a:lnTo>
                    <a:pt x="15192" y="295703"/>
                  </a:lnTo>
                  <a:lnTo>
                    <a:pt x="31664" y="306818"/>
                  </a:lnTo>
                  <a:lnTo>
                    <a:pt x="51815" y="310895"/>
                  </a:lnTo>
                  <a:lnTo>
                    <a:pt x="1164336" y="310895"/>
                  </a:lnTo>
                  <a:lnTo>
                    <a:pt x="1184487" y="306818"/>
                  </a:lnTo>
                  <a:lnTo>
                    <a:pt x="1200959" y="295703"/>
                  </a:lnTo>
                  <a:lnTo>
                    <a:pt x="1212074" y="279231"/>
                  </a:lnTo>
                  <a:lnTo>
                    <a:pt x="1216152" y="259080"/>
                  </a:lnTo>
                  <a:lnTo>
                    <a:pt x="1216152" y="51816"/>
                  </a:lnTo>
                  <a:lnTo>
                    <a:pt x="1212074" y="31664"/>
                  </a:lnTo>
                  <a:lnTo>
                    <a:pt x="1200959" y="15192"/>
                  </a:lnTo>
                  <a:lnTo>
                    <a:pt x="1184487" y="4077"/>
                  </a:lnTo>
                  <a:lnTo>
                    <a:pt x="1164336" y="0"/>
                  </a:lnTo>
                  <a:close/>
                </a:path>
              </a:pathLst>
            </a:custGeom>
            <a:solidFill>
              <a:srgbClr val="E7F0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039111" y="4590288"/>
              <a:ext cx="1216660" cy="311150"/>
            </a:xfrm>
            <a:custGeom>
              <a:avLst/>
              <a:gdLst/>
              <a:ahLst/>
              <a:cxnLst/>
              <a:rect l="l" t="t" r="r" b="b"/>
              <a:pathLst>
                <a:path w="1216660" h="311150">
                  <a:moveTo>
                    <a:pt x="0" y="51816"/>
                  </a:moveTo>
                  <a:lnTo>
                    <a:pt x="4077" y="31664"/>
                  </a:lnTo>
                  <a:lnTo>
                    <a:pt x="15192" y="15192"/>
                  </a:lnTo>
                  <a:lnTo>
                    <a:pt x="31664" y="4077"/>
                  </a:lnTo>
                  <a:lnTo>
                    <a:pt x="51815" y="0"/>
                  </a:lnTo>
                  <a:lnTo>
                    <a:pt x="1164336" y="0"/>
                  </a:lnTo>
                  <a:lnTo>
                    <a:pt x="1184487" y="4077"/>
                  </a:lnTo>
                  <a:lnTo>
                    <a:pt x="1200959" y="15192"/>
                  </a:lnTo>
                  <a:lnTo>
                    <a:pt x="1212074" y="31664"/>
                  </a:lnTo>
                  <a:lnTo>
                    <a:pt x="1216152" y="51816"/>
                  </a:lnTo>
                  <a:lnTo>
                    <a:pt x="1216152" y="259080"/>
                  </a:lnTo>
                  <a:lnTo>
                    <a:pt x="1212074" y="279231"/>
                  </a:lnTo>
                  <a:lnTo>
                    <a:pt x="1200959" y="295703"/>
                  </a:lnTo>
                  <a:lnTo>
                    <a:pt x="1184487" y="306818"/>
                  </a:lnTo>
                  <a:lnTo>
                    <a:pt x="1164336" y="310895"/>
                  </a:lnTo>
                  <a:lnTo>
                    <a:pt x="51815" y="310895"/>
                  </a:lnTo>
                  <a:lnTo>
                    <a:pt x="31664" y="306818"/>
                  </a:lnTo>
                  <a:lnTo>
                    <a:pt x="15192" y="295703"/>
                  </a:lnTo>
                  <a:lnTo>
                    <a:pt x="4077" y="279231"/>
                  </a:lnTo>
                  <a:lnTo>
                    <a:pt x="0" y="259080"/>
                  </a:lnTo>
                  <a:lnTo>
                    <a:pt x="0" y="51816"/>
                  </a:lnTo>
                  <a:close/>
                </a:path>
              </a:pathLst>
            </a:custGeom>
            <a:ln w="6096">
              <a:solidFill>
                <a:srgbClr val="E7F0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216276" y="4647691"/>
            <a:ext cx="86042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-10" dirty="0">
                <a:solidFill>
                  <a:srgbClr val="094542"/>
                </a:solidFill>
                <a:latin typeface="Arial"/>
                <a:cs typeface="Arial"/>
              </a:rPr>
              <a:t>TEMPERATURE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3819144" y="4495800"/>
            <a:ext cx="7736205" cy="448309"/>
            <a:chOff x="3819144" y="4495800"/>
            <a:chExt cx="7736205" cy="448309"/>
          </a:xfrm>
        </p:grpSpPr>
        <p:sp>
          <p:nvSpPr>
            <p:cNvPr id="97" name="object 97"/>
            <p:cNvSpPr/>
            <p:nvPr/>
          </p:nvSpPr>
          <p:spPr>
            <a:xfrm>
              <a:off x="3823716" y="4500372"/>
              <a:ext cx="7726680" cy="439420"/>
            </a:xfrm>
            <a:custGeom>
              <a:avLst/>
              <a:gdLst/>
              <a:ahLst/>
              <a:cxnLst/>
              <a:rect l="l" t="t" r="r" b="b"/>
              <a:pathLst>
                <a:path w="7726680" h="439420">
                  <a:moveTo>
                    <a:pt x="76535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65759"/>
                  </a:lnTo>
                  <a:lnTo>
                    <a:pt x="5750" y="394227"/>
                  </a:lnTo>
                  <a:lnTo>
                    <a:pt x="21431" y="417480"/>
                  </a:lnTo>
                  <a:lnTo>
                    <a:pt x="44684" y="433161"/>
                  </a:lnTo>
                  <a:lnTo>
                    <a:pt x="73151" y="438911"/>
                  </a:lnTo>
                  <a:lnTo>
                    <a:pt x="7653528" y="438911"/>
                  </a:lnTo>
                  <a:lnTo>
                    <a:pt x="7681995" y="433161"/>
                  </a:lnTo>
                  <a:lnTo>
                    <a:pt x="7705248" y="417480"/>
                  </a:lnTo>
                  <a:lnTo>
                    <a:pt x="7720929" y="394227"/>
                  </a:lnTo>
                  <a:lnTo>
                    <a:pt x="7726680" y="365759"/>
                  </a:lnTo>
                  <a:lnTo>
                    <a:pt x="7726680" y="73151"/>
                  </a:lnTo>
                  <a:lnTo>
                    <a:pt x="7720929" y="44684"/>
                  </a:lnTo>
                  <a:lnTo>
                    <a:pt x="7705248" y="21431"/>
                  </a:lnTo>
                  <a:lnTo>
                    <a:pt x="7681995" y="5750"/>
                  </a:lnTo>
                  <a:lnTo>
                    <a:pt x="7653528" y="0"/>
                  </a:lnTo>
                  <a:close/>
                </a:path>
              </a:pathLst>
            </a:custGeom>
            <a:solidFill>
              <a:srgbClr val="F6E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823716" y="4500372"/>
              <a:ext cx="7726680" cy="439420"/>
            </a:xfrm>
            <a:custGeom>
              <a:avLst/>
              <a:gdLst/>
              <a:ahLst/>
              <a:cxnLst/>
              <a:rect l="l" t="t" r="r" b="b"/>
              <a:pathLst>
                <a:path w="7726680" h="43942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7653528" y="0"/>
                  </a:lnTo>
                  <a:lnTo>
                    <a:pt x="7681995" y="5750"/>
                  </a:lnTo>
                  <a:lnTo>
                    <a:pt x="7705248" y="21431"/>
                  </a:lnTo>
                  <a:lnTo>
                    <a:pt x="7720929" y="44684"/>
                  </a:lnTo>
                  <a:lnTo>
                    <a:pt x="7726680" y="73151"/>
                  </a:lnTo>
                  <a:lnTo>
                    <a:pt x="7726680" y="365759"/>
                  </a:lnTo>
                  <a:lnTo>
                    <a:pt x="7720929" y="394227"/>
                  </a:lnTo>
                  <a:lnTo>
                    <a:pt x="7705248" y="417480"/>
                  </a:lnTo>
                  <a:lnTo>
                    <a:pt x="7681995" y="433161"/>
                  </a:lnTo>
                  <a:lnTo>
                    <a:pt x="7653528" y="438911"/>
                  </a:lnTo>
                  <a:lnTo>
                    <a:pt x="73151" y="438911"/>
                  </a:lnTo>
                  <a:lnTo>
                    <a:pt x="44684" y="433161"/>
                  </a:lnTo>
                  <a:lnTo>
                    <a:pt x="21431" y="417480"/>
                  </a:lnTo>
                  <a:lnTo>
                    <a:pt x="5750" y="394227"/>
                  </a:lnTo>
                  <a:lnTo>
                    <a:pt x="0" y="365759"/>
                  </a:lnTo>
                  <a:lnTo>
                    <a:pt x="0" y="73151"/>
                  </a:lnTo>
                  <a:close/>
                </a:path>
              </a:pathLst>
            </a:custGeom>
            <a:ln w="9143">
              <a:solidFill>
                <a:srgbClr val="E8C6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4585461" y="4615688"/>
            <a:ext cx="619061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dirty="0">
                <a:solidFill>
                  <a:srgbClr val="B84949"/>
                </a:solidFill>
                <a:latin typeface="Arial"/>
                <a:cs typeface="Arial"/>
              </a:rPr>
              <a:t>GAP</a:t>
            </a:r>
            <a:r>
              <a:rPr sz="950" b="1" spc="260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B84949"/>
                </a:solidFill>
                <a:latin typeface="Arial"/>
                <a:cs typeface="Arial"/>
              </a:rPr>
              <a:t>→</a:t>
            </a:r>
            <a:r>
              <a:rPr sz="950" b="1" spc="220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B84949"/>
                </a:solidFill>
                <a:latin typeface="Arial"/>
                <a:cs typeface="Arial"/>
              </a:rPr>
              <a:t>the</a:t>
            </a:r>
            <a:r>
              <a:rPr sz="950" b="1" spc="5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B84949"/>
                </a:solidFill>
                <a:latin typeface="Arial"/>
                <a:cs typeface="Arial"/>
              </a:rPr>
              <a:t>system</a:t>
            </a:r>
            <a:r>
              <a:rPr sz="950" b="1" spc="-25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B84949"/>
                </a:solidFill>
                <a:latin typeface="Arial"/>
                <a:cs typeface="Arial"/>
              </a:rPr>
              <a:t>reacts</a:t>
            </a:r>
            <a:r>
              <a:rPr sz="950" b="1" spc="-40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B84949"/>
                </a:solidFill>
                <a:latin typeface="Arial"/>
                <a:cs typeface="Arial"/>
              </a:rPr>
              <a:t>to</a:t>
            </a:r>
            <a:r>
              <a:rPr sz="950" b="1" spc="-25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B84949"/>
                </a:solidFill>
                <a:latin typeface="Arial"/>
                <a:cs typeface="Arial"/>
              </a:rPr>
              <a:t>a</a:t>
            </a:r>
            <a:r>
              <a:rPr sz="950" b="1" spc="-20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B84949"/>
                </a:solidFill>
                <a:latin typeface="Arial"/>
                <a:cs typeface="Arial"/>
              </a:rPr>
              <a:t>developed</a:t>
            </a:r>
            <a:r>
              <a:rPr sz="950" b="1" spc="-25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B84949"/>
                </a:solidFill>
                <a:latin typeface="Arial"/>
                <a:cs typeface="Arial"/>
              </a:rPr>
              <a:t>fault;</a:t>
            </a:r>
            <a:r>
              <a:rPr sz="950" b="1" spc="5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B84949"/>
                </a:solidFill>
                <a:latin typeface="Arial"/>
                <a:cs typeface="Arial"/>
              </a:rPr>
              <a:t>subtle</a:t>
            </a:r>
            <a:r>
              <a:rPr sz="950" b="1" spc="-20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B84949"/>
                </a:solidFill>
                <a:latin typeface="Arial"/>
                <a:cs typeface="Arial"/>
              </a:rPr>
              <a:t>degradation</a:t>
            </a:r>
            <a:r>
              <a:rPr sz="950" b="1" spc="-40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B84949"/>
                </a:solidFill>
                <a:latin typeface="Arial"/>
                <a:cs typeface="Arial"/>
              </a:rPr>
              <a:t>can</a:t>
            </a:r>
            <a:r>
              <a:rPr sz="950" b="1" spc="-25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B84949"/>
                </a:solidFill>
                <a:latin typeface="Arial"/>
                <a:cs typeface="Arial"/>
              </a:rPr>
              <a:t>remain</a:t>
            </a:r>
            <a:r>
              <a:rPr sz="950" b="1" spc="-45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B84949"/>
                </a:solidFill>
                <a:latin typeface="Arial"/>
                <a:cs typeface="Arial"/>
              </a:rPr>
              <a:t>hidden</a:t>
            </a:r>
            <a:r>
              <a:rPr sz="950" b="1" spc="-25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B84949"/>
                </a:solidFill>
                <a:latin typeface="Arial"/>
                <a:cs typeface="Arial"/>
              </a:rPr>
              <a:t>between</a:t>
            </a:r>
            <a:r>
              <a:rPr sz="950" b="1" spc="-45" dirty="0">
                <a:solidFill>
                  <a:srgbClr val="B84949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B84949"/>
                </a:solidFill>
                <a:latin typeface="Arial"/>
                <a:cs typeface="Arial"/>
              </a:rPr>
              <a:t>inspections.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92936" y="4980304"/>
            <a:ext cx="1396365" cy="317500"/>
            <a:chOff x="892936" y="4980304"/>
            <a:chExt cx="1396365" cy="317500"/>
          </a:xfrm>
        </p:grpSpPr>
        <p:sp>
          <p:nvSpPr>
            <p:cNvPr id="45" name="object 45"/>
            <p:cNvSpPr/>
            <p:nvPr/>
          </p:nvSpPr>
          <p:spPr>
            <a:xfrm>
              <a:off x="896111" y="4983479"/>
              <a:ext cx="1390015" cy="311150"/>
            </a:xfrm>
            <a:custGeom>
              <a:avLst/>
              <a:gdLst/>
              <a:ahLst/>
              <a:cxnLst/>
              <a:rect l="l" t="t" r="r" b="b"/>
              <a:pathLst>
                <a:path w="1390014" h="311150">
                  <a:moveTo>
                    <a:pt x="1338071" y="0"/>
                  </a:moveTo>
                  <a:lnTo>
                    <a:pt x="51815" y="0"/>
                  </a:lnTo>
                  <a:lnTo>
                    <a:pt x="31648" y="4077"/>
                  </a:lnTo>
                  <a:lnTo>
                    <a:pt x="15178" y="15192"/>
                  </a:lnTo>
                  <a:lnTo>
                    <a:pt x="4072" y="31664"/>
                  </a:lnTo>
                  <a:lnTo>
                    <a:pt x="0" y="51816"/>
                  </a:lnTo>
                  <a:lnTo>
                    <a:pt x="0" y="259080"/>
                  </a:lnTo>
                  <a:lnTo>
                    <a:pt x="4072" y="279231"/>
                  </a:lnTo>
                  <a:lnTo>
                    <a:pt x="15178" y="295703"/>
                  </a:lnTo>
                  <a:lnTo>
                    <a:pt x="31648" y="306818"/>
                  </a:lnTo>
                  <a:lnTo>
                    <a:pt x="51815" y="310896"/>
                  </a:lnTo>
                  <a:lnTo>
                    <a:pt x="1338071" y="310896"/>
                  </a:lnTo>
                  <a:lnTo>
                    <a:pt x="1358223" y="306818"/>
                  </a:lnTo>
                  <a:lnTo>
                    <a:pt x="1374695" y="295703"/>
                  </a:lnTo>
                  <a:lnTo>
                    <a:pt x="1385810" y="279231"/>
                  </a:lnTo>
                  <a:lnTo>
                    <a:pt x="1389888" y="259080"/>
                  </a:lnTo>
                  <a:lnTo>
                    <a:pt x="1389888" y="51816"/>
                  </a:lnTo>
                  <a:lnTo>
                    <a:pt x="1385810" y="31664"/>
                  </a:lnTo>
                  <a:lnTo>
                    <a:pt x="1374695" y="15192"/>
                  </a:lnTo>
                  <a:lnTo>
                    <a:pt x="1358223" y="4077"/>
                  </a:lnTo>
                  <a:lnTo>
                    <a:pt x="1338071" y="0"/>
                  </a:lnTo>
                  <a:close/>
                </a:path>
              </a:pathLst>
            </a:custGeom>
            <a:solidFill>
              <a:srgbClr val="E8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6111" y="4983479"/>
              <a:ext cx="1390015" cy="311150"/>
            </a:xfrm>
            <a:custGeom>
              <a:avLst/>
              <a:gdLst/>
              <a:ahLst/>
              <a:cxnLst/>
              <a:rect l="l" t="t" r="r" b="b"/>
              <a:pathLst>
                <a:path w="1390014" h="311150">
                  <a:moveTo>
                    <a:pt x="0" y="51816"/>
                  </a:moveTo>
                  <a:lnTo>
                    <a:pt x="4072" y="31664"/>
                  </a:lnTo>
                  <a:lnTo>
                    <a:pt x="15178" y="15192"/>
                  </a:lnTo>
                  <a:lnTo>
                    <a:pt x="31648" y="4077"/>
                  </a:lnTo>
                  <a:lnTo>
                    <a:pt x="51815" y="0"/>
                  </a:lnTo>
                  <a:lnTo>
                    <a:pt x="1338071" y="0"/>
                  </a:lnTo>
                  <a:lnTo>
                    <a:pt x="1358223" y="4077"/>
                  </a:lnTo>
                  <a:lnTo>
                    <a:pt x="1374695" y="15192"/>
                  </a:lnTo>
                  <a:lnTo>
                    <a:pt x="1385810" y="31664"/>
                  </a:lnTo>
                  <a:lnTo>
                    <a:pt x="1389888" y="51816"/>
                  </a:lnTo>
                  <a:lnTo>
                    <a:pt x="1389888" y="259080"/>
                  </a:lnTo>
                  <a:lnTo>
                    <a:pt x="1385810" y="279231"/>
                  </a:lnTo>
                  <a:lnTo>
                    <a:pt x="1374695" y="295703"/>
                  </a:lnTo>
                  <a:lnTo>
                    <a:pt x="1358223" y="306818"/>
                  </a:lnTo>
                  <a:lnTo>
                    <a:pt x="1338071" y="310896"/>
                  </a:lnTo>
                  <a:lnTo>
                    <a:pt x="51815" y="310896"/>
                  </a:lnTo>
                  <a:lnTo>
                    <a:pt x="31648" y="306818"/>
                  </a:lnTo>
                  <a:lnTo>
                    <a:pt x="15178" y="295703"/>
                  </a:lnTo>
                  <a:lnTo>
                    <a:pt x="4072" y="279231"/>
                  </a:lnTo>
                  <a:lnTo>
                    <a:pt x="0" y="259080"/>
                  </a:lnTo>
                  <a:lnTo>
                    <a:pt x="0" y="51816"/>
                  </a:lnTo>
                  <a:close/>
                </a:path>
              </a:pathLst>
            </a:custGeom>
            <a:ln w="6096">
              <a:solidFill>
                <a:srgbClr val="E8F3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241247" y="5041138"/>
            <a:ext cx="70231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dirty="0">
                <a:solidFill>
                  <a:srgbClr val="094542"/>
                </a:solidFill>
                <a:latin typeface="Arial"/>
                <a:cs typeface="Arial"/>
              </a:rPr>
              <a:t>ARCING</a:t>
            </a:r>
            <a:r>
              <a:rPr sz="850" b="1" spc="40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094542"/>
                </a:solidFill>
                <a:latin typeface="Arial"/>
                <a:cs typeface="Arial"/>
              </a:rPr>
              <a:t>/</a:t>
            </a:r>
            <a:r>
              <a:rPr sz="850" b="1" spc="-5" dirty="0">
                <a:solidFill>
                  <a:srgbClr val="094542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094542"/>
                </a:solidFill>
                <a:latin typeface="Arial"/>
                <a:cs typeface="Arial"/>
              </a:rPr>
              <a:t>PD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401823" y="4980432"/>
            <a:ext cx="856615" cy="317500"/>
            <a:chOff x="2401823" y="4980432"/>
            <a:chExt cx="856615" cy="317500"/>
          </a:xfrm>
        </p:grpSpPr>
        <p:sp>
          <p:nvSpPr>
            <p:cNvPr id="49" name="object 49"/>
            <p:cNvSpPr/>
            <p:nvPr/>
          </p:nvSpPr>
          <p:spPr>
            <a:xfrm>
              <a:off x="2404871" y="4983480"/>
              <a:ext cx="850900" cy="311150"/>
            </a:xfrm>
            <a:custGeom>
              <a:avLst/>
              <a:gdLst/>
              <a:ahLst/>
              <a:cxnLst/>
              <a:rect l="l" t="t" r="r" b="b"/>
              <a:pathLst>
                <a:path w="850900" h="311150">
                  <a:moveTo>
                    <a:pt x="798576" y="0"/>
                  </a:moveTo>
                  <a:lnTo>
                    <a:pt x="51815" y="0"/>
                  </a:lnTo>
                  <a:lnTo>
                    <a:pt x="31664" y="4077"/>
                  </a:lnTo>
                  <a:lnTo>
                    <a:pt x="15192" y="15192"/>
                  </a:lnTo>
                  <a:lnTo>
                    <a:pt x="4077" y="31664"/>
                  </a:lnTo>
                  <a:lnTo>
                    <a:pt x="0" y="51816"/>
                  </a:lnTo>
                  <a:lnTo>
                    <a:pt x="0" y="259080"/>
                  </a:lnTo>
                  <a:lnTo>
                    <a:pt x="4077" y="279231"/>
                  </a:lnTo>
                  <a:lnTo>
                    <a:pt x="15192" y="295703"/>
                  </a:lnTo>
                  <a:lnTo>
                    <a:pt x="31664" y="306818"/>
                  </a:lnTo>
                  <a:lnTo>
                    <a:pt x="51815" y="310896"/>
                  </a:lnTo>
                  <a:lnTo>
                    <a:pt x="798576" y="310896"/>
                  </a:lnTo>
                  <a:lnTo>
                    <a:pt x="818727" y="306818"/>
                  </a:lnTo>
                  <a:lnTo>
                    <a:pt x="835199" y="295703"/>
                  </a:lnTo>
                  <a:lnTo>
                    <a:pt x="846314" y="279231"/>
                  </a:lnTo>
                  <a:lnTo>
                    <a:pt x="850391" y="259080"/>
                  </a:lnTo>
                  <a:lnTo>
                    <a:pt x="850391" y="51816"/>
                  </a:lnTo>
                  <a:lnTo>
                    <a:pt x="846314" y="31664"/>
                  </a:lnTo>
                  <a:lnTo>
                    <a:pt x="835199" y="15192"/>
                  </a:lnTo>
                  <a:lnTo>
                    <a:pt x="818727" y="4077"/>
                  </a:lnTo>
                  <a:lnTo>
                    <a:pt x="798576" y="0"/>
                  </a:lnTo>
                  <a:close/>
                </a:path>
              </a:pathLst>
            </a:custGeom>
            <a:solidFill>
              <a:srgbClr val="E8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404871" y="4983480"/>
              <a:ext cx="850900" cy="311150"/>
            </a:xfrm>
            <a:custGeom>
              <a:avLst/>
              <a:gdLst/>
              <a:ahLst/>
              <a:cxnLst/>
              <a:rect l="l" t="t" r="r" b="b"/>
              <a:pathLst>
                <a:path w="850900" h="311150">
                  <a:moveTo>
                    <a:pt x="0" y="51816"/>
                  </a:moveTo>
                  <a:lnTo>
                    <a:pt x="4077" y="31664"/>
                  </a:lnTo>
                  <a:lnTo>
                    <a:pt x="15192" y="15192"/>
                  </a:lnTo>
                  <a:lnTo>
                    <a:pt x="31664" y="4077"/>
                  </a:lnTo>
                  <a:lnTo>
                    <a:pt x="51815" y="0"/>
                  </a:lnTo>
                  <a:lnTo>
                    <a:pt x="798576" y="0"/>
                  </a:lnTo>
                  <a:lnTo>
                    <a:pt x="818727" y="4077"/>
                  </a:lnTo>
                  <a:lnTo>
                    <a:pt x="835199" y="15192"/>
                  </a:lnTo>
                  <a:lnTo>
                    <a:pt x="846314" y="31664"/>
                  </a:lnTo>
                  <a:lnTo>
                    <a:pt x="850391" y="51816"/>
                  </a:lnTo>
                  <a:lnTo>
                    <a:pt x="850391" y="259080"/>
                  </a:lnTo>
                  <a:lnTo>
                    <a:pt x="846314" y="279231"/>
                  </a:lnTo>
                  <a:lnTo>
                    <a:pt x="835199" y="295703"/>
                  </a:lnTo>
                  <a:lnTo>
                    <a:pt x="818727" y="306818"/>
                  </a:lnTo>
                  <a:lnTo>
                    <a:pt x="798576" y="310896"/>
                  </a:lnTo>
                  <a:lnTo>
                    <a:pt x="51815" y="310896"/>
                  </a:lnTo>
                  <a:lnTo>
                    <a:pt x="31664" y="306818"/>
                  </a:lnTo>
                  <a:lnTo>
                    <a:pt x="15192" y="295703"/>
                  </a:lnTo>
                  <a:lnTo>
                    <a:pt x="4077" y="279231"/>
                  </a:lnTo>
                  <a:lnTo>
                    <a:pt x="0" y="259080"/>
                  </a:lnTo>
                  <a:lnTo>
                    <a:pt x="0" y="51816"/>
                  </a:lnTo>
                  <a:close/>
                </a:path>
              </a:pathLst>
            </a:custGeom>
            <a:ln w="6096">
              <a:solidFill>
                <a:srgbClr val="E8F3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648839" y="5041138"/>
            <a:ext cx="36449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-10" dirty="0">
                <a:solidFill>
                  <a:srgbClr val="094542"/>
                </a:solidFill>
                <a:latin typeface="Arial"/>
                <a:cs typeface="Arial"/>
              </a:rPr>
              <a:t>NOISE</a:t>
            </a:r>
            <a:endParaRPr sz="8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846957" y="5074107"/>
            <a:ext cx="152082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dirty="0">
                <a:solidFill>
                  <a:srgbClr val="094542"/>
                </a:solidFill>
                <a:latin typeface="Arial"/>
                <a:cs typeface="Arial"/>
              </a:rPr>
              <a:t>DESIRED</a:t>
            </a:r>
            <a:r>
              <a:rPr sz="1150" b="1" spc="-10" dirty="0">
                <a:solidFill>
                  <a:srgbClr val="094542"/>
                </a:solidFill>
                <a:latin typeface="Arial"/>
                <a:cs typeface="Arial"/>
              </a:rPr>
              <a:t> DIRECTION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09294" y="5433822"/>
            <a:ext cx="2140585" cy="3048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36245" marR="5080" indent="-424180">
              <a:lnSpc>
                <a:spcPct val="102200"/>
              </a:lnSpc>
              <a:spcBef>
                <a:spcPts val="85"/>
              </a:spcBef>
            </a:pPr>
            <a:r>
              <a:rPr sz="900" i="1" dirty="0">
                <a:solidFill>
                  <a:srgbClr val="5B6E6B"/>
                </a:solidFill>
                <a:latin typeface="Arial"/>
                <a:cs typeface="Arial"/>
              </a:rPr>
              <a:t>Opportunity:</a:t>
            </a:r>
            <a:r>
              <a:rPr sz="900" i="1" spc="1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5B6E6B"/>
                </a:solidFill>
                <a:latin typeface="Arial"/>
                <a:cs typeface="Arial"/>
              </a:rPr>
              <a:t>sense</a:t>
            </a:r>
            <a:r>
              <a:rPr sz="900" i="1" spc="30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5B6E6B"/>
                </a:solidFill>
                <a:latin typeface="Arial"/>
                <a:cs typeface="Arial"/>
              </a:rPr>
              <a:t>small</a:t>
            </a:r>
            <a:r>
              <a:rPr sz="900" i="1" spc="6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5B6E6B"/>
                </a:solidFill>
                <a:latin typeface="Arial"/>
                <a:cs typeface="Arial"/>
              </a:rPr>
              <a:t>changes</a:t>
            </a:r>
            <a:r>
              <a:rPr sz="900" i="1" spc="3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5B6E6B"/>
                </a:solidFill>
                <a:latin typeface="Arial"/>
                <a:cs typeface="Arial"/>
              </a:rPr>
              <a:t>before </a:t>
            </a:r>
            <a:r>
              <a:rPr sz="900" i="1" dirty="0">
                <a:solidFill>
                  <a:srgbClr val="5B6E6B"/>
                </a:solidFill>
                <a:latin typeface="Arial"/>
                <a:cs typeface="Arial"/>
              </a:rPr>
              <a:t>fault</a:t>
            </a:r>
            <a:r>
              <a:rPr sz="900" i="1" spc="-1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5B6E6B"/>
                </a:solidFill>
                <a:latin typeface="Arial"/>
                <a:cs typeface="Arial"/>
              </a:rPr>
              <a:t>conditions</a:t>
            </a:r>
            <a:r>
              <a:rPr sz="900" i="1" spc="6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5B6E6B"/>
                </a:solidFill>
                <a:latin typeface="Arial"/>
                <a:cs typeface="Arial"/>
              </a:rPr>
              <a:t>escalate.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3815841" y="5370321"/>
            <a:ext cx="1036955" cy="762635"/>
            <a:chOff x="3815841" y="5370321"/>
            <a:chExt cx="1036955" cy="762635"/>
          </a:xfrm>
        </p:grpSpPr>
        <p:sp>
          <p:nvSpPr>
            <p:cNvPr id="102" name="object 102"/>
            <p:cNvSpPr/>
            <p:nvPr/>
          </p:nvSpPr>
          <p:spPr>
            <a:xfrm>
              <a:off x="3822191" y="5376671"/>
              <a:ext cx="1024255" cy="749935"/>
            </a:xfrm>
            <a:custGeom>
              <a:avLst/>
              <a:gdLst/>
              <a:ahLst/>
              <a:cxnLst/>
              <a:rect l="l" t="t" r="r" b="b"/>
              <a:pathLst>
                <a:path w="1024254" h="749935">
                  <a:moveTo>
                    <a:pt x="899160" y="0"/>
                  </a:moveTo>
                  <a:lnTo>
                    <a:pt x="124968" y="0"/>
                  </a:lnTo>
                  <a:lnTo>
                    <a:pt x="76348" y="9828"/>
                  </a:lnTo>
                  <a:lnTo>
                    <a:pt x="36623" y="36623"/>
                  </a:lnTo>
                  <a:lnTo>
                    <a:pt x="9828" y="76348"/>
                  </a:lnTo>
                  <a:lnTo>
                    <a:pt x="0" y="124967"/>
                  </a:lnTo>
                  <a:lnTo>
                    <a:pt x="0" y="624839"/>
                  </a:lnTo>
                  <a:lnTo>
                    <a:pt x="9828" y="673480"/>
                  </a:lnTo>
                  <a:lnTo>
                    <a:pt x="36623" y="713203"/>
                  </a:lnTo>
                  <a:lnTo>
                    <a:pt x="76348" y="739986"/>
                  </a:lnTo>
                  <a:lnTo>
                    <a:pt x="124968" y="749807"/>
                  </a:lnTo>
                  <a:lnTo>
                    <a:pt x="899160" y="749807"/>
                  </a:lnTo>
                  <a:lnTo>
                    <a:pt x="947779" y="739986"/>
                  </a:lnTo>
                  <a:lnTo>
                    <a:pt x="987504" y="713203"/>
                  </a:lnTo>
                  <a:lnTo>
                    <a:pt x="1014299" y="673480"/>
                  </a:lnTo>
                  <a:lnTo>
                    <a:pt x="1024128" y="624839"/>
                  </a:lnTo>
                  <a:lnTo>
                    <a:pt x="1024128" y="124967"/>
                  </a:lnTo>
                  <a:lnTo>
                    <a:pt x="1014299" y="76348"/>
                  </a:lnTo>
                  <a:lnTo>
                    <a:pt x="987504" y="36623"/>
                  </a:lnTo>
                  <a:lnTo>
                    <a:pt x="947779" y="9828"/>
                  </a:lnTo>
                  <a:lnTo>
                    <a:pt x="899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822191" y="5376671"/>
              <a:ext cx="1024255" cy="749935"/>
            </a:xfrm>
            <a:custGeom>
              <a:avLst/>
              <a:gdLst/>
              <a:ahLst/>
              <a:cxnLst/>
              <a:rect l="l" t="t" r="r" b="b"/>
              <a:pathLst>
                <a:path w="1024254" h="749935">
                  <a:moveTo>
                    <a:pt x="0" y="124967"/>
                  </a:moveTo>
                  <a:lnTo>
                    <a:pt x="9828" y="76348"/>
                  </a:lnTo>
                  <a:lnTo>
                    <a:pt x="36623" y="36623"/>
                  </a:lnTo>
                  <a:lnTo>
                    <a:pt x="76348" y="9828"/>
                  </a:lnTo>
                  <a:lnTo>
                    <a:pt x="124968" y="0"/>
                  </a:lnTo>
                  <a:lnTo>
                    <a:pt x="899160" y="0"/>
                  </a:lnTo>
                  <a:lnTo>
                    <a:pt x="947779" y="9828"/>
                  </a:lnTo>
                  <a:lnTo>
                    <a:pt x="987504" y="36623"/>
                  </a:lnTo>
                  <a:lnTo>
                    <a:pt x="1014299" y="76348"/>
                  </a:lnTo>
                  <a:lnTo>
                    <a:pt x="1024128" y="124967"/>
                  </a:lnTo>
                  <a:lnTo>
                    <a:pt x="1024128" y="624839"/>
                  </a:lnTo>
                  <a:lnTo>
                    <a:pt x="1014299" y="673480"/>
                  </a:lnTo>
                  <a:lnTo>
                    <a:pt x="987504" y="713203"/>
                  </a:lnTo>
                  <a:lnTo>
                    <a:pt x="947779" y="739986"/>
                  </a:lnTo>
                  <a:lnTo>
                    <a:pt x="899160" y="749807"/>
                  </a:lnTo>
                  <a:lnTo>
                    <a:pt x="124968" y="749807"/>
                  </a:lnTo>
                  <a:lnTo>
                    <a:pt x="76348" y="739986"/>
                  </a:lnTo>
                  <a:lnTo>
                    <a:pt x="36623" y="713203"/>
                  </a:lnTo>
                  <a:lnTo>
                    <a:pt x="9828" y="673480"/>
                  </a:lnTo>
                  <a:lnTo>
                    <a:pt x="0" y="624839"/>
                  </a:lnTo>
                  <a:lnTo>
                    <a:pt x="0" y="124967"/>
                  </a:lnTo>
                  <a:close/>
                </a:path>
              </a:pathLst>
            </a:custGeom>
            <a:ln w="12192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 descr="bolt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78807" y="5449823"/>
              <a:ext cx="274320" cy="274319"/>
            </a:xfrm>
            <a:prstGeom prst="rect">
              <a:avLst/>
            </a:prstGeom>
          </p:spPr>
        </p:pic>
      </p:grpSp>
      <p:sp>
        <p:nvSpPr>
          <p:cNvPr id="105" name="object 105"/>
          <p:cNvSpPr txBox="1"/>
          <p:nvPr/>
        </p:nvSpPr>
        <p:spPr>
          <a:xfrm>
            <a:off x="4106671" y="5669848"/>
            <a:ext cx="454025" cy="3581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515"/>
              </a:spcBef>
            </a:pPr>
            <a:r>
              <a:rPr sz="850" b="1" spc="-10" dirty="0">
                <a:solidFill>
                  <a:srgbClr val="094542"/>
                </a:solidFill>
                <a:latin typeface="Arial"/>
                <a:cs typeface="Arial"/>
              </a:rPr>
              <a:t>Normal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continuous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4837048" y="5370321"/>
            <a:ext cx="1296035" cy="762635"/>
            <a:chOff x="4837048" y="5370321"/>
            <a:chExt cx="1296035" cy="762635"/>
          </a:xfrm>
        </p:grpSpPr>
        <p:sp>
          <p:nvSpPr>
            <p:cNvPr id="107" name="object 107"/>
            <p:cNvSpPr/>
            <p:nvPr/>
          </p:nvSpPr>
          <p:spPr>
            <a:xfrm>
              <a:off x="4847843" y="5743955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>
                  <a:moveTo>
                    <a:pt x="0" y="0"/>
                  </a:moveTo>
                  <a:lnTo>
                    <a:pt x="237743" y="0"/>
                  </a:lnTo>
                </a:path>
              </a:pathLst>
            </a:custGeom>
            <a:ln w="21336">
              <a:solidFill>
                <a:srgbClr val="0168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102351" y="5376671"/>
              <a:ext cx="1024255" cy="749935"/>
            </a:xfrm>
            <a:custGeom>
              <a:avLst/>
              <a:gdLst/>
              <a:ahLst/>
              <a:cxnLst/>
              <a:rect l="l" t="t" r="r" b="b"/>
              <a:pathLst>
                <a:path w="1024254" h="749935">
                  <a:moveTo>
                    <a:pt x="899160" y="0"/>
                  </a:moveTo>
                  <a:lnTo>
                    <a:pt x="124968" y="0"/>
                  </a:lnTo>
                  <a:lnTo>
                    <a:pt x="76348" y="9828"/>
                  </a:lnTo>
                  <a:lnTo>
                    <a:pt x="36623" y="36623"/>
                  </a:lnTo>
                  <a:lnTo>
                    <a:pt x="9828" y="76348"/>
                  </a:lnTo>
                  <a:lnTo>
                    <a:pt x="0" y="124967"/>
                  </a:lnTo>
                  <a:lnTo>
                    <a:pt x="0" y="624839"/>
                  </a:lnTo>
                  <a:lnTo>
                    <a:pt x="9828" y="673480"/>
                  </a:lnTo>
                  <a:lnTo>
                    <a:pt x="36623" y="713203"/>
                  </a:lnTo>
                  <a:lnTo>
                    <a:pt x="76348" y="739986"/>
                  </a:lnTo>
                  <a:lnTo>
                    <a:pt x="124968" y="749807"/>
                  </a:lnTo>
                  <a:lnTo>
                    <a:pt x="899160" y="749807"/>
                  </a:lnTo>
                  <a:lnTo>
                    <a:pt x="947779" y="739986"/>
                  </a:lnTo>
                  <a:lnTo>
                    <a:pt x="987504" y="713203"/>
                  </a:lnTo>
                  <a:lnTo>
                    <a:pt x="1014299" y="673480"/>
                  </a:lnTo>
                  <a:lnTo>
                    <a:pt x="1024127" y="624839"/>
                  </a:lnTo>
                  <a:lnTo>
                    <a:pt x="1024127" y="124967"/>
                  </a:lnTo>
                  <a:lnTo>
                    <a:pt x="1014299" y="76348"/>
                  </a:lnTo>
                  <a:lnTo>
                    <a:pt x="987504" y="36623"/>
                  </a:lnTo>
                  <a:lnTo>
                    <a:pt x="947779" y="9828"/>
                  </a:lnTo>
                  <a:lnTo>
                    <a:pt x="899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102351" y="5376671"/>
              <a:ext cx="1024255" cy="749935"/>
            </a:xfrm>
            <a:custGeom>
              <a:avLst/>
              <a:gdLst/>
              <a:ahLst/>
              <a:cxnLst/>
              <a:rect l="l" t="t" r="r" b="b"/>
              <a:pathLst>
                <a:path w="1024254" h="749935">
                  <a:moveTo>
                    <a:pt x="0" y="124967"/>
                  </a:moveTo>
                  <a:lnTo>
                    <a:pt x="9828" y="76348"/>
                  </a:lnTo>
                  <a:lnTo>
                    <a:pt x="36623" y="36623"/>
                  </a:lnTo>
                  <a:lnTo>
                    <a:pt x="76348" y="9828"/>
                  </a:lnTo>
                  <a:lnTo>
                    <a:pt x="124968" y="0"/>
                  </a:lnTo>
                  <a:lnTo>
                    <a:pt x="899160" y="0"/>
                  </a:lnTo>
                  <a:lnTo>
                    <a:pt x="947779" y="9828"/>
                  </a:lnTo>
                  <a:lnTo>
                    <a:pt x="987504" y="36623"/>
                  </a:lnTo>
                  <a:lnTo>
                    <a:pt x="1014299" y="76348"/>
                  </a:lnTo>
                  <a:lnTo>
                    <a:pt x="1024127" y="124967"/>
                  </a:lnTo>
                  <a:lnTo>
                    <a:pt x="1024127" y="624839"/>
                  </a:lnTo>
                  <a:lnTo>
                    <a:pt x="1014299" y="673480"/>
                  </a:lnTo>
                  <a:lnTo>
                    <a:pt x="987504" y="713203"/>
                  </a:lnTo>
                  <a:lnTo>
                    <a:pt x="947779" y="739986"/>
                  </a:lnTo>
                  <a:lnTo>
                    <a:pt x="899160" y="749807"/>
                  </a:lnTo>
                  <a:lnTo>
                    <a:pt x="124968" y="749807"/>
                  </a:lnTo>
                  <a:lnTo>
                    <a:pt x="76348" y="739986"/>
                  </a:lnTo>
                  <a:lnTo>
                    <a:pt x="36623" y="713203"/>
                  </a:lnTo>
                  <a:lnTo>
                    <a:pt x="9828" y="673480"/>
                  </a:lnTo>
                  <a:lnTo>
                    <a:pt x="0" y="624839"/>
                  </a:lnTo>
                  <a:lnTo>
                    <a:pt x="0" y="124967"/>
                  </a:lnTo>
                  <a:close/>
                </a:path>
              </a:pathLst>
            </a:custGeom>
            <a:ln w="12192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 descr="dashboard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58967" y="5449823"/>
              <a:ext cx="274320" cy="274319"/>
            </a:xfrm>
            <a:prstGeom prst="rect">
              <a:avLst/>
            </a:prstGeom>
          </p:spPr>
        </p:pic>
      </p:grpSp>
      <p:sp>
        <p:nvSpPr>
          <p:cNvPr id="111" name="object 111"/>
          <p:cNvSpPr txBox="1"/>
          <p:nvPr/>
        </p:nvSpPr>
        <p:spPr>
          <a:xfrm>
            <a:off x="5393182" y="5669848"/>
            <a:ext cx="443230" cy="3581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515"/>
              </a:spcBef>
            </a:pPr>
            <a:r>
              <a:rPr sz="850" b="1" spc="-10" dirty="0">
                <a:solidFill>
                  <a:srgbClr val="094542"/>
                </a:solidFill>
                <a:latin typeface="Arial"/>
                <a:cs typeface="Arial"/>
              </a:rPr>
              <a:t>Sense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monitoring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6117209" y="5370321"/>
            <a:ext cx="1296035" cy="762635"/>
            <a:chOff x="6117209" y="5370321"/>
            <a:chExt cx="1296035" cy="762635"/>
          </a:xfrm>
        </p:grpSpPr>
        <p:sp>
          <p:nvSpPr>
            <p:cNvPr id="113" name="object 113"/>
            <p:cNvSpPr/>
            <p:nvPr/>
          </p:nvSpPr>
          <p:spPr>
            <a:xfrm>
              <a:off x="6128004" y="5743955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>
                  <a:moveTo>
                    <a:pt x="0" y="0"/>
                  </a:moveTo>
                  <a:lnTo>
                    <a:pt x="237744" y="0"/>
                  </a:lnTo>
                </a:path>
              </a:pathLst>
            </a:custGeom>
            <a:ln w="21336">
              <a:solidFill>
                <a:srgbClr val="0168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382512" y="5376671"/>
              <a:ext cx="1024255" cy="749935"/>
            </a:xfrm>
            <a:custGeom>
              <a:avLst/>
              <a:gdLst/>
              <a:ahLst/>
              <a:cxnLst/>
              <a:rect l="l" t="t" r="r" b="b"/>
              <a:pathLst>
                <a:path w="1024254" h="749935">
                  <a:moveTo>
                    <a:pt x="899160" y="0"/>
                  </a:moveTo>
                  <a:lnTo>
                    <a:pt x="124967" y="0"/>
                  </a:lnTo>
                  <a:lnTo>
                    <a:pt x="76348" y="9828"/>
                  </a:lnTo>
                  <a:lnTo>
                    <a:pt x="36623" y="36623"/>
                  </a:lnTo>
                  <a:lnTo>
                    <a:pt x="9828" y="76348"/>
                  </a:lnTo>
                  <a:lnTo>
                    <a:pt x="0" y="124967"/>
                  </a:lnTo>
                  <a:lnTo>
                    <a:pt x="0" y="624839"/>
                  </a:lnTo>
                  <a:lnTo>
                    <a:pt x="9828" y="673480"/>
                  </a:lnTo>
                  <a:lnTo>
                    <a:pt x="36623" y="713203"/>
                  </a:lnTo>
                  <a:lnTo>
                    <a:pt x="76348" y="739986"/>
                  </a:lnTo>
                  <a:lnTo>
                    <a:pt x="124967" y="749807"/>
                  </a:lnTo>
                  <a:lnTo>
                    <a:pt x="899160" y="749807"/>
                  </a:lnTo>
                  <a:lnTo>
                    <a:pt x="947779" y="739986"/>
                  </a:lnTo>
                  <a:lnTo>
                    <a:pt x="987504" y="713203"/>
                  </a:lnTo>
                  <a:lnTo>
                    <a:pt x="1014299" y="673480"/>
                  </a:lnTo>
                  <a:lnTo>
                    <a:pt x="1024128" y="624839"/>
                  </a:lnTo>
                  <a:lnTo>
                    <a:pt x="1024128" y="124967"/>
                  </a:lnTo>
                  <a:lnTo>
                    <a:pt x="1014299" y="76348"/>
                  </a:lnTo>
                  <a:lnTo>
                    <a:pt x="987504" y="36623"/>
                  </a:lnTo>
                  <a:lnTo>
                    <a:pt x="947779" y="9828"/>
                  </a:lnTo>
                  <a:lnTo>
                    <a:pt x="899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382512" y="5376671"/>
              <a:ext cx="1024255" cy="749935"/>
            </a:xfrm>
            <a:custGeom>
              <a:avLst/>
              <a:gdLst/>
              <a:ahLst/>
              <a:cxnLst/>
              <a:rect l="l" t="t" r="r" b="b"/>
              <a:pathLst>
                <a:path w="1024254" h="749935">
                  <a:moveTo>
                    <a:pt x="0" y="124967"/>
                  </a:moveTo>
                  <a:lnTo>
                    <a:pt x="9828" y="76348"/>
                  </a:lnTo>
                  <a:lnTo>
                    <a:pt x="36623" y="36623"/>
                  </a:lnTo>
                  <a:lnTo>
                    <a:pt x="76348" y="9828"/>
                  </a:lnTo>
                  <a:lnTo>
                    <a:pt x="124967" y="0"/>
                  </a:lnTo>
                  <a:lnTo>
                    <a:pt x="899160" y="0"/>
                  </a:lnTo>
                  <a:lnTo>
                    <a:pt x="947779" y="9828"/>
                  </a:lnTo>
                  <a:lnTo>
                    <a:pt x="987504" y="36623"/>
                  </a:lnTo>
                  <a:lnTo>
                    <a:pt x="1014299" y="76348"/>
                  </a:lnTo>
                  <a:lnTo>
                    <a:pt x="1024128" y="124967"/>
                  </a:lnTo>
                  <a:lnTo>
                    <a:pt x="1024128" y="624839"/>
                  </a:lnTo>
                  <a:lnTo>
                    <a:pt x="1014299" y="673480"/>
                  </a:lnTo>
                  <a:lnTo>
                    <a:pt x="987504" y="713203"/>
                  </a:lnTo>
                  <a:lnTo>
                    <a:pt x="947779" y="739986"/>
                  </a:lnTo>
                  <a:lnTo>
                    <a:pt x="899160" y="749807"/>
                  </a:lnTo>
                  <a:lnTo>
                    <a:pt x="124967" y="749807"/>
                  </a:lnTo>
                  <a:lnTo>
                    <a:pt x="76348" y="739986"/>
                  </a:lnTo>
                  <a:lnTo>
                    <a:pt x="36623" y="713203"/>
                  </a:lnTo>
                  <a:lnTo>
                    <a:pt x="9828" y="673480"/>
                  </a:lnTo>
                  <a:lnTo>
                    <a:pt x="0" y="624839"/>
                  </a:lnTo>
                  <a:lnTo>
                    <a:pt x="0" y="124967"/>
                  </a:lnTo>
                  <a:close/>
                </a:path>
              </a:pathLst>
            </a:custGeom>
            <a:ln w="12192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 descr="linechart.png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39128" y="5449823"/>
              <a:ext cx="274320" cy="274319"/>
            </a:xfrm>
            <a:prstGeom prst="rect">
              <a:avLst/>
            </a:prstGeom>
          </p:spPr>
        </p:pic>
      </p:grpSp>
      <p:sp>
        <p:nvSpPr>
          <p:cNvPr id="117" name="object 117"/>
          <p:cNvSpPr txBox="1"/>
          <p:nvPr/>
        </p:nvSpPr>
        <p:spPr>
          <a:xfrm>
            <a:off x="6609715" y="5669848"/>
            <a:ext cx="575310" cy="3581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850" b="1" spc="-10" dirty="0">
                <a:solidFill>
                  <a:srgbClr val="094542"/>
                </a:solidFill>
                <a:latin typeface="Arial"/>
                <a:cs typeface="Arial"/>
              </a:rPr>
              <a:t>Detect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700" dirty="0">
                <a:solidFill>
                  <a:srgbClr val="5B6E6B"/>
                </a:solidFill>
                <a:latin typeface="Arial"/>
                <a:cs typeface="Arial"/>
              </a:rPr>
              <a:t>early</a:t>
            </a:r>
            <a:r>
              <a:rPr sz="700" spc="-50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anomaly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7397368" y="5370321"/>
            <a:ext cx="1296035" cy="762635"/>
            <a:chOff x="7397368" y="5370321"/>
            <a:chExt cx="1296035" cy="762635"/>
          </a:xfrm>
        </p:grpSpPr>
        <p:sp>
          <p:nvSpPr>
            <p:cNvPr id="119" name="object 119"/>
            <p:cNvSpPr/>
            <p:nvPr/>
          </p:nvSpPr>
          <p:spPr>
            <a:xfrm>
              <a:off x="7408163" y="5743955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>
                  <a:moveTo>
                    <a:pt x="0" y="0"/>
                  </a:moveTo>
                  <a:lnTo>
                    <a:pt x="237743" y="0"/>
                  </a:lnTo>
                </a:path>
              </a:pathLst>
            </a:custGeom>
            <a:ln w="21336">
              <a:solidFill>
                <a:srgbClr val="0168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662671" y="5376671"/>
              <a:ext cx="1024255" cy="749935"/>
            </a:xfrm>
            <a:custGeom>
              <a:avLst/>
              <a:gdLst/>
              <a:ahLst/>
              <a:cxnLst/>
              <a:rect l="l" t="t" r="r" b="b"/>
              <a:pathLst>
                <a:path w="1024254" h="749935">
                  <a:moveTo>
                    <a:pt x="899159" y="0"/>
                  </a:moveTo>
                  <a:lnTo>
                    <a:pt x="124968" y="0"/>
                  </a:lnTo>
                  <a:lnTo>
                    <a:pt x="76348" y="9828"/>
                  </a:lnTo>
                  <a:lnTo>
                    <a:pt x="36623" y="36623"/>
                  </a:lnTo>
                  <a:lnTo>
                    <a:pt x="9828" y="76348"/>
                  </a:lnTo>
                  <a:lnTo>
                    <a:pt x="0" y="124967"/>
                  </a:lnTo>
                  <a:lnTo>
                    <a:pt x="0" y="624839"/>
                  </a:lnTo>
                  <a:lnTo>
                    <a:pt x="9828" y="673480"/>
                  </a:lnTo>
                  <a:lnTo>
                    <a:pt x="36623" y="713203"/>
                  </a:lnTo>
                  <a:lnTo>
                    <a:pt x="76348" y="739986"/>
                  </a:lnTo>
                  <a:lnTo>
                    <a:pt x="124968" y="749807"/>
                  </a:lnTo>
                  <a:lnTo>
                    <a:pt x="899159" y="749807"/>
                  </a:lnTo>
                  <a:lnTo>
                    <a:pt x="947779" y="739986"/>
                  </a:lnTo>
                  <a:lnTo>
                    <a:pt x="987504" y="713203"/>
                  </a:lnTo>
                  <a:lnTo>
                    <a:pt x="1014299" y="673480"/>
                  </a:lnTo>
                  <a:lnTo>
                    <a:pt x="1024127" y="624839"/>
                  </a:lnTo>
                  <a:lnTo>
                    <a:pt x="1024127" y="124967"/>
                  </a:lnTo>
                  <a:lnTo>
                    <a:pt x="1014299" y="76348"/>
                  </a:lnTo>
                  <a:lnTo>
                    <a:pt x="987504" y="36623"/>
                  </a:lnTo>
                  <a:lnTo>
                    <a:pt x="947779" y="9828"/>
                  </a:lnTo>
                  <a:lnTo>
                    <a:pt x="899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662671" y="5376671"/>
              <a:ext cx="1024255" cy="749935"/>
            </a:xfrm>
            <a:custGeom>
              <a:avLst/>
              <a:gdLst/>
              <a:ahLst/>
              <a:cxnLst/>
              <a:rect l="l" t="t" r="r" b="b"/>
              <a:pathLst>
                <a:path w="1024254" h="749935">
                  <a:moveTo>
                    <a:pt x="0" y="124967"/>
                  </a:moveTo>
                  <a:lnTo>
                    <a:pt x="9828" y="76348"/>
                  </a:lnTo>
                  <a:lnTo>
                    <a:pt x="36623" y="36623"/>
                  </a:lnTo>
                  <a:lnTo>
                    <a:pt x="76348" y="9828"/>
                  </a:lnTo>
                  <a:lnTo>
                    <a:pt x="124968" y="0"/>
                  </a:lnTo>
                  <a:lnTo>
                    <a:pt x="899159" y="0"/>
                  </a:lnTo>
                  <a:lnTo>
                    <a:pt x="947779" y="9828"/>
                  </a:lnTo>
                  <a:lnTo>
                    <a:pt x="987504" y="36623"/>
                  </a:lnTo>
                  <a:lnTo>
                    <a:pt x="1014299" y="76348"/>
                  </a:lnTo>
                  <a:lnTo>
                    <a:pt x="1024127" y="124967"/>
                  </a:lnTo>
                  <a:lnTo>
                    <a:pt x="1024127" y="624839"/>
                  </a:lnTo>
                  <a:lnTo>
                    <a:pt x="1014299" y="673480"/>
                  </a:lnTo>
                  <a:lnTo>
                    <a:pt x="987504" y="713203"/>
                  </a:lnTo>
                  <a:lnTo>
                    <a:pt x="947779" y="739986"/>
                  </a:lnTo>
                  <a:lnTo>
                    <a:pt x="899159" y="749807"/>
                  </a:lnTo>
                  <a:lnTo>
                    <a:pt x="124968" y="749807"/>
                  </a:lnTo>
                  <a:lnTo>
                    <a:pt x="76348" y="739986"/>
                  </a:lnTo>
                  <a:lnTo>
                    <a:pt x="36623" y="713203"/>
                  </a:lnTo>
                  <a:lnTo>
                    <a:pt x="9828" y="673480"/>
                  </a:lnTo>
                  <a:lnTo>
                    <a:pt x="0" y="624839"/>
                  </a:lnTo>
                  <a:lnTo>
                    <a:pt x="0" y="124967"/>
                  </a:lnTo>
                  <a:close/>
                </a:path>
              </a:pathLst>
            </a:custGeom>
            <a:ln w="12192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 descr="shiel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19287" y="5449823"/>
              <a:ext cx="274320" cy="274319"/>
            </a:xfrm>
            <a:prstGeom prst="rect">
              <a:avLst/>
            </a:prstGeom>
          </p:spPr>
        </p:pic>
      </p:grpSp>
      <p:sp>
        <p:nvSpPr>
          <p:cNvPr id="123" name="object 123"/>
          <p:cNvSpPr txBox="1"/>
          <p:nvPr/>
        </p:nvSpPr>
        <p:spPr>
          <a:xfrm>
            <a:off x="7877936" y="5669848"/>
            <a:ext cx="598170" cy="3581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515"/>
              </a:spcBef>
            </a:pPr>
            <a:r>
              <a:rPr sz="850" b="1" spc="-20" dirty="0">
                <a:solidFill>
                  <a:srgbClr val="094542"/>
                </a:solidFill>
                <a:latin typeface="Arial"/>
                <a:cs typeface="Arial"/>
              </a:rPr>
              <a:t>Warn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predictive</a:t>
            </a:r>
            <a:r>
              <a:rPr sz="700" spc="1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alert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8677529" y="5370321"/>
            <a:ext cx="1296035" cy="762635"/>
            <a:chOff x="8677529" y="5370321"/>
            <a:chExt cx="1296035" cy="762635"/>
          </a:xfrm>
        </p:grpSpPr>
        <p:sp>
          <p:nvSpPr>
            <p:cNvPr id="125" name="object 125"/>
            <p:cNvSpPr/>
            <p:nvPr/>
          </p:nvSpPr>
          <p:spPr>
            <a:xfrm>
              <a:off x="8688324" y="5743955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>
                  <a:moveTo>
                    <a:pt x="0" y="0"/>
                  </a:moveTo>
                  <a:lnTo>
                    <a:pt x="237744" y="0"/>
                  </a:lnTo>
                </a:path>
              </a:pathLst>
            </a:custGeom>
            <a:ln w="21336">
              <a:solidFill>
                <a:srgbClr val="0168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8942832" y="5376671"/>
              <a:ext cx="1024255" cy="749935"/>
            </a:xfrm>
            <a:custGeom>
              <a:avLst/>
              <a:gdLst/>
              <a:ahLst/>
              <a:cxnLst/>
              <a:rect l="l" t="t" r="r" b="b"/>
              <a:pathLst>
                <a:path w="1024254" h="749935">
                  <a:moveTo>
                    <a:pt x="899160" y="0"/>
                  </a:moveTo>
                  <a:lnTo>
                    <a:pt x="124968" y="0"/>
                  </a:lnTo>
                  <a:lnTo>
                    <a:pt x="76348" y="9828"/>
                  </a:lnTo>
                  <a:lnTo>
                    <a:pt x="36623" y="36623"/>
                  </a:lnTo>
                  <a:lnTo>
                    <a:pt x="9828" y="76348"/>
                  </a:lnTo>
                  <a:lnTo>
                    <a:pt x="0" y="124967"/>
                  </a:lnTo>
                  <a:lnTo>
                    <a:pt x="0" y="624839"/>
                  </a:lnTo>
                  <a:lnTo>
                    <a:pt x="9828" y="673480"/>
                  </a:lnTo>
                  <a:lnTo>
                    <a:pt x="36623" y="713203"/>
                  </a:lnTo>
                  <a:lnTo>
                    <a:pt x="76348" y="739986"/>
                  </a:lnTo>
                  <a:lnTo>
                    <a:pt x="124968" y="749807"/>
                  </a:lnTo>
                  <a:lnTo>
                    <a:pt x="899160" y="749807"/>
                  </a:lnTo>
                  <a:lnTo>
                    <a:pt x="947779" y="739986"/>
                  </a:lnTo>
                  <a:lnTo>
                    <a:pt x="987504" y="713203"/>
                  </a:lnTo>
                  <a:lnTo>
                    <a:pt x="1014299" y="673480"/>
                  </a:lnTo>
                  <a:lnTo>
                    <a:pt x="1024127" y="624839"/>
                  </a:lnTo>
                  <a:lnTo>
                    <a:pt x="1024127" y="124967"/>
                  </a:lnTo>
                  <a:lnTo>
                    <a:pt x="1014299" y="76348"/>
                  </a:lnTo>
                  <a:lnTo>
                    <a:pt x="987504" y="36623"/>
                  </a:lnTo>
                  <a:lnTo>
                    <a:pt x="947779" y="9828"/>
                  </a:lnTo>
                  <a:lnTo>
                    <a:pt x="899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8942832" y="5376671"/>
              <a:ext cx="1024255" cy="749935"/>
            </a:xfrm>
            <a:custGeom>
              <a:avLst/>
              <a:gdLst/>
              <a:ahLst/>
              <a:cxnLst/>
              <a:rect l="l" t="t" r="r" b="b"/>
              <a:pathLst>
                <a:path w="1024254" h="749935">
                  <a:moveTo>
                    <a:pt x="0" y="124967"/>
                  </a:moveTo>
                  <a:lnTo>
                    <a:pt x="9828" y="76348"/>
                  </a:lnTo>
                  <a:lnTo>
                    <a:pt x="36623" y="36623"/>
                  </a:lnTo>
                  <a:lnTo>
                    <a:pt x="76348" y="9828"/>
                  </a:lnTo>
                  <a:lnTo>
                    <a:pt x="124968" y="0"/>
                  </a:lnTo>
                  <a:lnTo>
                    <a:pt x="899160" y="0"/>
                  </a:lnTo>
                  <a:lnTo>
                    <a:pt x="947779" y="9828"/>
                  </a:lnTo>
                  <a:lnTo>
                    <a:pt x="987504" y="36623"/>
                  </a:lnTo>
                  <a:lnTo>
                    <a:pt x="1014299" y="76348"/>
                  </a:lnTo>
                  <a:lnTo>
                    <a:pt x="1024127" y="124967"/>
                  </a:lnTo>
                  <a:lnTo>
                    <a:pt x="1024127" y="624839"/>
                  </a:lnTo>
                  <a:lnTo>
                    <a:pt x="1014299" y="673480"/>
                  </a:lnTo>
                  <a:lnTo>
                    <a:pt x="987504" y="713203"/>
                  </a:lnTo>
                  <a:lnTo>
                    <a:pt x="947779" y="739986"/>
                  </a:lnTo>
                  <a:lnTo>
                    <a:pt x="899160" y="749807"/>
                  </a:lnTo>
                  <a:lnTo>
                    <a:pt x="124968" y="749807"/>
                  </a:lnTo>
                  <a:lnTo>
                    <a:pt x="76348" y="739986"/>
                  </a:lnTo>
                  <a:lnTo>
                    <a:pt x="36623" y="713203"/>
                  </a:lnTo>
                  <a:lnTo>
                    <a:pt x="9828" y="673480"/>
                  </a:lnTo>
                  <a:lnTo>
                    <a:pt x="0" y="624839"/>
                  </a:lnTo>
                  <a:lnTo>
                    <a:pt x="0" y="124967"/>
                  </a:lnTo>
                  <a:close/>
                </a:path>
              </a:pathLst>
            </a:custGeom>
            <a:ln w="12192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 descr="wrench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99448" y="5449823"/>
              <a:ext cx="274320" cy="274319"/>
            </a:xfrm>
            <a:prstGeom prst="rect">
              <a:avLst/>
            </a:prstGeom>
          </p:spPr>
        </p:pic>
      </p:grpSp>
      <p:sp>
        <p:nvSpPr>
          <p:cNvPr id="129" name="object 129"/>
          <p:cNvSpPr txBox="1"/>
          <p:nvPr/>
        </p:nvSpPr>
        <p:spPr>
          <a:xfrm>
            <a:off x="9033509" y="5669848"/>
            <a:ext cx="848360" cy="3581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515"/>
              </a:spcBef>
            </a:pPr>
            <a:r>
              <a:rPr sz="850" b="1" spc="-20" dirty="0">
                <a:solidFill>
                  <a:srgbClr val="094542"/>
                </a:solidFill>
                <a:latin typeface="Arial"/>
                <a:cs typeface="Arial"/>
              </a:rPr>
              <a:t>Plan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maintenance</a:t>
            </a:r>
            <a:r>
              <a:rPr sz="700" spc="5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window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9968483" y="5370576"/>
            <a:ext cx="1285240" cy="762000"/>
            <a:chOff x="9968483" y="5370576"/>
            <a:chExt cx="1285240" cy="762000"/>
          </a:xfrm>
        </p:grpSpPr>
        <p:sp>
          <p:nvSpPr>
            <p:cNvPr id="131" name="object 131"/>
            <p:cNvSpPr/>
            <p:nvPr/>
          </p:nvSpPr>
          <p:spPr>
            <a:xfrm>
              <a:off x="9968483" y="5743956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>
                  <a:moveTo>
                    <a:pt x="0" y="0"/>
                  </a:moveTo>
                  <a:lnTo>
                    <a:pt x="237744" y="0"/>
                  </a:lnTo>
                </a:path>
              </a:pathLst>
            </a:custGeom>
            <a:ln w="21336">
              <a:solidFill>
                <a:srgbClr val="0168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0222991" y="5376672"/>
              <a:ext cx="1024255" cy="749935"/>
            </a:xfrm>
            <a:custGeom>
              <a:avLst/>
              <a:gdLst/>
              <a:ahLst/>
              <a:cxnLst/>
              <a:rect l="l" t="t" r="r" b="b"/>
              <a:pathLst>
                <a:path w="1024254" h="749935">
                  <a:moveTo>
                    <a:pt x="899159" y="0"/>
                  </a:moveTo>
                  <a:lnTo>
                    <a:pt x="124967" y="0"/>
                  </a:lnTo>
                  <a:lnTo>
                    <a:pt x="76348" y="9828"/>
                  </a:lnTo>
                  <a:lnTo>
                    <a:pt x="36623" y="36623"/>
                  </a:lnTo>
                  <a:lnTo>
                    <a:pt x="9828" y="76348"/>
                  </a:lnTo>
                  <a:lnTo>
                    <a:pt x="0" y="124967"/>
                  </a:lnTo>
                  <a:lnTo>
                    <a:pt x="0" y="624839"/>
                  </a:lnTo>
                  <a:lnTo>
                    <a:pt x="9828" y="673480"/>
                  </a:lnTo>
                  <a:lnTo>
                    <a:pt x="36623" y="713203"/>
                  </a:lnTo>
                  <a:lnTo>
                    <a:pt x="76348" y="739986"/>
                  </a:lnTo>
                  <a:lnTo>
                    <a:pt x="124967" y="749807"/>
                  </a:lnTo>
                  <a:lnTo>
                    <a:pt x="899159" y="749807"/>
                  </a:lnTo>
                  <a:lnTo>
                    <a:pt x="947779" y="739986"/>
                  </a:lnTo>
                  <a:lnTo>
                    <a:pt x="987504" y="713203"/>
                  </a:lnTo>
                  <a:lnTo>
                    <a:pt x="1014299" y="673480"/>
                  </a:lnTo>
                  <a:lnTo>
                    <a:pt x="1024127" y="624839"/>
                  </a:lnTo>
                  <a:lnTo>
                    <a:pt x="1024127" y="124967"/>
                  </a:lnTo>
                  <a:lnTo>
                    <a:pt x="1014299" y="76348"/>
                  </a:lnTo>
                  <a:lnTo>
                    <a:pt x="987504" y="36623"/>
                  </a:lnTo>
                  <a:lnTo>
                    <a:pt x="947779" y="9828"/>
                  </a:lnTo>
                  <a:lnTo>
                    <a:pt x="899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0222991" y="5376672"/>
              <a:ext cx="1024255" cy="749935"/>
            </a:xfrm>
            <a:custGeom>
              <a:avLst/>
              <a:gdLst/>
              <a:ahLst/>
              <a:cxnLst/>
              <a:rect l="l" t="t" r="r" b="b"/>
              <a:pathLst>
                <a:path w="1024254" h="749935">
                  <a:moveTo>
                    <a:pt x="0" y="124967"/>
                  </a:moveTo>
                  <a:lnTo>
                    <a:pt x="9828" y="76348"/>
                  </a:lnTo>
                  <a:lnTo>
                    <a:pt x="36623" y="36623"/>
                  </a:lnTo>
                  <a:lnTo>
                    <a:pt x="76348" y="9828"/>
                  </a:lnTo>
                  <a:lnTo>
                    <a:pt x="124967" y="0"/>
                  </a:lnTo>
                  <a:lnTo>
                    <a:pt x="899159" y="0"/>
                  </a:lnTo>
                  <a:lnTo>
                    <a:pt x="947779" y="9828"/>
                  </a:lnTo>
                  <a:lnTo>
                    <a:pt x="987504" y="36623"/>
                  </a:lnTo>
                  <a:lnTo>
                    <a:pt x="1014299" y="76348"/>
                  </a:lnTo>
                  <a:lnTo>
                    <a:pt x="1024127" y="124967"/>
                  </a:lnTo>
                  <a:lnTo>
                    <a:pt x="1024127" y="624839"/>
                  </a:lnTo>
                  <a:lnTo>
                    <a:pt x="1014299" y="673480"/>
                  </a:lnTo>
                  <a:lnTo>
                    <a:pt x="987504" y="713203"/>
                  </a:lnTo>
                  <a:lnTo>
                    <a:pt x="947779" y="739986"/>
                  </a:lnTo>
                  <a:lnTo>
                    <a:pt x="899159" y="749807"/>
                  </a:lnTo>
                  <a:lnTo>
                    <a:pt x="124967" y="749807"/>
                  </a:lnTo>
                  <a:lnTo>
                    <a:pt x="76348" y="739986"/>
                  </a:lnTo>
                  <a:lnTo>
                    <a:pt x="36623" y="713203"/>
                  </a:lnTo>
                  <a:lnTo>
                    <a:pt x="9828" y="673480"/>
                  </a:lnTo>
                  <a:lnTo>
                    <a:pt x="0" y="624839"/>
                  </a:lnTo>
                  <a:lnTo>
                    <a:pt x="0" y="124967"/>
                  </a:lnTo>
                  <a:close/>
                </a:path>
              </a:pathLst>
            </a:custGeom>
            <a:ln w="12192">
              <a:solidFill>
                <a:srgbClr val="CAE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 descr="home.png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79607" y="5449824"/>
              <a:ext cx="274320" cy="274319"/>
            </a:xfrm>
            <a:prstGeom prst="rect">
              <a:avLst/>
            </a:prstGeom>
          </p:spPr>
        </p:pic>
      </p:grpSp>
      <p:sp>
        <p:nvSpPr>
          <p:cNvPr id="135" name="object 135"/>
          <p:cNvSpPr txBox="1"/>
          <p:nvPr/>
        </p:nvSpPr>
        <p:spPr>
          <a:xfrm>
            <a:off x="10429747" y="5669848"/>
            <a:ext cx="617220" cy="3581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15"/>
              </a:spcBef>
            </a:pPr>
            <a:r>
              <a:rPr sz="850" b="1" spc="-10" dirty="0">
                <a:solidFill>
                  <a:srgbClr val="094542"/>
                </a:solidFill>
                <a:latin typeface="Arial"/>
                <a:cs typeface="Arial"/>
              </a:rPr>
              <a:t>Continue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700" spc="-10" dirty="0">
                <a:solidFill>
                  <a:srgbClr val="5B6E6B"/>
                </a:solidFill>
                <a:latin typeface="Arial"/>
                <a:cs typeface="Arial"/>
              </a:rPr>
              <a:t>power</a:t>
            </a:r>
            <a:r>
              <a:rPr sz="700" spc="-40" dirty="0">
                <a:solidFill>
                  <a:srgbClr val="5B6E6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B6E6B"/>
                </a:solidFill>
                <a:latin typeface="Arial"/>
                <a:cs typeface="Arial"/>
              </a:rPr>
              <a:t>stays </a:t>
            </a:r>
            <a:r>
              <a:rPr sz="700" spc="-25" dirty="0">
                <a:solidFill>
                  <a:srgbClr val="5B6E6B"/>
                </a:solidFill>
                <a:latin typeface="Arial"/>
                <a:cs typeface="Arial"/>
              </a:rPr>
              <a:t>on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6345935"/>
            <a:ext cx="12192000" cy="512445"/>
            <a:chOff x="0" y="6345935"/>
            <a:chExt cx="12192000" cy="512445"/>
          </a:xfrm>
        </p:grpSpPr>
        <p:sp>
          <p:nvSpPr>
            <p:cNvPr id="28" name="object 28"/>
            <p:cNvSpPr/>
            <p:nvPr/>
          </p:nvSpPr>
          <p:spPr>
            <a:xfrm>
              <a:off x="0" y="6345935"/>
              <a:ext cx="12192000" cy="512445"/>
            </a:xfrm>
            <a:custGeom>
              <a:avLst/>
              <a:gdLst/>
              <a:ahLst/>
              <a:cxnLst/>
              <a:rect l="l" t="t" r="r" b="b"/>
              <a:pathLst>
                <a:path w="12192000" h="512445">
                  <a:moveTo>
                    <a:pt x="12192000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12192000" y="51206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42B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274552" y="6400799"/>
              <a:ext cx="457200" cy="429895"/>
            </a:xfrm>
            <a:custGeom>
              <a:avLst/>
              <a:gdLst/>
              <a:ahLst/>
              <a:cxnLst/>
              <a:rect l="l" t="t" r="r" b="b"/>
              <a:pathLst>
                <a:path w="457200" h="429895">
                  <a:moveTo>
                    <a:pt x="349757" y="0"/>
                  </a:moveTo>
                  <a:lnTo>
                    <a:pt x="107442" y="0"/>
                  </a:lnTo>
                  <a:lnTo>
                    <a:pt x="0" y="214884"/>
                  </a:lnTo>
                  <a:lnTo>
                    <a:pt x="107442" y="429768"/>
                  </a:lnTo>
                  <a:lnTo>
                    <a:pt x="349757" y="429768"/>
                  </a:lnTo>
                  <a:lnTo>
                    <a:pt x="457200" y="214884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274552" y="6400799"/>
              <a:ext cx="457200" cy="429895"/>
            </a:xfrm>
            <a:custGeom>
              <a:avLst/>
              <a:gdLst/>
              <a:ahLst/>
              <a:cxnLst/>
              <a:rect l="l" t="t" r="r" b="b"/>
              <a:pathLst>
                <a:path w="457200" h="429895">
                  <a:moveTo>
                    <a:pt x="0" y="214884"/>
                  </a:moveTo>
                  <a:lnTo>
                    <a:pt x="107442" y="0"/>
                  </a:lnTo>
                  <a:lnTo>
                    <a:pt x="349757" y="0"/>
                  </a:lnTo>
                  <a:lnTo>
                    <a:pt x="457200" y="214884"/>
                  </a:lnTo>
                  <a:lnTo>
                    <a:pt x="349757" y="429768"/>
                  </a:lnTo>
                  <a:lnTo>
                    <a:pt x="107442" y="429768"/>
                  </a:lnTo>
                  <a:lnTo>
                    <a:pt x="0" y="214884"/>
                  </a:lnTo>
                  <a:close/>
                </a:path>
              </a:pathLst>
            </a:custGeom>
            <a:ln w="6096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>
            <a:spLocks noGrp="1"/>
          </p:cNvSpPr>
          <p:nvPr>
            <p:ph type="sldNum" sz="quarter" idx="7"/>
          </p:nvPr>
        </p:nvSpPr>
        <p:spPr>
          <a:xfrm>
            <a:off x="11388344" y="6521158"/>
            <a:ext cx="321055" cy="172483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>
                <a:solidFill>
                  <a:srgbClr val="042B35"/>
                </a:solidFill>
                <a:latin typeface="+mn-lt"/>
                <a:cs typeface="Arial"/>
              </a:rPr>
              <a:t>4</a:t>
            </a:fld>
            <a:endParaRPr dirty="0">
              <a:latin typeface="+mn-lt"/>
              <a:cs typeface="Arial"/>
            </a:endParaRPr>
          </a:p>
        </p:txBody>
      </p:sp>
      <p:pic>
        <p:nvPicPr>
          <p:cNvPr id="138" name="Lead Icon" descr="Lightbulb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166" y="1464007"/>
            <a:ext cx="274320" cy="274320"/>
          </a:xfrm>
          <a:prstGeom prst="rect">
            <a:avLst/>
          </a:prstGeom>
        </p:spPr>
      </p:pic>
      <p:grpSp>
        <p:nvGrpSpPr>
          <p:cNvPr id="140" name="object 3"/>
          <p:cNvGrpSpPr/>
          <p:nvPr/>
        </p:nvGrpSpPr>
        <p:grpSpPr>
          <a:xfrm>
            <a:off x="528299" y="424355"/>
            <a:ext cx="657788" cy="600964"/>
            <a:chOff x="633983" y="405384"/>
            <a:chExt cx="469900" cy="469900"/>
          </a:xfrm>
        </p:grpSpPr>
        <p:sp>
          <p:nvSpPr>
            <p:cNvPr id="141" name="object 4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5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3" name="Team Icon" descr="Team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1933" y="553593"/>
            <a:ext cx="36576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3467" y="409131"/>
            <a:ext cx="735965" cy="40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0"/>
              </a:lnSpc>
              <a:spcBef>
                <a:spcPts val="100"/>
              </a:spcBef>
            </a:pP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T</a:t>
            </a:r>
            <a:r>
              <a:rPr sz="900" b="1" spc="-1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E</a:t>
            </a:r>
            <a:r>
              <a:rPr sz="900" b="1" spc="-1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A</a:t>
            </a:r>
            <a:r>
              <a:rPr sz="900" b="1" spc="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M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ts val="1900"/>
              </a:lnSpc>
            </a:pPr>
            <a:r>
              <a:rPr sz="1600" b="1" spc="-10" dirty="0">
                <a:solidFill>
                  <a:srgbClr val="006B53"/>
                </a:solidFill>
                <a:latin typeface="Calibri"/>
                <a:cs typeface="Calibri"/>
              </a:rPr>
              <a:t>NEXORA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994" rIns="0" bIns="0" rtlCol="0">
            <a:spAutoFit/>
          </a:bodyPr>
          <a:lstStyle/>
          <a:p>
            <a:pPr marL="126365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60" dirty="0"/>
              <a:t> </a:t>
            </a:r>
            <a:r>
              <a:rPr spc="-10" dirty="0"/>
              <a:t>CHALLENGES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875264" y="222504"/>
            <a:ext cx="881380" cy="881380"/>
            <a:chOff x="10875264" y="222504"/>
            <a:chExt cx="881380" cy="881380"/>
          </a:xfrm>
        </p:grpSpPr>
        <p:sp>
          <p:nvSpPr>
            <p:cNvPr id="8" name="object 8"/>
            <p:cNvSpPr/>
            <p:nvPr/>
          </p:nvSpPr>
          <p:spPr>
            <a:xfrm>
              <a:off x="10881360" y="22860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77724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777239"/>
                  </a:lnTo>
                  <a:lnTo>
                    <a:pt x="7179" y="812851"/>
                  </a:lnTo>
                  <a:lnTo>
                    <a:pt x="26765" y="841914"/>
                  </a:lnTo>
                  <a:lnTo>
                    <a:pt x="55828" y="861500"/>
                  </a:lnTo>
                  <a:lnTo>
                    <a:pt x="91440" y="868679"/>
                  </a:lnTo>
                  <a:lnTo>
                    <a:pt x="777240" y="868679"/>
                  </a:lnTo>
                  <a:lnTo>
                    <a:pt x="812851" y="861500"/>
                  </a:lnTo>
                  <a:lnTo>
                    <a:pt x="841914" y="841914"/>
                  </a:lnTo>
                  <a:lnTo>
                    <a:pt x="861500" y="812851"/>
                  </a:lnTo>
                  <a:lnTo>
                    <a:pt x="868680" y="777239"/>
                  </a:lnTo>
                  <a:lnTo>
                    <a:pt x="868680" y="91440"/>
                  </a:lnTo>
                  <a:lnTo>
                    <a:pt x="861500" y="55828"/>
                  </a:lnTo>
                  <a:lnTo>
                    <a:pt x="841914" y="26765"/>
                  </a:lnTo>
                  <a:lnTo>
                    <a:pt x="812851" y="7179"/>
                  </a:lnTo>
                  <a:lnTo>
                    <a:pt x="777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81360" y="22860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777240" y="0"/>
                  </a:lnTo>
                  <a:lnTo>
                    <a:pt x="812851" y="7179"/>
                  </a:lnTo>
                  <a:lnTo>
                    <a:pt x="841914" y="26765"/>
                  </a:lnTo>
                  <a:lnTo>
                    <a:pt x="861500" y="55828"/>
                  </a:lnTo>
                  <a:lnTo>
                    <a:pt x="868680" y="91440"/>
                  </a:lnTo>
                  <a:lnTo>
                    <a:pt x="868680" y="777239"/>
                  </a:lnTo>
                  <a:lnTo>
                    <a:pt x="861500" y="812851"/>
                  </a:lnTo>
                  <a:lnTo>
                    <a:pt x="841914" y="841914"/>
                  </a:lnTo>
                  <a:lnTo>
                    <a:pt x="812851" y="861500"/>
                  </a:lnTo>
                  <a:lnTo>
                    <a:pt x="777240" y="868679"/>
                  </a:lnTo>
                  <a:lnTo>
                    <a:pt x="91440" y="868679"/>
                  </a:lnTo>
                  <a:lnTo>
                    <a:pt x="55828" y="861500"/>
                  </a:lnTo>
                  <a:lnTo>
                    <a:pt x="26765" y="841914"/>
                  </a:lnTo>
                  <a:lnTo>
                    <a:pt x="7179" y="812851"/>
                  </a:lnTo>
                  <a:lnTo>
                    <a:pt x="0" y="777239"/>
                  </a:lnTo>
                  <a:lnTo>
                    <a:pt x="0" y="91440"/>
                  </a:lnTo>
                  <a:close/>
                </a:path>
              </a:pathLst>
            </a:custGeom>
            <a:ln w="12191">
              <a:solidFill>
                <a:srgbClr val="D4E4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/home/claude/logo-000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64240" y="274320"/>
              <a:ext cx="502920" cy="65836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451104" y="1274063"/>
            <a:ext cx="469900" cy="469900"/>
            <a:chOff x="451104" y="1274063"/>
            <a:chExt cx="469900" cy="469900"/>
          </a:xfrm>
        </p:grpSpPr>
        <p:sp>
          <p:nvSpPr>
            <p:cNvPr id="17" name="object 17"/>
            <p:cNvSpPr/>
            <p:nvPr/>
          </p:nvSpPr>
          <p:spPr>
            <a:xfrm>
              <a:off x="457200" y="12801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200" y="12801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38860" y="1343914"/>
            <a:ext cx="5761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Main</a:t>
            </a:r>
            <a:r>
              <a:rPr sz="1800" b="1" spc="-3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difficulties,</a:t>
            </a:r>
            <a:r>
              <a:rPr sz="1800" b="1" spc="-5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bottlenecks,</a:t>
            </a:r>
            <a:r>
              <a:rPr sz="1800" b="1" spc="-6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root</a:t>
            </a:r>
            <a:r>
              <a:rPr sz="1800" b="1" spc="-3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causes</a:t>
            </a:r>
            <a:r>
              <a:rPr sz="1800" b="1" spc="-6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and</a:t>
            </a:r>
            <a:r>
              <a:rPr sz="1800" b="1" spc="-2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945"/>
                </a:solidFill>
                <a:latin typeface="Calibri"/>
                <a:cs typeface="Calibri"/>
              </a:rPr>
              <a:t>consequences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7200" y="1920239"/>
            <a:ext cx="3611879" cy="3611879"/>
          </a:xfrm>
          <a:custGeom>
            <a:avLst/>
            <a:gdLst/>
            <a:ahLst/>
            <a:cxnLst/>
            <a:rect l="l" t="t" r="r" b="b"/>
            <a:pathLst>
              <a:path w="3611879" h="3611879">
                <a:moveTo>
                  <a:pt x="0" y="3611879"/>
                </a:moveTo>
                <a:lnTo>
                  <a:pt x="3611879" y="3611879"/>
                </a:lnTo>
                <a:lnTo>
                  <a:pt x="3611879" y="0"/>
                </a:lnTo>
                <a:lnTo>
                  <a:pt x="0" y="0"/>
                </a:lnTo>
                <a:lnTo>
                  <a:pt x="0" y="3611879"/>
                </a:lnTo>
                <a:close/>
              </a:path>
            </a:pathLst>
          </a:custGeom>
          <a:ln w="12192">
            <a:solidFill>
              <a:srgbClr val="D4E4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57200" y="1920239"/>
            <a:ext cx="3611879" cy="457200"/>
          </a:xfrm>
          <a:prstGeom prst="rect">
            <a:avLst/>
          </a:prstGeom>
          <a:solidFill>
            <a:srgbClr val="006B53"/>
          </a:solidFill>
          <a:ln w="12192">
            <a:solidFill>
              <a:srgbClr val="006B53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805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Main</a:t>
            </a:r>
            <a:r>
              <a:rPr sz="15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difficulties</a:t>
            </a:r>
            <a:r>
              <a:rPr sz="15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bottlenecks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200" y="2377439"/>
            <a:ext cx="3611879" cy="31546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2550" rIns="0" bIns="0" rtlCol="0">
            <a:spAutoFit/>
          </a:bodyPr>
          <a:lstStyle/>
          <a:p>
            <a:pPr marL="314960" marR="225425" indent="-178435">
              <a:lnSpc>
                <a:spcPct val="100000"/>
              </a:lnSpc>
              <a:spcBef>
                <a:spcPts val="650"/>
              </a:spcBef>
              <a:buFont typeface="Calibri"/>
              <a:buChar char="•"/>
              <a:tabLst>
                <a:tab pos="314960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Slow</a:t>
            </a:r>
            <a:r>
              <a:rPr sz="1250" b="1" spc="-3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detection:</a:t>
            </a:r>
            <a:r>
              <a:rPr sz="1250" b="1" spc="-1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Standard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monitoring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polls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data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every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few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seconds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or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minutes.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Electrical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micro-spikes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last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less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than</a:t>
            </a:r>
            <a:r>
              <a:rPr sz="1250" spc="-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millisecond,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so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they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pass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unseen.</a:t>
            </a:r>
            <a:endParaRPr sz="1250" dirty="0">
              <a:latin typeface="Calibri"/>
              <a:cs typeface="Calibri"/>
            </a:endParaRPr>
          </a:p>
          <a:p>
            <a:pPr marL="314960" marR="255270" indent="-178435">
              <a:lnSpc>
                <a:spcPct val="100000"/>
              </a:lnSpc>
              <a:spcBef>
                <a:spcPts val="790"/>
              </a:spcBef>
              <a:buFont typeface="Calibri"/>
              <a:buChar char="•"/>
              <a:tabLst>
                <a:tab pos="314960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Erratic</a:t>
            </a:r>
            <a:r>
              <a:rPr sz="1250" b="1" spc="-2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power</a:t>
            </a:r>
            <a:r>
              <a:rPr sz="1250" b="1" spc="-2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flow:</a:t>
            </a:r>
            <a:r>
              <a:rPr sz="1250" b="1" spc="-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Rooftop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solar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EV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fast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chargers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push power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in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both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directions.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Legacy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grid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equipment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was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designed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for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one-way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flow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can't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handle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this.</a:t>
            </a:r>
            <a:endParaRPr sz="1250" dirty="0">
              <a:latin typeface="Calibri"/>
              <a:cs typeface="Calibri"/>
            </a:endParaRPr>
          </a:p>
          <a:p>
            <a:pPr marL="314960" marR="156845" indent="-178435">
              <a:lnSpc>
                <a:spcPct val="100000"/>
              </a:lnSpc>
              <a:spcBef>
                <a:spcPts val="810"/>
              </a:spcBef>
              <a:buFont typeface="Calibri"/>
              <a:buChar char="•"/>
              <a:tabLst>
                <a:tab pos="314960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Costly</a:t>
            </a:r>
            <a:r>
              <a:rPr sz="1250" b="1" spc="-5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upgrades:</a:t>
            </a:r>
            <a:r>
              <a:rPr sz="1250" b="1" spc="-3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Replacing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multi-million-dollar substations</a:t>
            </a:r>
            <a:r>
              <a:rPr sz="125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to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make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them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"smart"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is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not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realistic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for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most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utilities.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251959" y="1920239"/>
            <a:ext cx="3611879" cy="3611879"/>
          </a:xfrm>
          <a:custGeom>
            <a:avLst/>
            <a:gdLst/>
            <a:ahLst/>
            <a:cxnLst/>
            <a:rect l="l" t="t" r="r" b="b"/>
            <a:pathLst>
              <a:path w="3611879" h="3611879">
                <a:moveTo>
                  <a:pt x="0" y="3611879"/>
                </a:moveTo>
                <a:lnTo>
                  <a:pt x="3611880" y="3611879"/>
                </a:lnTo>
                <a:lnTo>
                  <a:pt x="3611880" y="0"/>
                </a:lnTo>
                <a:lnTo>
                  <a:pt x="0" y="0"/>
                </a:lnTo>
                <a:lnTo>
                  <a:pt x="0" y="3611879"/>
                </a:lnTo>
                <a:close/>
              </a:path>
            </a:pathLst>
          </a:custGeom>
          <a:ln w="12192">
            <a:solidFill>
              <a:srgbClr val="D4E4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251959" y="1920239"/>
            <a:ext cx="3611879" cy="457200"/>
          </a:xfrm>
          <a:prstGeom prst="rect">
            <a:avLst/>
          </a:prstGeom>
          <a:solidFill>
            <a:srgbClr val="006B53"/>
          </a:solidFill>
          <a:ln w="12192">
            <a:solidFill>
              <a:srgbClr val="006B53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805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Root</a:t>
            </a:r>
            <a:r>
              <a:rPr sz="15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causes</a:t>
            </a:r>
            <a:r>
              <a:rPr sz="15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behind</a:t>
            </a:r>
            <a:r>
              <a:rPr sz="15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51959" y="2377439"/>
            <a:ext cx="3611879" cy="31546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2550" rIns="0" bIns="0" rtlCol="0">
            <a:spAutoFit/>
          </a:bodyPr>
          <a:lstStyle/>
          <a:p>
            <a:pPr marL="315595" marR="180340" indent="-178435">
              <a:lnSpc>
                <a:spcPct val="100000"/>
              </a:lnSpc>
              <a:spcBef>
                <a:spcPts val="650"/>
              </a:spcBef>
              <a:buFont typeface="Calibri"/>
              <a:buChar char="•"/>
              <a:tabLst>
                <a:tab pos="315595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Reactive</a:t>
            </a:r>
            <a:r>
              <a:rPr sz="1250" b="1" spc="-5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hardware:</a:t>
            </a:r>
            <a:r>
              <a:rPr sz="1250" b="1" spc="-1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Breakers,</a:t>
            </a:r>
            <a:r>
              <a:rPr sz="1250" spc="-6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fuses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relays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act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only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after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short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circuit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or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arc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fault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has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already</a:t>
            </a:r>
            <a:r>
              <a:rPr sz="1250" spc="-5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happened.</a:t>
            </a:r>
            <a:r>
              <a:rPr sz="125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They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protect</a:t>
            </a:r>
            <a:r>
              <a:rPr sz="125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against</a:t>
            </a:r>
            <a:r>
              <a:rPr sz="1250" spc="-6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damage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but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do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not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prevent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it.</a:t>
            </a:r>
            <a:endParaRPr sz="1250">
              <a:latin typeface="Calibri"/>
              <a:cs typeface="Calibri"/>
            </a:endParaRPr>
          </a:p>
          <a:p>
            <a:pPr marL="315595" marR="230504" indent="-178435">
              <a:lnSpc>
                <a:spcPct val="100000"/>
              </a:lnSpc>
              <a:spcBef>
                <a:spcPts val="790"/>
              </a:spcBef>
              <a:buFont typeface="Calibri"/>
              <a:buChar char="•"/>
              <a:tabLst>
                <a:tab pos="315595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Invisible</a:t>
            </a:r>
            <a:r>
              <a:rPr sz="1250" b="1" spc="-2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signals:</a:t>
            </a:r>
            <a:r>
              <a:rPr sz="1250" b="1" spc="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Before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transformer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fails,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it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shows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small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warning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signs: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transient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voltage spikes,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harmonic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distortion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slight temperature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changes.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Threshold-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based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sensors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ignore</a:t>
            </a:r>
            <a:r>
              <a:rPr sz="1250" spc="-5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them.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046719" y="1920239"/>
            <a:ext cx="3611879" cy="3611879"/>
          </a:xfrm>
          <a:custGeom>
            <a:avLst/>
            <a:gdLst/>
            <a:ahLst/>
            <a:cxnLst/>
            <a:rect l="l" t="t" r="r" b="b"/>
            <a:pathLst>
              <a:path w="3611879" h="3611879">
                <a:moveTo>
                  <a:pt x="0" y="3611879"/>
                </a:moveTo>
                <a:lnTo>
                  <a:pt x="3611879" y="3611879"/>
                </a:lnTo>
                <a:lnTo>
                  <a:pt x="3611879" y="0"/>
                </a:lnTo>
                <a:lnTo>
                  <a:pt x="0" y="0"/>
                </a:lnTo>
                <a:lnTo>
                  <a:pt x="0" y="3611879"/>
                </a:lnTo>
                <a:close/>
              </a:path>
            </a:pathLst>
          </a:custGeom>
          <a:ln w="12192">
            <a:solidFill>
              <a:srgbClr val="D4E4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046719" y="1920239"/>
            <a:ext cx="3611879" cy="457200"/>
          </a:xfrm>
          <a:prstGeom prst="rect">
            <a:avLst/>
          </a:prstGeom>
          <a:solidFill>
            <a:srgbClr val="006B53"/>
          </a:solidFill>
          <a:ln w="12192">
            <a:solidFill>
              <a:srgbClr val="006B53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05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Consequences</a:t>
            </a:r>
            <a:r>
              <a:rPr sz="15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5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leaving</a:t>
            </a:r>
            <a:r>
              <a:rPr sz="15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unsolved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46719" y="2377439"/>
            <a:ext cx="3611879" cy="31546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2550" rIns="0" bIns="0" rtlCol="0">
            <a:spAutoFit/>
          </a:bodyPr>
          <a:lstStyle/>
          <a:p>
            <a:pPr marL="316230" marR="421005" indent="-179070">
              <a:lnSpc>
                <a:spcPct val="100000"/>
              </a:lnSpc>
              <a:spcBef>
                <a:spcPts val="650"/>
              </a:spcBef>
              <a:buFont typeface="Calibri"/>
              <a:buChar char="•"/>
              <a:tabLst>
                <a:tab pos="316230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Outages</a:t>
            </a:r>
            <a:r>
              <a:rPr sz="1250" b="1" spc="-2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and</a:t>
            </a:r>
            <a:r>
              <a:rPr sz="1250" b="1" spc="-3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losses:</a:t>
            </a:r>
            <a:r>
              <a:rPr sz="1250" b="1" spc="-1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sudden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transformer failure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causes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local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blackout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halts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industrial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production,</a:t>
            </a:r>
            <a:r>
              <a:rPr sz="1250" spc="-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costing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manufacturers millions.</a:t>
            </a:r>
            <a:endParaRPr sz="1250">
              <a:latin typeface="Calibri"/>
              <a:cs typeface="Calibri"/>
            </a:endParaRPr>
          </a:p>
          <a:p>
            <a:pPr marL="316230" marR="180340" indent="-179070">
              <a:lnSpc>
                <a:spcPct val="100000"/>
              </a:lnSpc>
              <a:spcBef>
                <a:spcPts val="790"/>
              </a:spcBef>
              <a:buFont typeface="Calibri"/>
              <a:buChar char="•"/>
              <a:tabLst>
                <a:tab pos="316230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Fire</a:t>
            </a:r>
            <a:r>
              <a:rPr sz="1250" b="1" spc="-3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and</a:t>
            </a:r>
            <a:r>
              <a:rPr sz="1250" b="1" spc="-10" dirty="0">
                <a:solidFill>
                  <a:srgbClr val="0A4945"/>
                </a:solidFill>
                <a:latin typeface="Calibri"/>
                <a:cs typeface="Calibri"/>
              </a:rPr>
              <a:t> safety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risk:</a:t>
            </a:r>
            <a:r>
              <a:rPr sz="1250" b="1" spc="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Undetected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arcing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in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overhead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lines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oil-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filled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transformers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can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cause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fires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explosive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failures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in</a:t>
            </a:r>
            <a:r>
              <a:rPr sz="1250" spc="-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dense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urban areas.</a:t>
            </a:r>
            <a:endParaRPr sz="1250">
              <a:latin typeface="Calibri"/>
              <a:cs typeface="Calibri"/>
            </a:endParaRPr>
          </a:p>
          <a:p>
            <a:pPr marL="316230" marR="250190" indent="-179070">
              <a:lnSpc>
                <a:spcPct val="100000"/>
              </a:lnSpc>
              <a:spcBef>
                <a:spcPts val="810"/>
              </a:spcBef>
              <a:buFont typeface="Calibri"/>
              <a:buChar char="•"/>
              <a:tabLst>
                <a:tab pos="316230" algn="l"/>
              </a:tabLst>
            </a:pPr>
            <a:r>
              <a:rPr sz="1250" b="1" spc="-10" dirty="0">
                <a:solidFill>
                  <a:srgbClr val="0A4945"/>
                </a:solidFill>
                <a:latin typeface="Calibri"/>
                <a:cs typeface="Calibri"/>
              </a:rPr>
              <a:t>Faster</a:t>
            </a:r>
            <a:r>
              <a:rPr sz="1250" b="1" spc="-4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asset</a:t>
            </a:r>
            <a:r>
              <a:rPr sz="1250" b="1" spc="-3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wear:</a:t>
            </a:r>
            <a:r>
              <a:rPr sz="1250" b="1" spc="-2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Overloaded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equipment degrades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unnoticed,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which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leads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to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emergency replacements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at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much higher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cost.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57200" y="5669279"/>
            <a:ext cx="11275060" cy="502920"/>
          </a:xfrm>
          <a:custGeom>
            <a:avLst/>
            <a:gdLst/>
            <a:ahLst/>
            <a:cxnLst/>
            <a:rect l="l" t="t" r="r" b="b"/>
            <a:pathLst>
              <a:path w="11275060" h="502920">
                <a:moveTo>
                  <a:pt x="0" y="502920"/>
                </a:moveTo>
                <a:lnTo>
                  <a:pt x="11274552" y="502920"/>
                </a:lnTo>
                <a:lnTo>
                  <a:pt x="11274552" y="0"/>
                </a:lnTo>
                <a:lnTo>
                  <a:pt x="0" y="0"/>
                </a:lnTo>
                <a:lnTo>
                  <a:pt x="0" y="502920"/>
                </a:lnTo>
                <a:close/>
              </a:path>
            </a:pathLst>
          </a:custGeom>
          <a:ln w="12192">
            <a:solidFill>
              <a:srgbClr val="042B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51104" y="5663184"/>
            <a:ext cx="11287125" cy="515620"/>
          </a:xfrm>
          <a:prstGeom prst="rect">
            <a:avLst/>
          </a:prstGeom>
          <a:solidFill>
            <a:srgbClr val="042B33"/>
          </a:solidFill>
        </p:spPr>
        <p:txBody>
          <a:bodyPr vert="horz" wrap="square" lIns="0" tIns="14414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135"/>
              </a:spcBef>
            </a:pPr>
            <a:r>
              <a:rPr sz="1350" b="1" spc="-25" dirty="0">
                <a:solidFill>
                  <a:srgbClr val="79C143"/>
                </a:solidFill>
                <a:latin typeface="Calibri"/>
                <a:cs typeface="Calibri"/>
              </a:rPr>
              <a:t>Takeaway:</a:t>
            </a:r>
            <a:r>
              <a:rPr sz="1350" b="1" spc="-50" dirty="0">
                <a:solidFill>
                  <a:srgbClr val="79C14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Faults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warn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us</a:t>
            </a: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13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micro-anomalies,</a:t>
            </a:r>
            <a:r>
              <a:rPr sz="13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nothing</a:t>
            </a:r>
            <a:r>
              <a:rPr sz="13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3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listening.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-6095" y="6348983"/>
            <a:ext cx="12201525" cy="515620"/>
            <a:chOff x="-6095" y="6348983"/>
            <a:chExt cx="12201525" cy="515620"/>
          </a:xfrm>
        </p:grpSpPr>
        <p:sp>
          <p:nvSpPr>
            <p:cNvPr id="12" name="object 12"/>
            <p:cNvSpPr/>
            <p:nvPr/>
          </p:nvSpPr>
          <p:spPr>
            <a:xfrm>
              <a:off x="0" y="6355079"/>
              <a:ext cx="12189460" cy="502920"/>
            </a:xfrm>
            <a:custGeom>
              <a:avLst/>
              <a:gdLst/>
              <a:ahLst/>
              <a:cxnLst/>
              <a:rect l="l" t="t" r="r" b="b"/>
              <a:pathLst>
                <a:path w="12189460" h="502920">
                  <a:moveTo>
                    <a:pt x="12188952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188952" y="502920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042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6355079"/>
              <a:ext cx="12189460" cy="502920"/>
            </a:xfrm>
            <a:custGeom>
              <a:avLst/>
              <a:gdLst/>
              <a:ahLst/>
              <a:cxnLst/>
              <a:rect l="l" t="t" r="r" b="b"/>
              <a:pathLst>
                <a:path w="12189460" h="502920">
                  <a:moveTo>
                    <a:pt x="0" y="502920"/>
                  </a:moveTo>
                  <a:lnTo>
                    <a:pt x="12188952" y="502920"/>
                  </a:lnTo>
                  <a:lnTo>
                    <a:pt x="12188952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192">
              <a:solidFill>
                <a:srgbClr val="042B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292839" y="6382512"/>
              <a:ext cx="548640" cy="457200"/>
            </a:xfrm>
            <a:custGeom>
              <a:avLst/>
              <a:gdLst/>
              <a:ahLst/>
              <a:cxnLst/>
              <a:rect l="l" t="t" r="r" b="b"/>
              <a:pathLst>
                <a:path w="548640" h="457200">
                  <a:moveTo>
                    <a:pt x="434339" y="0"/>
                  </a:moveTo>
                  <a:lnTo>
                    <a:pt x="114300" y="0"/>
                  </a:lnTo>
                  <a:lnTo>
                    <a:pt x="0" y="228599"/>
                  </a:lnTo>
                  <a:lnTo>
                    <a:pt x="114300" y="457198"/>
                  </a:lnTo>
                  <a:lnTo>
                    <a:pt x="434339" y="457198"/>
                  </a:lnTo>
                  <a:lnTo>
                    <a:pt x="548639" y="228599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92839" y="6382512"/>
              <a:ext cx="548640" cy="457200"/>
            </a:xfrm>
            <a:custGeom>
              <a:avLst/>
              <a:gdLst/>
              <a:ahLst/>
              <a:cxnLst/>
              <a:rect l="l" t="t" r="r" b="b"/>
              <a:pathLst>
                <a:path w="548640" h="457200">
                  <a:moveTo>
                    <a:pt x="0" y="228599"/>
                  </a:moveTo>
                  <a:lnTo>
                    <a:pt x="114300" y="0"/>
                  </a:lnTo>
                  <a:lnTo>
                    <a:pt x="434339" y="0"/>
                  </a:lnTo>
                  <a:lnTo>
                    <a:pt x="548639" y="228599"/>
                  </a:lnTo>
                  <a:lnTo>
                    <a:pt x="434339" y="457198"/>
                  </a:lnTo>
                  <a:lnTo>
                    <a:pt x="114300" y="457198"/>
                  </a:lnTo>
                  <a:lnTo>
                    <a:pt x="0" y="228599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7115" rIns="0" bIns="0" rtlCol="0">
            <a:spAutoFit/>
          </a:bodyPr>
          <a:lstStyle/>
          <a:p>
            <a:pPr marL="122555">
              <a:lnSpc>
                <a:spcPts val="115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33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" y="1371599"/>
            <a:ext cx="274320" cy="274320"/>
          </a:xfrm>
          <a:prstGeom prst="rect">
            <a:avLst/>
          </a:prstGeom>
        </p:spPr>
      </p:pic>
      <p:grpSp>
        <p:nvGrpSpPr>
          <p:cNvPr id="34" name="object 3"/>
          <p:cNvGrpSpPr/>
          <p:nvPr/>
        </p:nvGrpSpPr>
        <p:grpSpPr>
          <a:xfrm>
            <a:off x="518536" y="328810"/>
            <a:ext cx="657788" cy="600964"/>
            <a:chOff x="633983" y="405384"/>
            <a:chExt cx="469900" cy="469900"/>
          </a:xfrm>
        </p:grpSpPr>
        <p:sp>
          <p:nvSpPr>
            <p:cNvPr id="35" name="object 4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5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7" name="Team Icon" descr="Tea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70" y="458048"/>
            <a:ext cx="36576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5258" y="427049"/>
            <a:ext cx="735965" cy="40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0"/>
              </a:lnSpc>
              <a:spcBef>
                <a:spcPts val="100"/>
              </a:spcBef>
            </a:pP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T</a:t>
            </a:r>
            <a:r>
              <a:rPr sz="900" b="1" spc="-1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E</a:t>
            </a:r>
            <a:r>
              <a:rPr sz="900" b="1" spc="-1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A</a:t>
            </a:r>
            <a:r>
              <a:rPr sz="900" b="1" spc="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M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ts val="1900"/>
              </a:lnSpc>
            </a:pPr>
            <a:r>
              <a:rPr sz="1600" b="1" spc="-10" dirty="0">
                <a:solidFill>
                  <a:srgbClr val="006B53"/>
                </a:solidFill>
                <a:latin typeface="Calibri"/>
                <a:cs typeface="Calibri"/>
              </a:rPr>
              <a:t>NEXORA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994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spc="-95" dirty="0"/>
              <a:t> </a:t>
            </a:r>
            <a:r>
              <a:rPr spc="-10" dirty="0"/>
              <a:t>SOLUTIONS</a:t>
            </a:r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10" dirty="0"/>
              <a:t>APPROACHES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875264" y="222504"/>
            <a:ext cx="881380" cy="881380"/>
            <a:chOff x="10875264" y="222504"/>
            <a:chExt cx="881380" cy="881380"/>
          </a:xfrm>
        </p:grpSpPr>
        <p:sp>
          <p:nvSpPr>
            <p:cNvPr id="8" name="object 8"/>
            <p:cNvSpPr/>
            <p:nvPr/>
          </p:nvSpPr>
          <p:spPr>
            <a:xfrm>
              <a:off x="10881360" y="22860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77724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777239"/>
                  </a:lnTo>
                  <a:lnTo>
                    <a:pt x="7179" y="812851"/>
                  </a:lnTo>
                  <a:lnTo>
                    <a:pt x="26765" y="841914"/>
                  </a:lnTo>
                  <a:lnTo>
                    <a:pt x="55828" y="861500"/>
                  </a:lnTo>
                  <a:lnTo>
                    <a:pt x="91440" y="868679"/>
                  </a:lnTo>
                  <a:lnTo>
                    <a:pt x="777240" y="868679"/>
                  </a:lnTo>
                  <a:lnTo>
                    <a:pt x="812851" y="861500"/>
                  </a:lnTo>
                  <a:lnTo>
                    <a:pt x="841914" y="841914"/>
                  </a:lnTo>
                  <a:lnTo>
                    <a:pt x="861500" y="812851"/>
                  </a:lnTo>
                  <a:lnTo>
                    <a:pt x="868680" y="777239"/>
                  </a:lnTo>
                  <a:lnTo>
                    <a:pt x="868680" y="91440"/>
                  </a:lnTo>
                  <a:lnTo>
                    <a:pt x="861500" y="55828"/>
                  </a:lnTo>
                  <a:lnTo>
                    <a:pt x="841914" y="26765"/>
                  </a:lnTo>
                  <a:lnTo>
                    <a:pt x="812851" y="7179"/>
                  </a:lnTo>
                  <a:lnTo>
                    <a:pt x="777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81360" y="22860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777240" y="0"/>
                  </a:lnTo>
                  <a:lnTo>
                    <a:pt x="812851" y="7179"/>
                  </a:lnTo>
                  <a:lnTo>
                    <a:pt x="841914" y="26765"/>
                  </a:lnTo>
                  <a:lnTo>
                    <a:pt x="861500" y="55828"/>
                  </a:lnTo>
                  <a:lnTo>
                    <a:pt x="868680" y="91440"/>
                  </a:lnTo>
                  <a:lnTo>
                    <a:pt x="868680" y="777239"/>
                  </a:lnTo>
                  <a:lnTo>
                    <a:pt x="861500" y="812851"/>
                  </a:lnTo>
                  <a:lnTo>
                    <a:pt x="841914" y="841914"/>
                  </a:lnTo>
                  <a:lnTo>
                    <a:pt x="812851" y="861500"/>
                  </a:lnTo>
                  <a:lnTo>
                    <a:pt x="777240" y="868679"/>
                  </a:lnTo>
                  <a:lnTo>
                    <a:pt x="91440" y="868679"/>
                  </a:lnTo>
                  <a:lnTo>
                    <a:pt x="55828" y="861500"/>
                  </a:lnTo>
                  <a:lnTo>
                    <a:pt x="26765" y="841914"/>
                  </a:lnTo>
                  <a:lnTo>
                    <a:pt x="7179" y="812851"/>
                  </a:lnTo>
                  <a:lnTo>
                    <a:pt x="0" y="777239"/>
                  </a:lnTo>
                  <a:lnTo>
                    <a:pt x="0" y="91440"/>
                  </a:lnTo>
                  <a:close/>
                </a:path>
              </a:pathLst>
            </a:custGeom>
            <a:ln w="12191">
              <a:solidFill>
                <a:srgbClr val="D4E4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/home/claude/logo-000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64240" y="274320"/>
              <a:ext cx="502920" cy="65836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451104" y="1274063"/>
            <a:ext cx="469900" cy="469900"/>
            <a:chOff x="451104" y="1274063"/>
            <a:chExt cx="469900" cy="469900"/>
          </a:xfrm>
        </p:grpSpPr>
        <p:sp>
          <p:nvSpPr>
            <p:cNvPr id="17" name="object 17"/>
            <p:cNvSpPr/>
            <p:nvPr/>
          </p:nvSpPr>
          <p:spPr>
            <a:xfrm>
              <a:off x="457200" y="12801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200" y="12801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38860" y="1343914"/>
            <a:ext cx="4908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What</a:t>
            </a:r>
            <a:r>
              <a:rPr sz="1800" b="1" spc="-1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is</a:t>
            </a:r>
            <a:r>
              <a:rPr sz="1800" b="1" spc="-2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already</a:t>
            </a:r>
            <a:r>
              <a:rPr sz="1800" b="1" spc="-3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being</a:t>
            </a:r>
            <a:r>
              <a:rPr sz="1800" b="1" spc="-4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done,</a:t>
            </a:r>
            <a:r>
              <a:rPr sz="1800" b="1" spc="-2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and</a:t>
            </a:r>
            <a:r>
              <a:rPr sz="1800" b="1" spc="-1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where</a:t>
            </a:r>
            <a:r>
              <a:rPr sz="1800" b="1" spc="-4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it</a:t>
            </a:r>
            <a:r>
              <a:rPr sz="1800" b="1" spc="-1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falls</a:t>
            </a:r>
            <a:r>
              <a:rPr sz="1800" b="1" spc="-2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945"/>
                </a:solidFill>
                <a:latin typeface="Calibri"/>
                <a:cs typeface="Calibri"/>
              </a:rPr>
              <a:t>short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7200" y="1920239"/>
            <a:ext cx="3611879" cy="2651760"/>
          </a:xfrm>
          <a:custGeom>
            <a:avLst/>
            <a:gdLst/>
            <a:ahLst/>
            <a:cxnLst/>
            <a:rect l="l" t="t" r="r" b="b"/>
            <a:pathLst>
              <a:path w="3611879" h="2651760">
                <a:moveTo>
                  <a:pt x="0" y="2651760"/>
                </a:moveTo>
                <a:lnTo>
                  <a:pt x="3611879" y="2651760"/>
                </a:lnTo>
                <a:lnTo>
                  <a:pt x="3611879" y="0"/>
                </a:lnTo>
                <a:lnTo>
                  <a:pt x="0" y="0"/>
                </a:lnTo>
                <a:lnTo>
                  <a:pt x="0" y="2651760"/>
                </a:lnTo>
                <a:close/>
              </a:path>
            </a:pathLst>
          </a:custGeom>
          <a:ln w="12192">
            <a:solidFill>
              <a:srgbClr val="D4E4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57200" y="1920239"/>
            <a:ext cx="3611879" cy="457200"/>
          </a:xfrm>
          <a:prstGeom prst="rect">
            <a:avLst/>
          </a:prstGeom>
          <a:solidFill>
            <a:srgbClr val="006B53"/>
          </a:solidFill>
          <a:ln w="12192">
            <a:solidFill>
              <a:srgbClr val="006B53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805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SCADA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104" y="2423159"/>
            <a:ext cx="3611879" cy="21945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2550" rIns="0" bIns="0" rtlCol="0">
            <a:spAutoFit/>
          </a:bodyPr>
          <a:lstStyle/>
          <a:p>
            <a:pPr marL="314960" marR="442595" indent="-178435">
              <a:lnSpc>
                <a:spcPct val="100000"/>
              </a:lnSpc>
              <a:spcBef>
                <a:spcPts val="650"/>
              </a:spcBef>
              <a:buFont typeface="Calibri"/>
              <a:buChar char="•"/>
              <a:tabLst>
                <a:tab pos="314960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What it</a:t>
            </a:r>
            <a:r>
              <a:rPr sz="1250" b="1" spc="-2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does:</a:t>
            </a:r>
            <a:r>
              <a:rPr sz="1250" b="1" spc="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It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collects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substation</a:t>
            </a:r>
            <a:r>
              <a:rPr sz="125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data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and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sends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it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to</a:t>
            </a:r>
            <a:r>
              <a:rPr sz="1250" spc="-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central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servers.</a:t>
            </a:r>
            <a:endParaRPr sz="1250" dirty="0">
              <a:latin typeface="Calibri"/>
              <a:cs typeface="Calibri"/>
            </a:endParaRPr>
          </a:p>
          <a:p>
            <a:pPr marL="314960" marR="505459" indent="-178435">
              <a:lnSpc>
                <a:spcPct val="100000"/>
              </a:lnSpc>
              <a:spcBef>
                <a:spcPts val="790"/>
              </a:spcBef>
              <a:buFont typeface="Calibri"/>
              <a:buChar char="•"/>
              <a:tabLst>
                <a:tab pos="314960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Limitation:</a:t>
            </a:r>
            <a:r>
              <a:rPr sz="1250" b="1" spc="-2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round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trip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takes</a:t>
            </a:r>
            <a:r>
              <a:rPr sz="1250" spc="-6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seconds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to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minutes,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so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it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can't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intervene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in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real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time.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251959" y="1920239"/>
            <a:ext cx="3611879" cy="2651760"/>
          </a:xfrm>
          <a:custGeom>
            <a:avLst/>
            <a:gdLst/>
            <a:ahLst/>
            <a:cxnLst/>
            <a:rect l="l" t="t" r="r" b="b"/>
            <a:pathLst>
              <a:path w="3611879" h="2651760">
                <a:moveTo>
                  <a:pt x="0" y="2651760"/>
                </a:moveTo>
                <a:lnTo>
                  <a:pt x="3611880" y="2651760"/>
                </a:lnTo>
                <a:lnTo>
                  <a:pt x="3611880" y="0"/>
                </a:lnTo>
                <a:lnTo>
                  <a:pt x="0" y="0"/>
                </a:lnTo>
                <a:lnTo>
                  <a:pt x="0" y="2651760"/>
                </a:lnTo>
                <a:close/>
              </a:path>
            </a:pathLst>
          </a:custGeom>
          <a:ln w="12192">
            <a:solidFill>
              <a:srgbClr val="D4E4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251959" y="1920239"/>
            <a:ext cx="3611879" cy="433452"/>
          </a:xfrm>
          <a:prstGeom prst="rect">
            <a:avLst/>
          </a:prstGeom>
          <a:solidFill>
            <a:srgbClr val="006B53"/>
          </a:solidFill>
          <a:ln w="12192">
            <a:solidFill>
              <a:srgbClr val="006B5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7160">
              <a:lnSpc>
                <a:spcPts val="170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Industrial</a:t>
            </a:r>
            <a:r>
              <a:rPr sz="14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APM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(ABB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Ability,</a:t>
            </a:r>
            <a:r>
              <a:rPr sz="1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Siemens</a:t>
            </a:r>
            <a:endParaRPr sz="1400" dirty="0">
              <a:latin typeface="Calibri"/>
              <a:cs typeface="Calibri"/>
            </a:endParaRPr>
          </a:p>
          <a:p>
            <a:pPr marL="137160">
              <a:lnSpc>
                <a:spcPct val="100000"/>
              </a:lnSpc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MindSphere)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51959" y="2377439"/>
            <a:ext cx="3611879" cy="21945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2550" rIns="0" bIns="0" rtlCol="0">
            <a:spAutoFit/>
          </a:bodyPr>
          <a:lstStyle/>
          <a:p>
            <a:pPr marL="315595" marR="685800" indent="-178435">
              <a:lnSpc>
                <a:spcPct val="100000"/>
              </a:lnSpc>
              <a:spcBef>
                <a:spcPts val="650"/>
              </a:spcBef>
              <a:buFont typeface="Calibri"/>
              <a:buChar char="•"/>
              <a:tabLst>
                <a:tab pos="315595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What</a:t>
            </a:r>
            <a:r>
              <a:rPr sz="1250" b="1" spc="-1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it</a:t>
            </a:r>
            <a:r>
              <a:rPr sz="1250" b="1" spc="-3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does:</a:t>
            </a:r>
            <a:r>
              <a:rPr sz="1250" b="1" spc="-1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These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cloud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platforms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are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powerful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for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asset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management.</a:t>
            </a:r>
            <a:endParaRPr sz="1250">
              <a:latin typeface="Calibri"/>
              <a:cs typeface="Calibri"/>
            </a:endParaRPr>
          </a:p>
          <a:p>
            <a:pPr marL="315595" marR="164465" indent="-178435">
              <a:lnSpc>
                <a:spcPct val="100000"/>
              </a:lnSpc>
              <a:spcBef>
                <a:spcPts val="790"/>
              </a:spcBef>
              <a:buFont typeface="Calibri"/>
              <a:buChar char="•"/>
              <a:tabLst>
                <a:tab pos="315595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Limitation:</a:t>
            </a:r>
            <a:r>
              <a:rPr sz="1250" b="1" spc="-4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They</a:t>
            </a:r>
            <a:r>
              <a:rPr sz="1250" spc="-6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usually</a:t>
            </a:r>
            <a:r>
              <a:rPr sz="1250" spc="-6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require</a:t>
            </a:r>
            <a:r>
              <a:rPr sz="125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replacing</a:t>
            </a:r>
            <a:r>
              <a:rPr sz="1250" spc="-6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legacy transformers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with</a:t>
            </a:r>
            <a:r>
              <a:rPr sz="125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expensive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proprietary hardware,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which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locks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utilities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into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one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vendor.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046719" y="1920239"/>
            <a:ext cx="3611879" cy="2651760"/>
          </a:xfrm>
          <a:custGeom>
            <a:avLst/>
            <a:gdLst/>
            <a:ahLst/>
            <a:cxnLst/>
            <a:rect l="l" t="t" r="r" b="b"/>
            <a:pathLst>
              <a:path w="3611879" h="2651760">
                <a:moveTo>
                  <a:pt x="0" y="2651760"/>
                </a:moveTo>
                <a:lnTo>
                  <a:pt x="3611879" y="2651760"/>
                </a:lnTo>
                <a:lnTo>
                  <a:pt x="3611879" y="0"/>
                </a:lnTo>
                <a:lnTo>
                  <a:pt x="0" y="0"/>
                </a:lnTo>
                <a:lnTo>
                  <a:pt x="0" y="2651760"/>
                </a:lnTo>
                <a:close/>
              </a:path>
            </a:pathLst>
          </a:custGeom>
          <a:ln w="12192">
            <a:solidFill>
              <a:srgbClr val="D4E4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046719" y="1920239"/>
            <a:ext cx="3611879" cy="457200"/>
          </a:xfrm>
          <a:prstGeom prst="rect">
            <a:avLst/>
          </a:prstGeom>
          <a:solidFill>
            <a:srgbClr val="006B53"/>
          </a:solidFill>
          <a:ln w="12192">
            <a:solidFill>
              <a:srgbClr val="006B53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05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Overcurrent</a:t>
            </a:r>
            <a:r>
              <a:rPr sz="15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relays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46719" y="2377439"/>
            <a:ext cx="3611879" cy="21945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2550" rIns="0" bIns="0" rtlCol="0">
            <a:spAutoFit/>
          </a:bodyPr>
          <a:lstStyle/>
          <a:p>
            <a:pPr marL="316230" marR="262255" indent="-179070" algn="just">
              <a:lnSpc>
                <a:spcPct val="100000"/>
              </a:lnSpc>
              <a:spcBef>
                <a:spcPts val="650"/>
              </a:spcBef>
              <a:buFont typeface="Calibri"/>
              <a:buChar char="•"/>
              <a:tabLst>
                <a:tab pos="316230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What</a:t>
            </a:r>
            <a:r>
              <a:rPr sz="1250" b="1" spc="-2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it</a:t>
            </a:r>
            <a:r>
              <a:rPr sz="1250" b="1" spc="-4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does:</a:t>
            </a:r>
            <a:r>
              <a:rPr sz="1250" b="1" spc="-2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They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trip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when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current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crosses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1F3A39"/>
                </a:solidFill>
                <a:latin typeface="Calibri"/>
                <a:cs typeface="Calibri"/>
              </a:rPr>
              <a:t>a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fixed</a:t>
            </a:r>
            <a:r>
              <a:rPr sz="1250" spc="-5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limit.</a:t>
            </a:r>
            <a:endParaRPr sz="1250" dirty="0">
              <a:latin typeface="Calibri"/>
              <a:cs typeface="Calibri"/>
            </a:endParaRPr>
          </a:p>
          <a:p>
            <a:pPr marL="316230" marR="273050" indent="-179070" algn="just">
              <a:lnSpc>
                <a:spcPct val="100000"/>
              </a:lnSpc>
              <a:spcBef>
                <a:spcPts val="790"/>
              </a:spcBef>
              <a:buFont typeface="Calibri"/>
              <a:buChar char="•"/>
              <a:tabLst>
                <a:tab pos="316230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Limitation:</a:t>
            </a:r>
            <a:r>
              <a:rPr sz="1250" b="1" spc="-2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Under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heavy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EV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demand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they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raise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false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alarms,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they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miss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slow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multi-variable degradation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that</a:t>
            </a:r>
            <a:r>
              <a:rPr sz="125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never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crosses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limit.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57200" y="4754879"/>
            <a:ext cx="11275060" cy="1188720"/>
          </a:xfrm>
          <a:custGeom>
            <a:avLst/>
            <a:gdLst/>
            <a:ahLst/>
            <a:cxnLst/>
            <a:rect l="l" t="t" r="r" b="b"/>
            <a:pathLst>
              <a:path w="11275060" h="1188720">
                <a:moveTo>
                  <a:pt x="0" y="1188720"/>
                </a:moveTo>
                <a:lnTo>
                  <a:pt x="11274552" y="1188720"/>
                </a:lnTo>
                <a:lnTo>
                  <a:pt x="11274552" y="0"/>
                </a:lnTo>
                <a:lnTo>
                  <a:pt x="0" y="0"/>
                </a:lnTo>
                <a:lnTo>
                  <a:pt x="0" y="1188720"/>
                </a:lnTo>
                <a:close/>
              </a:path>
            </a:pathLst>
          </a:custGeom>
          <a:ln w="12192">
            <a:solidFill>
              <a:srgbClr val="042B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51104" y="4748784"/>
            <a:ext cx="11287125" cy="1201420"/>
          </a:xfrm>
          <a:prstGeom prst="rect">
            <a:avLst/>
          </a:prstGeom>
          <a:solidFill>
            <a:srgbClr val="042B33"/>
          </a:solidFill>
        </p:spPr>
        <p:txBody>
          <a:bodyPr vert="horz" wrap="square" lIns="0" tIns="186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70"/>
              </a:spcBef>
            </a:pPr>
            <a:endParaRPr sz="1350">
              <a:latin typeface="Times New Roman"/>
              <a:cs typeface="Times New Roman"/>
            </a:endParaRPr>
          </a:p>
          <a:p>
            <a:pPr marL="188595">
              <a:lnSpc>
                <a:spcPct val="100000"/>
              </a:lnSpc>
            </a:pPr>
            <a:r>
              <a:rPr sz="1350" b="1" dirty="0">
                <a:solidFill>
                  <a:srgbClr val="79C143"/>
                </a:solidFill>
                <a:latin typeface="Calibri"/>
                <a:cs typeface="Calibri"/>
              </a:rPr>
              <a:t>The</a:t>
            </a:r>
            <a:r>
              <a:rPr sz="1350" b="1" spc="-50" dirty="0">
                <a:solidFill>
                  <a:srgbClr val="79C14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79C143"/>
                </a:solidFill>
                <a:latin typeface="Calibri"/>
                <a:cs typeface="Calibri"/>
              </a:rPr>
              <a:t>Gap</a:t>
            </a:r>
            <a:r>
              <a:rPr sz="1350" b="1" spc="-45" dirty="0">
                <a:solidFill>
                  <a:srgbClr val="79C14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79C143"/>
                </a:solidFill>
                <a:latin typeface="Calibri"/>
                <a:cs typeface="Calibri"/>
              </a:rPr>
              <a:t>They</a:t>
            </a:r>
            <a:r>
              <a:rPr sz="1350" b="1" spc="-55" dirty="0">
                <a:solidFill>
                  <a:srgbClr val="79C14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79C143"/>
                </a:solidFill>
                <a:latin typeface="Calibri"/>
                <a:cs typeface="Calibri"/>
              </a:rPr>
              <a:t>Leave</a:t>
            </a:r>
            <a:r>
              <a:rPr sz="1350" b="1" spc="-45" dirty="0">
                <a:solidFill>
                  <a:srgbClr val="79C14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79C143"/>
                </a:solidFill>
                <a:latin typeface="Calibri"/>
                <a:cs typeface="Calibri"/>
              </a:rPr>
              <a:t>Open:</a:t>
            </a:r>
            <a:r>
              <a:rPr sz="1350" b="1" spc="-35" dirty="0">
                <a:solidFill>
                  <a:srgbClr val="79C14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Existing</a:t>
            </a: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r>
              <a:rPr sz="13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watch</a:t>
            </a:r>
            <a:r>
              <a:rPr sz="13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3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13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changes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damage</a:t>
            </a: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started.</a:t>
            </a:r>
            <a:r>
              <a:rPr sz="13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Nothing</a:t>
            </a: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offers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low-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cost,</a:t>
            </a:r>
            <a:r>
              <a:rPr sz="13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sub-millisecond</a:t>
            </a:r>
            <a:r>
              <a:rPr sz="13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3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 edge</a:t>
            </a:r>
            <a:endParaRPr sz="1350">
              <a:latin typeface="Calibri"/>
              <a:cs typeface="Calibri"/>
            </a:endParaRPr>
          </a:p>
          <a:p>
            <a:pPr marL="188595">
              <a:lnSpc>
                <a:spcPct val="100000"/>
              </a:lnSpc>
              <a:spcBef>
                <a:spcPts val="5"/>
              </a:spcBef>
            </a:pP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3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detects</a:t>
            </a: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micro-anomalies</a:t>
            </a:r>
            <a:r>
              <a:rPr sz="13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3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acts</a:t>
            </a:r>
            <a:r>
              <a:rPr sz="13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before</a:t>
            </a:r>
            <a:r>
              <a:rPr sz="13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3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breaker trips.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-6095" y="6348983"/>
            <a:ext cx="12201525" cy="515620"/>
            <a:chOff x="-6095" y="6348983"/>
            <a:chExt cx="12201525" cy="515620"/>
          </a:xfrm>
        </p:grpSpPr>
        <p:sp>
          <p:nvSpPr>
            <p:cNvPr id="12" name="object 12"/>
            <p:cNvSpPr/>
            <p:nvPr/>
          </p:nvSpPr>
          <p:spPr>
            <a:xfrm>
              <a:off x="0" y="6355079"/>
              <a:ext cx="12189460" cy="502920"/>
            </a:xfrm>
            <a:custGeom>
              <a:avLst/>
              <a:gdLst/>
              <a:ahLst/>
              <a:cxnLst/>
              <a:rect l="l" t="t" r="r" b="b"/>
              <a:pathLst>
                <a:path w="12189460" h="502920">
                  <a:moveTo>
                    <a:pt x="12188952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188952" y="502920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042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6355079"/>
              <a:ext cx="12189460" cy="502920"/>
            </a:xfrm>
            <a:custGeom>
              <a:avLst/>
              <a:gdLst/>
              <a:ahLst/>
              <a:cxnLst/>
              <a:rect l="l" t="t" r="r" b="b"/>
              <a:pathLst>
                <a:path w="12189460" h="502920">
                  <a:moveTo>
                    <a:pt x="0" y="502920"/>
                  </a:moveTo>
                  <a:lnTo>
                    <a:pt x="12188952" y="502920"/>
                  </a:lnTo>
                  <a:lnTo>
                    <a:pt x="12188952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192">
              <a:solidFill>
                <a:srgbClr val="042B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292839" y="6382512"/>
              <a:ext cx="548640" cy="457200"/>
            </a:xfrm>
            <a:custGeom>
              <a:avLst/>
              <a:gdLst/>
              <a:ahLst/>
              <a:cxnLst/>
              <a:rect l="l" t="t" r="r" b="b"/>
              <a:pathLst>
                <a:path w="548640" h="457200">
                  <a:moveTo>
                    <a:pt x="434339" y="0"/>
                  </a:moveTo>
                  <a:lnTo>
                    <a:pt x="114300" y="0"/>
                  </a:lnTo>
                  <a:lnTo>
                    <a:pt x="0" y="228599"/>
                  </a:lnTo>
                  <a:lnTo>
                    <a:pt x="114300" y="457198"/>
                  </a:lnTo>
                  <a:lnTo>
                    <a:pt x="434339" y="457198"/>
                  </a:lnTo>
                  <a:lnTo>
                    <a:pt x="548639" y="228599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92839" y="6382512"/>
              <a:ext cx="548640" cy="457200"/>
            </a:xfrm>
            <a:custGeom>
              <a:avLst/>
              <a:gdLst/>
              <a:ahLst/>
              <a:cxnLst/>
              <a:rect l="l" t="t" r="r" b="b"/>
              <a:pathLst>
                <a:path w="548640" h="457200">
                  <a:moveTo>
                    <a:pt x="0" y="228599"/>
                  </a:moveTo>
                  <a:lnTo>
                    <a:pt x="114300" y="0"/>
                  </a:lnTo>
                  <a:lnTo>
                    <a:pt x="434339" y="0"/>
                  </a:lnTo>
                  <a:lnTo>
                    <a:pt x="548639" y="228599"/>
                  </a:lnTo>
                  <a:lnTo>
                    <a:pt x="434339" y="457198"/>
                  </a:lnTo>
                  <a:lnTo>
                    <a:pt x="114300" y="457198"/>
                  </a:lnTo>
                  <a:lnTo>
                    <a:pt x="0" y="228599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7115" rIns="0" bIns="0" rtlCol="0">
            <a:spAutoFit/>
          </a:bodyPr>
          <a:lstStyle/>
          <a:p>
            <a:pPr marL="122555">
              <a:lnSpc>
                <a:spcPts val="115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33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" y="1391412"/>
            <a:ext cx="274320" cy="274320"/>
          </a:xfrm>
          <a:prstGeom prst="rect">
            <a:avLst/>
          </a:prstGeom>
        </p:spPr>
      </p:pic>
      <p:grpSp>
        <p:nvGrpSpPr>
          <p:cNvPr id="34" name="object 3"/>
          <p:cNvGrpSpPr/>
          <p:nvPr/>
        </p:nvGrpSpPr>
        <p:grpSpPr>
          <a:xfrm>
            <a:off x="605674" y="359543"/>
            <a:ext cx="657788" cy="600964"/>
            <a:chOff x="633983" y="405384"/>
            <a:chExt cx="469900" cy="469900"/>
          </a:xfrm>
        </p:grpSpPr>
        <p:sp>
          <p:nvSpPr>
            <p:cNvPr id="35" name="object 4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5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7" name="Team Icon" descr="Tea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95" y="474064"/>
            <a:ext cx="36576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6946" y="409131"/>
            <a:ext cx="735965" cy="40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0"/>
              </a:lnSpc>
              <a:spcBef>
                <a:spcPts val="100"/>
              </a:spcBef>
            </a:pP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T</a:t>
            </a:r>
            <a:r>
              <a:rPr sz="900" b="1" spc="-1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E</a:t>
            </a:r>
            <a:r>
              <a:rPr sz="900" b="1" spc="-1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A</a:t>
            </a:r>
            <a:r>
              <a:rPr sz="900" b="1" spc="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M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ts val="1900"/>
              </a:lnSpc>
            </a:pPr>
            <a:r>
              <a:rPr sz="1600" b="1" spc="-10" dirty="0">
                <a:solidFill>
                  <a:srgbClr val="006B53"/>
                </a:solidFill>
                <a:latin typeface="Calibri"/>
                <a:cs typeface="Calibri"/>
              </a:rPr>
              <a:t>NEXORA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9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PROBLEM</a:t>
            </a:r>
            <a:r>
              <a:rPr spc="-85" dirty="0"/>
              <a:t> </a:t>
            </a:r>
            <a:r>
              <a:rPr spc="-10" dirty="0"/>
              <a:t>INSIGHTS</a:t>
            </a:r>
            <a:r>
              <a:rPr spc="-7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10" dirty="0"/>
              <a:t>OPPORTUNITY</a:t>
            </a:r>
            <a:r>
              <a:rPr spc="-75" dirty="0"/>
              <a:t> </a:t>
            </a:r>
            <a:r>
              <a:rPr spc="-10" dirty="0"/>
              <a:t>AREAS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875264" y="222504"/>
            <a:ext cx="881380" cy="881380"/>
            <a:chOff x="10875264" y="222504"/>
            <a:chExt cx="881380" cy="881380"/>
          </a:xfrm>
        </p:grpSpPr>
        <p:sp>
          <p:nvSpPr>
            <p:cNvPr id="8" name="object 8"/>
            <p:cNvSpPr/>
            <p:nvPr/>
          </p:nvSpPr>
          <p:spPr>
            <a:xfrm>
              <a:off x="10881360" y="22860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77724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777239"/>
                  </a:lnTo>
                  <a:lnTo>
                    <a:pt x="7179" y="812851"/>
                  </a:lnTo>
                  <a:lnTo>
                    <a:pt x="26765" y="841914"/>
                  </a:lnTo>
                  <a:lnTo>
                    <a:pt x="55828" y="861500"/>
                  </a:lnTo>
                  <a:lnTo>
                    <a:pt x="91440" y="868679"/>
                  </a:lnTo>
                  <a:lnTo>
                    <a:pt x="777240" y="868679"/>
                  </a:lnTo>
                  <a:lnTo>
                    <a:pt x="812851" y="861500"/>
                  </a:lnTo>
                  <a:lnTo>
                    <a:pt x="841914" y="841914"/>
                  </a:lnTo>
                  <a:lnTo>
                    <a:pt x="861500" y="812851"/>
                  </a:lnTo>
                  <a:lnTo>
                    <a:pt x="868680" y="777239"/>
                  </a:lnTo>
                  <a:lnTo>
                    <a:pt x="868680" y="91440"/>
                  </a:lnTo>
                  <a:lnTo>
                    <a:pt x="861500" y="55828"/>
                  </a:lnTo>
                  <a:lnTo>
                    <a:pt x="841914" y="26765"/>
                  </a:lnTo>
                  <a:lnTo>
                    <a:pt x="812851" y="7179"/>
                  </a:lnTo>
                  <a:lnTo>
                    <a:pt x="777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81360" y="22860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777240" y="0"/>
                  </a:lnTo>
                  <a:lnTo>
                    <a:pt x="812851" y="7179"/>
                  </a:lnTo>
                  <a:lnTo>
                    <a:pt x="841914" y="26765"/>
                  </a:lnTo>
                  <a:lnTo>
                    <a:pt x="861500" y="55828"/>
                  </a:lnTo>
                  <a:lnTo>
                    <a:pt x="868680" y="91440"/>
                  </a:lnTo>
                  <a:lnTo>
                    <a:pt x="868680" y="777239"/>
                  </a:lnTo>
                  <a:lnTo>
                    <a:pt x="861500" y="812851"/>
                  </a:lnTo>
                  <a:lnTo>
                    <a:pt x="841914" y="841914"/>
                  </a:lnTo>
                  <a:lnTo>
                    <a:pt x="812851" y="861500"/>
                  </a:lnTo>
                  <a:lnTo>
                    <a:pt x="777240" y="868679"/>
                  </a:lnTo>
                  <a:lnTo>
                    <a:pt x="91440" y="868679"/>
                  </a:lnTo>
                  <a:lnTo>
                    <a:pt x="55828" y="861500"/>
                  </a:lnTo>
                  <a:lnTo>
                    <a:pt x="26765" y="841914"/>
                  </a:lnTo>
                  <a:lnTo>
                    <a:pt x="7179" y="812851"/>
                  </a:lnTo>
                  <a:lnTo>
                    <a:pt x="0" y="777239"/>
                  </a:lnTo>
                  <a:lnTo>
                    <a:pt x="0" y="91440"/>
                  </a:lnTo>
                  <a:close/>
                </a:path>
              </a:pathLst>
            </a:custGeom>
            <a:ln w="12191">
              <a:solidFill>
                <a:srgbClr val="D4E4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/home/claude/logo-000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64240" y="274320"/>
              <a:ext cx="502920" cy="65836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451104" y="1274063"/>
            <a:ext cx="469900" cy="469900"/>
            <a:chOff x="451104" y="1274063"/>
            <a:chExt cx="469900" cy="469900"/>
          </a:xfrm>
        </p:grpSpPr>
        <p:sp>
          <p:nvSpPr>
            <p:cNvPr id="17" name="object 17"/>
            <p:cNvSpPr/>
            <p:nvPr/>
          </p:nvSpPr>
          <p:spPr>
            <a:xfrm>
              <a:off x="457200" y="12801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200" y="12801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38860" y="1343914"/>
            <a:ext cx="38627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Resources</a:t>
            </a:r>
            <a:r>
              <a:rPr sz="1800" b="1" spc="-6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required</a:t>
            </a:r>
            <a:r>
              <a:rPr sz="1800" b="1" spc="-3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to</a:t>
            </a:r>
            <a:r>
              <a:rPr sz="1800" b="1" spc="-3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solve</a:t>
            </a:r>
            <a:r>
              <a:rPr sz="1800" b="1" spc="-3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945"/>
                </a:solidFill>
                <a:latin typeface="Calibri"/>
                <a:cs typeface="Calibri"/>
              </a:rPr>
              <a:t>the</a:t>
            </a:r>
            <a:r>
              <a:rPr sz="1800" b="1" spc="-7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945"/>
                </a:solidFill>
                <a:latin typeface="Calibri"/>
                <a:cs typeface="Calibri"/>
              </a:rPr>
              <a:t>problem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7200" y="1920239"/>
            <a:ext cx="3611879" cy="3611879"/>
          </a:xfrm>
          <a:custGeom>
            <a:avLst/>
            <a:gdLst/>
            <a:ahLst/>
            <a:cxnLst/>
            <a:rect l="l" t="t" r="r" b="b"/>
            <a:pathLst>
              <a:path w="3611879" h="3611879">
                <a:moveTo>
                  <a:pt x="0" y="3611879"/>
                </a:moveTo>
                <a:lnTo>
                  <a:pt x="3611879" y="3611879"/>
                </a:lnTo>
                <a:lnTo>
                  <a:pt x="3611879" y="0"/>
                </a:lnTo>
                <a:lnTo>
                  <a:pt x="0" y="0"/>
                </a:lnTo>
                <a:lnTo>
                  <a:pt x="0" y="3611879"/>
                </a:lnTo>
                <a:close/>
              </a:path>
            </a:pathLst>
          </a:custGeom>
          <a:ln w="12192">
            <a:solidFill>
              <a:srgbClr val="D4E4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57200" y="1920239"/>
            <a:ext cx="3611879" cy="457200"/>
          </a:xfrm>
          <a:prstGeom prst="rect">
            <a:avLst/>
          </a:prstGeom>
          <a:solidFill>
            <a:srgbClr val="006B53"/>
          </a:solidFill>
          <a:ln w="12192">
            <a:solidFill>
              <a:srgbClr val="006B53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805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Hardware</a:t>
            </a:r>
            <a:r>
              <a:rPr sz="15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Requirements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200" y="2377439"/>
            <a:ext cx="3611879" cy="31546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2550" rIns="0" bIns="0" rtlCol="0">
            <a:spAutoFit/>
          </a:bodyPr>
          <a:lstStyle/>
          <a:p>
            <a:pPr marL="314960" marR="154305" indent="-178435">
              <a:lnSpc>
                <a:spcPct val="100000"/>
              </a:lnSpc>
              <a:spcBef>
                <a:spcPts val="650"/>
              </a:spcBef>
              <a:buFont typeface="Calibri"/>
              <a:buChar char="•"/>
              <a:tabLst>
                <a:tab pos="314960" algn="l"/>
              </a:tabLst>
            </a:pPr>
            <a:r>
              <a:rPr sz="1250" b="1" spc="-10" dirty="0">
                <a:solidFill>
                  <a:srgbClr val="0A4945"/>
                </a:solidFill>
                <a:latin typeface="Calibri"/>
                <a:cs typeface="Calibri"/>
              </a:rPr>
              <a:t>CT/PT</a:t>
            </a:r>
            <a:r>
              <a:rPr sz="1250" b="1" spc="-5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clamp</a:t>
            </a:r>
            <a:r>
              <a:rPr sz="1250" b="1" spc="-5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sensors:</a:t>
            </a:r>
            <a:r>
              <a:rPr sz="1250" b="1" spc="-1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They</a:t>
            </a:r>
            <a:r>
              <a:rPr sz="1250" spc="-6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measure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current</a:t>
            </a:r>
            <a:r>
              <a:rPr sz="1250" spc="-5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and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voltage</a:t>
            </a:r>
            <a:r>
              <a:rPr sz="125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waveforms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without</a:t>
            </a:r>
            <a:r>
              <a:rPr sz="125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cutting</a:t>
            </a:r>
            <a:r>
              <a:rPr sz="1250" spc="-5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power,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so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they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can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be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retrofitted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onto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existing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lines.</a:t>
            </a:r>
            <a:endParaRPr sz="1250" dirty="0">
              <a:latin typeface="Calibri"/>
              <a:cs typeface="Calibri"/>
            </a:endParaRPr>
          </a:p>
          <a:p>
            <a:pPr marL="314960" marR="203200" indent="-178435">
              <a:lnSpc>
                <a:spcPct val="100000"/>
              </a:lnSpc>
              <a:spcBef>
                <a:spcPts val="790"/>
              </a:spcBef>
              <a:buFont typeface="Calibri"/>
              <a:buChar char="•"/>
              <a:tabLst>
                <a:tab pos="314960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Edge</a:t>
            </a:r>
            <a:r>
              <a:rPr sz="1250" b="1" spc="-3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module:</a:t>
            </a:r>
            <a:r>
              <a:rPr sz="1250" b="1" spc="-2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ESP32,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STM32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or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Raspberry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Pi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Edge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AI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board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mounted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at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transformer processes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data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locally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in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under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millisecond.</a:t>
            </a:r>
            <a:endParaRPr sz="1250" dirty="0">
              <a:latin typeface="Calibri"/>
              <a:cs typeface="Calibri"/>
            </a:endParaRPr>
          </a:p>
          <a:p>
            <a:pPr marL="314960" marR="372110" indent="-178435" algn="just">
              <a:lnSpc>
                <a:spcPct val="100000"/>
              </a:lnSpc>
              <a:spcBef>
                <a:spcPts val="810"/>
              </a:spcBef>
              <a:buFont typeface="Calibri"/>
              <a:buChar char="•"/>
              <a:tabLst>
                <a:tab pos="314960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Thermal</a:t>
            </a:r>
            <a:r>
              <a:rPr sz="1250" b="1" spc="-4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and</a:t>
            </a:r>
            <a:r>
              <a:rPr sz="1250" b="1" spc="-3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humidity</a:t>
            </a:r>
            <a:r>
              <a:rPr sz="1250" b="1" spc="-5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probes:</a:t>
            </a:r>
            <a:r>
              <a:rPr sz="1250" b="1" spc="-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They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track</a:t>
            </a:r>
            <a:r>
              <a:rPr sz="1250" spc="-5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oil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casing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temperature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to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catch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heat-related degradation.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251959" y="1920239"/>
            <a:ext cx="3611879" cy="3611879"/>
          </a:xfrm>
          <a:custGeom>
            <a:avLst/>
            <a:gdLst/>
            <a:ahLst/>
            <a:cxnLst/>
            <a:rect l="l" t="t" r="r" b="b"/>
            <a:pathLst>
              <a:path w="3611879" h="3611879">
                <a:moveTo>
                  <a:pt x="0" y="3611879"/>
                </a:moveTo>
                <a:lnTo>
                  <a:pt x="3611880" y="3611879"/>
                </a:lnTo>
                <a:lnTo>
                  <a:pt x="3611880" y="0"/>
                </a:lnTo>
                <a:lnTo>
                  <a:pt x="0" y="0"/>
                </a:lnTo>
                <a:lnTo>
                  <a:pt x="0" y="3611879"/>
                </a:lnTo>
                <a:close/>
              </a:path>
            </a:pathLst>
          </a:custGeom>
          <a:ln w="12192">
            <a:solidFill>
              <a:srgbClr val="D4E4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251959" y="1920239"/>
            <a:ext cx="3611879" cy="457200"/>
          </a:xfrm>
          <a:prstGeom prst="rect">
            <a:avLst/>
          </a:prstGeom>
          <a:solidFill>
            <a:srgbClr val="006B53"/>
          </a:solidFill>
          <a:ln w="12192">
            <a:solidFill>
              <a:srgbClr val="006B53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805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sz="15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Requirements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38104" y="2413584"/>
            <a:ext cx="3611879" cy="31546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2550" rIns="0" bIns="0" rtlCol="0">
            <a:spAutoFit/>
          </a:bodyPr>
          <a:lstStyle/>
          <a:p>
            <a:pPr marL="315595" marR="372745" indent="-178435" algn="just">
              <a:lnSpc>
                <a:spcPct val="100000"/>
              </a:lnSpc>
              <a:spcBef>
                <a:spcPts val="650"/>
              </a:spcBef>
              <a:buFont typeface="Calibri"/>
              <a:buChar char="•"/>
              <a:tabLst>
                <a:tab pos="315595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TinyML</a:t>
            </a:r>
            <a:r>
              <a:rPr sz="1250" b="1" spc="-2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models:</a:t>
            </a:r>
            <a:r>
              <a:rPr sz="1250" b="1" spc="-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Autoencoders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or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CNNs</a:t>
            </a:r>
            <a:r>
              <a:rPr sz="1250" spc="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learn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what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normal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looks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like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flag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deviations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on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device,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with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no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cloud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delay.</a:t>
            </a:r>
            <a:endParaRPr sz="1250">
              <a:latin typeface="Calibri"/>
              <a:cs typeface="Calibri"/>
            </a:endParaRPr>
          </a:p>
          <a:p>
            <a:pPr marL="315595" marR="231140" indent="-178435">
              <a:lnSpc>
                <a:spcPct val="100000"/>
              </a:lnSpc>
              <a:spcBef>
                <a:spcPts val="790"/>
              </a:spcBef>
              <a:buFont typeface="Calibri"/>
              <a:buChar char="•"/>
              <a:tabLst>
                <a:tab pos="315595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Digital</a:t>
            </a:r>
            <a:r>
              <a:rPr sz="1250" b="1" spc="-3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twin</a:t>
            </a:r>
            <a:r>
              <a:rPr sz="1250" b="1" spc="-1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dashboard:</a:t>
            </a:r>
            <a:r>
              <a:rPr sz="1250" b="1" spc="1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It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simulates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grid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stress,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tracks</a:t>
            </a:r>
            <a:r>
              <a:rPr sz="1250" spc="-4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long-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term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health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scores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alerts maintenance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teams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to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failing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equipment.</a:t>
            </a:r>
            <a:endParaRPr sz="1250">
              <a:latin typeface="Calibri"/>
              <a:cs typeface="Calibri"/>
            </a:endParaRPr>
          </a:p>
          <a:p>
            <a:pPr marL="315595" marR="335915" indent="-178435">
              <a:lnSpc>
                <a:spcPct val="100000"/>
              </a:lnSpc>
              <a:spcBef>
                <a:spcPts val="810"/>
              </a:spcBef>
              <a:buFont typeface="Calibri"/>
              <a:buChar char="•"/>
              <a:tabLst>
                <a:tab pos="315595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MQTT</a:t>
            </a:r>
            <a:r>
              <a:rPr sz="1250" b="1" spc="-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/</a:t>
            </a:r>
            <a:r>
              <a:rPr sz="1250" b="1" spc="-2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Modbus:</a:t>
            </a:r>
            <a:r>
              <a:rPr sz="1250" b="1" spc="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These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lightweight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protocols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send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alerts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summaries</a:t>
            </a:r>
            <a:r>
              <a:rPr sz="1250" spc="-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to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dashboard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using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little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bandwidth.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046719" y="1920239"/>
            <a:ext cx="3611879" cy="3611879"/>
          </a:xfrm>
          <a:custGeom>
            <a:avLst/>
            <a:gdLst/>
            <a:ahLst/>
            <a:cxnLst/>
            <a:rect l="l" t="t" r="r" b="b"/>
            <a:pathLst>
              <a:path w="3611879" h="3611879">
                <a:moveTo>
                  <a:pt x="0" y="3611879"/>
                </a:moveTo>
                <a:lnTo>
                  <a:pt x="3611879" y="3611879"/>
                </a:lnTo>
                <a:lnTo>
                  <a:pt x="3611879" y="0"/>
                </a:lnTo>
                <a:lnTo>
                  <a:pt x="0" y="0"/>
                </a:lnTo>
                <a:lnTo>
                  <a:pt x="0" y="3611879"/>
                </a:lnTo>
                <a:close/>
              </a:path>
            </a:pathLst>
          </a:custGeom>
          <a:ln w="12192">
            <a:solidFill>
              <a:srgbClr val="D4E4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046719" y="1920239"/>
            <a:ext cx="3611879" cy="457200"/>
          </a:xfrm>
          <a:prstGeom prst="rect">
            <a:avLst/>
          </a:prstGeom>
          <a:solidFill>
            <a:srgbClr val="006B53"/>
          </a:solidFill>
          <a:ln w="12192">
            <a:solidFill>
              <a:srgbClr val="006B5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7795">
              <a:lnSpc>
                <a:spcPts val="1705"/>
              </a:lnSpc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15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resources</a:t>
            </a:r>
            <a:r>
              <a:rPr sz="15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(Including</a:t>
            </a:r>
            <a:r>
              <a:rPr sz="15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Human</a:t>
            </a:r>
            <a:endParaRPr sz="1500">
              <a:latin typeface="Calibri"/>
              <a:cs typeface="Calibri"/>
            </a:endParaRPr>
          </a:p>
          <a:p>
            <a:pPr marL="137795">
              <a:lnSpc>
                <a:spcPct val="100000"/>
              </a:lnSpc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Resources)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46719" y="2377439"/>
            <a:ext cx="3611879" cy="31546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2550" rIns="0" bIns="0" rtlCol="0">
            <a:spAutoFit/>
          </a:bodyPr>
          <a:lstStyle/>
          <a:p>
            <a:pPr marL="316230" marR="240665" indent="-179070">
              <a:lnSpc>
                <a:spcPct val="100000"/>
              </a:lnSpc>
              <a:spcBef>
                <a:spcPts val="650"/>
              </a:spcBef>
              <a:buFont typeface="Calibri"/>
              <a:buChar char="•"/>
              <a:tabLst>
                <a:tab pos="316230" algn="l"/>
              </a:tabLst>
            </a:pP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Domain</a:t>
            </a:r>
            <a:r>
              <a:rPr sz="1250" b="1" spc="-4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experts:</a:t>
            </a:r>
            <a:r>
              <a:rPr sz="1250" b="1" spc="-20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Power</a:t>
            </a:r>
            <a:r>
              <a:rPr sz="1250" spc="-5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systems</a:t>
            </a:r>
            <a:r>
              <a:rPr sz="1250" spc="-5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engineers validate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fault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signatures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waveform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models.</a:t>
            </a:r>
            <a:endParaRPr sz="1250">
              <a:latin typeface="Calibri"/>
              <a:cs typeface="Calibri"/>
            </a:endParaRPr>
          </a:p>
          <a:p>
            <a:pPr marL="316230" marR="234315" indent="-179070">
              <a:lnSpc>
                <a:spcPct val="100000"/>
              </a:lnSpc>
              <a:spcBef>
                <a:spcPts val="790"/>
              </a:spcBef>
              <a:buFont typeface="Calibri"/>
              <a:buChar char="•"/>
              <a:tabLst>
                <a:tab pos="316230" algn="l"/>
              </a:tabLst>
            </a:pPr>
            <a:r>
              <a:rPr sz="1250" b="1" spc="-10" dirty="0">
                <a:solidFill>
                  <a:srgbClr val="0A4945"/>
                </a:solidFill>
                <a:latin typeface="Calibri"/>
                <a:cs typeface="Calibri"/>
              </a:rPr>
              <a:t>Developers: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Embedded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C/C++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developers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build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edge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firmware,</a:t>
            </a:r>
            <a:r>
              <a:rPr sz="1250" spc="-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full-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stack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developers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build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the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dashboard.</a:t>
            </a:r>
            <a:endParaRPr sz="1250">
              <a:latin typeface="Calibri"/>
              <a:cs typeface="Calibri"/>
            </a:endParaRPr>
          </a:p>
          <a:p>
            <a:pPr marL="316230" marR="334645" indent="-179070" algn="just">
              <a:lnSpc>
                <a:spcPct val="100000"/>
              </a:lnSpc>
              <a:spcBef>
                <a:spcPts val="805"/>
              </a:spcBef>
              <a:buFont typeface="Calibri"/>
              <a:buChar char="•"/>
              <a:tabLst>
                <a:tab pos="316230" algn="l"/>
                <a:tab pos="317500" algn="l"/>
              </a:tabLst>
            </a:pPr>
            <a:r>
              <a:rPr sz="1250" dirty="0">
                <a:solidFill>
                  <a:srgbClr val="0A4945"/>
                </a:solidFill>
                <a:latin typeface="Calibri"/>
                <a:cs typeface="Calibri"/>
              </a:rPr>
              <a:t>	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Utility</a:t>
            </a:r>
            <a:r>
              <a:rPr sz="1250" b="1" spc="-15" dirty="0">
                <a:solidFill>
                  <a:srgbClr val="0A494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4945"/>
                </a:solidFill>
                <a:latin typeface="Calibri"/>
                <a:cs typeface="Calibri"/>
              </a:rPr>
              <a:t>pilot: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Partnering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with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local</a:t>
            </a:r>
            <a:r>
              <a:rPr sz="1250" spc="-1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distribution companies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(DSOs)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gives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us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real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grid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noise</a:t>
            </a:r>
            <a:r>
              <a:rPr sz="1250" spc="-2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F3A39"/>
                </a:solidFill>
                <a:latin typeface="Calibri"/>
                <a:cs typeface="Calibri"/>
              </a:rPr>
              <a:t>and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baseline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data</a:t>
            </a:r>
            <a:r>
              <a:rPr sz="1250" spc="-4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to</a:t>
            </a:r>
            <a:r>
              <a:rPr sz="1250" spc="-3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train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and</a:t>
            </a:r>
            <a:r>
              <a:rPr sz="1250" spc="-30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F3A39"/>
                </a:solidFill>
                <a:latin typeface="Calibri"/>
                <a:cs typeface="Calibri"/>
              </a:rPr>
              <a:t>test</a:t>
            </a:r>
            <a:r>
              <a:rPr sz="1250" spc="-55" dirty="0">
                <a:solidFill>
                  <a:srgbClr val="1F3A3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3A39"/>
                </a:solidFill>
                <a:latin typeface="Calibri"/>
                <a:cs typeface="Calibri"/>
              </a:rPr>
              <a:t>against.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57200" y="5669279"/>
            <a:ext cx="11275060" cy="502920"/>
          </a:xfrm>
          <a:custGeom>
            <a:avLst/>
            <a:gdLst/>
            <a:ahLst/>
            <a:cxnLst/>
            <a:rect l="l" t="t" r="r" b="b"/>
            <a:pathLst>
              <a:path w="11275060" h="502920">
                <a:moveTo>
                  <a:pt x="0" y="502920"/>
                </a:moveTo>
                <a:lnTo>
                  <a:pt x="11274552" y="502920"/>
                </a:lnTo>
                <a:lnTo>
                  <a:pt x="11274552" y="0"/>
                </a:lnTo>
                <a:lnTo>
                  <a:pt x="0" y="0"/>
                </a:lnTo>
                <a:lnTo>
                  <a:pt x="0" y="502920"/>
                </a:lnTo>
                <a:close/>
              </a:path>
            </a:pathLst>
          </a:custGeom>
          <a:ln w="12192">
            <a:solidFill>
              <a:srgbClr val="042B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51104" y="5663184"/>
            <a:ext cx="11287125" cy="515620"/>
          </a:xfrm>
          <a:prstGeom prst="rect">
            <a:avLst/>
          </a:prstGeom>
          <a:solidFill>
            <a:srgbClr val="042B33"/>
          </a:solidFill>
        </p:spPr>
        <p:txBody>
          <a:bodyPr vert="horz" wrap="square" lIns="0" tIns="14414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135"/>
              </a:spcBef>
            </a:pPr>
            <a:r>
              <a:rPr sz="1350" b="1" dirty="0">
                <a:solidFill>
                  <a:srgbClr val="79C143"/>
                </a:solidFill>
                <a:latin typeface="Calibri"/>
                <a:cs typeface="Calibri"/>
              </a:rPr>
              <a:t>Pipeline:</a:t>
            </a:r>
            <a:r>
              <a:rPr sz="1350" b="1" spc="-55" dirty="0">
                <a:solidFill>
                  <a:srgbClr val="79C14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CT/PT</a:t>
            </a: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sensors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TinyML</a:t>
            </a:r>
            <a:r>
              <a:rPr sz="13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3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edge →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 MQTT/Modbus</a:t>
            </a:r>
            <a:r>
              <a:rPr sz="13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Twin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-6095" y="6348983"/>
            <a:ext cx="12201525" cy="515620"/>
            <a:chOff x="-6095" y="6348983"/>
            <a:chExt cx="12201525" cy="515620"/>
          </a:xfrm>
        </p:grpSpPr>
        <p:sp>
          <p:nvSpPr>
            <p:cNvPr id="12" name="object 12"/>
            <p:cNvSpPr/>
            <p:nvPr/>
          </p:nvSpPr>
          <p:spPr>
            <a:xfrm>
              <a:off x="0" y="6355079"/>
              <a:ext cx="12189460" cy="502920"/>
            </a:xfrm>
            <a:custGeom>
              <a:avLst/>
              <a:gdLst/>
              <a:ahLst/>
              <a:cxnLst/>
              <a:rect l="l" t="t" r="r" b="b"/>
              <a:pathLst>
                <a:path w="12189460" h="502920">
                  <a:moveTo>
                    <a:pt x="12188952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188952" y="502920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042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6355079"/>
              <a:ext cx="12189460" cy="502920"/>
            </a:xfrm>
            <a:custGeom>
              <a:avLst/>
              <a:gdLst/>
              <a:ahLst/>
              <a:cxnLst/>
              <a:rect l="l" t="t" r="r" b="b"/>
              <a:pathLst>
                <a:path w="12189460" h="502920">
                  <a:moveTo>
                    <a:pt x="0" y="502920"/>
                  </a:moveTo>
                  <a:lnTo>
                    <a:pt x="12188952" y="502920"/>
                  </a:lnTo>
                  <a:lnTo>
                    <a:pt x="12188952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192">
              <a:solidFill>
                <a:srgbClr val="042B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292839" y="6382512"/>
              <a:ext cx="548640" cy="457200"/>
            </a:xfrm>
            <a:custGeom>
              <a:avLst/>
              <a:gdLst/>
              <a:ahLst/>
              <a:cxnLst/>
              <a:rect l="l" t="t" r="r" b="b"/>
              <a:pathLst>
                <a:path w="548640" h="457200">
                  <a:moveTo>
                    <a:pt x="434339" y="0"/>
                  </a:moveTo>
                  <a:lnTo>
                    <a:pt x="114300" y="0"/>
                  </a:lnTo>
                  <a:lnTo>
                    <a:pt x="0" y="228599"/>
                  </a:lnTo>
                  <a:lnTo>
                    <a:pt x="114300" y="457198"/>
                  </a:lnTo>
                  <a:lnTo>
                    <a:pt x="434339" y="457198"/>
                  </a:lnTo>
                  <a:lnTo>
                    <a:pt x="548639" y="228599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92839" y="6382512"/>
              <a:ext cx="548640" cy="457200"/>
            </a:xfrm>
            <a:custGeom>
              <a:avLst/>
              <a:gdLst/>
              <a:ahLst/>
              <a:cxnLst/>
              <a:rect l="l" t="t" r="r" b="b"/>
              <a:pathLst>
                <a:path w="548640" h="457200">
                  <a:moveTo>
                    <a:pt x="0" y="228599"/>
                  </a:moveTo>
                  <a:lnTo>
                    <a:pt x="114300" y="0"/>
                  </a:lnTo>
                  <a:lnTo>
                    <a:pt x="434339" y="0"/>
                  </a:lnTo>
                  <a:lnTo>
                    <a:pt x="548639" y="228599"/>
                  </a:lnTo>
                  <a:lnTo>
                    <a:pt x="434339" y="457198"/>
                  </a:lnTo>
                  <a:lnTo>
                    <a:pt x="114300" y="457198"/>
                  </a:lnTo>
                  <a:lnTo>
                    <a:pt x="0" y="228599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7115" rIns="0" bIns="0" rtlCol="0">
            <a:spAutoFit/>
          </a:bodyPr>
          <a:lstStyle/>
          <a:p>
            <a:pPr marL="122555">
              <a:lnSpc>
                <a:spcPts val="115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pic>
        <p:nvPicPr>
          <p:cNvPr id="33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" y="1385454"/>
            <a:ext cx="274320" cy="274320"/>
          </a:xfrm>
          <a:prstGeom prst="rect">
            <a:avLst/>
          </a:prstGeom>
        </p:spPr>
      </p:pic>
      <p:grpSp>
        <p:nvGrpSpPr>
          <p:cNvPr id="34" name="object 3"/>
          <p:cNvGrpSpPr/>
          <p:nvPr/>
        </p:nvGrpSpPr>
        <p:grpSpPr>
          <a:xfrm>
            <a:off x="611278" y="327545"/>
            <a:ext cx="657788" cy="600964"/>
            <a:chOff x="633983" y="405384"/>
            <a:chExt cx="469900" cy="469900"/>
          </a:xfrm>
        </p:grpSpPr>
        <p:sp>
          <p:nvSpPr>
            <p:cNvPr id="35" name="object 4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5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7" name="Team Icon" descr="Tea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36" y="437498"/>
            <a:ext cx="36576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2962" y="402525"/>
            <a:ext cx="1449705" cy="40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0"/>
              </a:lnSpc>
              <a:spcBef>
                <a:spcPts val="100"/>
              </a:spcBef>
            </a:pP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T</a:t>
            </a:r>
            <a:r>
              <a:rPr sz="900" b="1" spc="-1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E</a:t>
            </a:r>
            <a:r>
              <a:rPr sz="900" b="1" spc="-1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66666"/>
                </a:solidFill>
                <a:latin typeface="Calibri"/>
                <a:cs typeface="Calibri"/>
              </a:rPr>
              <a:t>A</a:t>
            </a:r>
            <a:r>
              <a:rPr sz="900" b="1" spc="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M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ts val="1900"/>
              </a:lnSpc>
            </a:pPr>
            <a:r>
              <a:rPr lang="en-US" sz="1600" b="1" spc="-20" dirty="0" smtClean="0">
                <a:solidFill>
                  <a:srgbClr val="006B53"/>
                </a:solidFill>
                <a:latin typeface="Calibri"/>
                <a:cs typeface="Calibri"/>
              </a:rPr>
              <a:t>NEXORA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772027" y="253695"/>
            <a:ext cx="4618990" cy="748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45"/>
              </a:lnSpc>
              <a:spcBef>
                <a:spcPts val="100"/>
              </a:spcBef>
            </a:pPr>
            <a:r>
              <a:rPr dirty="0"/>
              <a:t>INITIAL</a:t>
            </a:r>
            <a:r>
              <a:rPr spc="-50" dirty="0"/>
              <a:t> </a:t>
            </a:r>
            <a:r>
              <a:rPr dirty="0"/>
              <a:t>DIRECTION</a:t>
            </a:r>
            <a:r>
              <a:rPr spc="-4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10" dirty="0"/>
              <a:t>EXPECTED</a:t>
            </a:r>
          </a:p>
          <a:p>
            <a:pPr algn="ctr">
              <a:lnSpc>
                <a:spcPts val="2845"/>
              </a:lnSpc>
            </a:pPr>
            <a:r>
              <a:rPr spc="-10" dirty="0"/>
              <a:t>OUTCOME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875264" y="222504"/>
            <a:ext cx="881380" cy="881380"/>
            <a:chOff x="10875264" y="222504"/>
            <a:chExt cx="881380" cy="881380"/>
          </a:xfrm>
        </p:grpSpPr>
        <p:sp>
          <p:nvSpPr>
            <p:cNvPr id="8" name="object 8"/>
            <p:cNvSpPr/>
            <p:nvPr/>
          </p:nvSpPr>
          <p:spPr>
            <a:xfrm>
              <a:off x="10881360" y="22860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77724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777239"/>
                  </a:lnTo>
                  <a:lnTo>
                    <a:pt x="7179" y="812851"/>
                  </a:lnTo>
                  <a:lnTo>
                    <a:pt x="26765" y="841914"/>
                  </a:lnTo>
                  <a:lnTo>
                    <a:pt x="55828" y="861500"/>
                  </a:lnTo>
                  <a:lnTo>
                    <a:pt x="91440" y="868679"/>
                  </a:lnTo>
                  <a:lnTo>
                    <a:pt x="777240" y="868679"/>
                  </a:lnTo>
                  <a:lnTo>
                    <a:pt x="812851" y="861500"/>
                  </a:lnTo>
                  <a:lnTo>
                    <a:pt x="841914" y="841914"/>
                  </a:lnTo>
                  <a:lnTo>
                    <a:pt x="861500" y="812851"/>
                  </a:lnTo>
                  <a:lnTo>
                    <a:pt x="868680" y="777239"/>
                  </a:lnTo>
                  <a:lnTo>
                    <a:pt x="868680" y="91440"/>
                  </a:lnTo>
                  <a:lnTo>
                    <a:pt x="861500" y="55828"/>
                  </a:lnTo>
                  <a:lnTo>
                    <a:pt x="841914" y="26765"/>
                  </a:lnTo>
                  <a:lnTo>
                    <a:pt x="812851" y="7179"/>
                  </a:lnTo>
                  <a:lnTo>
                    <a:pt x="777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81360" y="22860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777240" y="0"/>
                  </a:lnTo>
                  <a:lnTo>
                    <a:pt x="812851" y="7179"/>
                  </a:lnTo>
                  <a:lnTo>
                    <a:pt x="841914" y="26765"/>
                  </a:lnTo>
                  <a:lnTo>
                    <a:pt x="861500" y="55828"/>
                  </a:lnTo>
                  <a:lnTo>
                    <a:pt x="868680" y="91440"/>
                  </a:lnTo>
                  <a:lnTo>
                    <a:pt x="868680" y="777239"/>
                  </a:lnTo>
                  <a:lnTo>
                    <a:pt x="861500" y="812851"/>
                  </a:lnTo>
                  <a:lnTo>
                    <a:pt x="841914" y="841914"/>
                  </a:lnTo>
                  <a:lnTo>
                    <a:pt x="812851" y="861500"/>
                  </a:lnTo>
                  <a:lnTo>
                    <a:pt x="777240" y="868679"/>
                  </a:lnTo>
                  <a:lnTo>
                    <a:pt x="91440" y="868679"/>
                  </a:lnTo>
                  <a:lnTo>
                    <a:pt x="55828" y="861500"/>
                  </a:lnTo>
                  <a:lnTo>
                    <a:pt x="26765" y="841914"/>
                  </a:lnTo>
                  <a:lnTo>
                    <a:pt x="7179" y="812851"/>
                  </a:lnTo>
                  <a:lnTo>
                    <a:pt x="0" y="777239"/>
                  </a:lnTo>
                  <a:lnTo>
                    <a:pt x="0" y="91440"/>
                  </a:lnTo>
                  <a:close/>
                </a:path>
              </a:pathLst>
            </a:custGeom>
            <a:ln w="12191">
              <a:solidFill>
                <a:srgbClr val="D4E4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/home/claude/logo-000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64240" y="274320"/>
              <a:ext cx="502920" cy="65836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497133" y="1110024"/>
            <a:ext cx="469900" cy="469900"/>
            <a:chOff x="451104" y="1274063"/>
            <a:chExt cx="469900" cy="469900"/>
          </a:xfrm>
        </p:grpSpPr>
        <p:sp>
          <p:nvSpPr>
            <p:cNvPr id="17" name="object 17"/>
            <p:cNvSpPr/>
            <p:nvPr/>
          </p:nvSpPr>
          <p:spPr>
            <a:xfrm>
              <a:off x="457200" y="12801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200" y="12801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-6095" y="6348983"/>
            <a:ext cx="12201525" cy="515620"/>
            <a:chOff x="-6095" y="6348983"/>
            <a:chExt cx="12201525" cy="515620"/>
          </a:xfrm>
        </p:grpSpPr>
        <p:sp>
          <p:nvSpPr>
            <p:cNvPr id="12" name="object 12"/>
            <p:cNvSpPr/>
            <p:nvPr/>
          </p:nvSpPr>
          <p:spPr>
            <a:xfrm>
              <a:off x="0" y="6355079"/>
              <a:ext cx="12189460" cy="502920"/>
            </a:xfrm>
            <a:custGeom>
              <a:avLst/>
              <a:gdLst/>
              <a:ahLst/>
              <a:cxnLst/>
              <a:rect l="l" t="t" r="r" b="b"/>
              <a:pathLst>
                <a:path w="12189460" h="502920">
                  <a:moveTo>
                    <a:pt x="12188952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188952" y="502920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042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6355079"/>
              <a:ext cx="12189460" cy="502920"/>
            </a:xfrm>
            <a:custGeom>
              <a:avLst/>
              <a:gdLst/>
              <a:ahLst/>
              <a:cxnLst/>
              <a:rect l="l" t="t" r="r" b="b"/>
              <a:pathLst>
                <a:path w="12189460" h="502920">
                  <a:moveTo>
                    <a:pt x="0" y="502920"/>
                  </a:moveTo>
                  <a:lnTo>
                    <a:pt x="12188952" y="502920"/>
                  </a:lnTo>
                  <a:lnTo>
                    <a:pt x="12188952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192">
              <a:solidFill>
                <a:srgbClr val="042B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292839" y="6382512"/>
              <a:ext cx="548640" cy="457200"/>
            </a:xfrm>
            <a:custGeom>
              <a:avLst/>
              <a:gdLst/>
              <a:ahLst/>
              <a:cxnLst/>
              <a:rect l="l" t="t" r="r" b="b"/>
              <a:pathLst>
                <a:path w="548640" h="457200">
                  <a:moveTo>
                    <a:pt x="434339" y="0"/>
                  </a:moveTo>
                  <a:lnTo>
                    <a:pt x="114300" y="0"/>
                  </a:lnTo>
                  <a:lnTo>
                    <a:pt x="0" y="228599"/>
                  </a:lnTo>
                  <a:lnTo>
                    <a:pt x="114300" y="457198"/>
                  </a:lnTo>
                  <a:lnTo>
                    <a:pt x="434339" y="457198"/>
                  </a:lnTo>
                  <a:lnTo>
                    <a:pt x="548639" y="228599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79C1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92839" y="6382512"/>
              <a:ext cx="548640" cy="457200"/>
            </a:xfrm>
            <a:custGeom>
              <a:avLst/>
              <a:gdLst/>
              <a:ahLst/>
              <a:cxnLst/>
              <a:rect l="l" t="t" r="r" b="b"/>
              <a:pathLst>
                <a:path w="548640" h="457200">
                  <a:moveTo>
                    <a:pt x="0" y="228599"/>
                  </a:moveTo>
                  <a:lnTo>
                    <a:pt x="114300" y="0"/>
                  </a:lnTo>
                  <a:lnTo>
                    <a:pt x="434339" y="0"/>
                  </a:lnTo>
                  <a:lnTo>
                    <a:pt x="548639" y="228599"/>
                  </a:lnTo>
                  <a:lnTo>
                    <a:pt x="434339" y="457198"/>
                  </a:lnTo>
                  <a:lnTo>
                    <a:pt x="114300" y="457198"/>
                  </a:lnTo>
                  <a:lnTo>
                    <a:pt x="0" y="228599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7115" rIns="0" bIns="0" rtlCol="0">
            <a:spAutoFit/>
          </a:bodyPr>
          <a:lstStyle/>
          <a:p>
            <a:pPr marL="122555">
              <a:lnSpc>
                <a:spcPts val="115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3" name="TextBox 32"/>
          <p:cNvSpPr txBox="1"/>
          <p:nvPr/>
        </p:nvSpPr>
        <p:spPr>
          <a:xfrm>
            <a:off x="8149399" y="2323525"/>
            <a:ext cx="3935037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sz="1250" dirty="0" smtClean="0">
                <a:latin typeface="+mn-lt"/>
              </a:rPr>
              <a:t>.</a:t>
            </a:r>
            <a:endParaRPr lang="en-IN" sz="1250" dirty="0">
              <a:latin typeface="+mn-lt"/>
            </a:endParaRPr>
          </a:p>
        </p:txBody>
      </p:sp>
      <p:pic>
        <p:nvPicPr>
          <p:cNvPr id="29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69" y="1236372"/>
            <a:ext cx="274320" cy="27432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13004" y="1178496"/>
            <a:ext cx="3385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A4945"/>
                </a:solidFill>
                <a:latin typeface="Calibri"/>
                <a:cs typeface="Calibri"/>
              </a:rPr>
              <a:t>What Is Your Expected Outcome?</a:t>
            </a:r>
          </a:p>
        </p:txBody>
      </p:sp>
      <p:sp>
        <p:nvSpPr>
          <p:cNvPr id="28" name="Rectangle 3"/>
          <p:cNvSpPr>
            <a:spLocks noChangeArrowheads="1"/>
          </p:cNvSpPr>
          <p:nvPr/>
        </p:nvSpPr>
        <p:spPr bwMode="auto">
          <a:xfrm>
            <a:off x="364112" y="2019708"/>
            <a:ext cx="6975949" cy="112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14960" marR="505459" lvl="0" indent="-178435" algn="l" defTabSz="914400" rtl="0" eaLnBrk="0" fontAlgn="base" latinLnBrk="0" hangingPunct="0">
              <a:spcBef>
                <a:spcPts val="790"/>
              </a:spcBef>
              <a:spcAft>
                <a:spcPct val="0"/>
              </a:spcAft>
              <a:buClrTx/>
              <a:buSzTx/>
              <a:buFont typeface="Calibri"/>
              <a:buChar char="•"/>
              <a:tabLst>
                <a:tab pos="314960" algn="l"/>
              </a:tabLst>
            </a:pPr>
            <a:r>
              <a:rPr lang="en-US" altLang="en-US" sz="1250" b="1" dirty="0">
                <a:solidFill>
                  <a:srgbClr val="0A4945"/>
                </a:solidFill>
                <a:latin typeface="Calibri"/>
                <a:cs typeface="Calibri"/>
              </a:rPr>
              <a:t>Predictive Edge Layer: </a:t>
            </a:r>
            <a:r>
              <a:rPr lang="en-US" altLang="en-US" sz="1250" dirty="0">
                <a:solidFill>
                  <a:srgbClr val="1F3A39"/>
                </a:solidFill>
                <a:latin typeface="Calibri"/>
                <a:cs typeface="Calibri"/>
              </a:rPr>
              <a:t>Clip-on sensors install with zero downtime. </a:t>
            </a:r>
          </a:p>
          <a:p>
            <a:pPr marL="314960" marR="505459" lvl="0" indent="-178435" algn="l" defTabSz="914400" rtl="0" eaLnBrk="0" fontAlgn="base" latinLnBrk="0" hangingPunct="0">
              <a:spcBef>
                <a:spcPts val="790"/>
              </a:spcBef>
              <a:spcAft>
                <a:spcPct val="0"/>
              </a:spcAft>
              <a:buClrTx/>
              <a:buSzTx/>
              <a:buFont typeface="Calibri"/>
              <a:buChar char="•"/>
              <a:tabLst>
                <a:tab pos="314960" algn="l"/>
              </a:tabLst>
            </a:pPr>
            <a:r>
              <a:rPr lang="en-US" altLang="en-US" sz="1250" b="1" dirty="0">
                <a:solidFill>
                  <a:srgbClr val="0A4945"/>
                </a:solidFill>
                <a:latin typeface="Calibri"/>
                <a:cs typeface="Calibri"/>
              </a:rPr>
              <a:t>On-Device </a:t>
            </a:r>
            <a:r>
              <a:rPr lang="en-US" altLang="en-US" sz="1250" b="1" dirty="0" err="1">
                <a:solidFill>
                  <a:srgbClr val="0A4945"/>
                </a:solidFill>
                <a:latin typeface="Calibri"/>
                <a:cs typeface="Calibri"/>
              </a:rPr>
              <a:t>TinyML</a:t>
            </a:r>
            <a:r>
              <a:rPr lang="en-US" altLang="en-US" sz="1250" b="1" dirty="0">
                <a:solidFill>
                  <a:srgbClr val="0A4945"/>
                </a:solidFill>
                <a:latin typeface="Calibri"/>
                <a:cs typeface="Calibri"/>
              </a:rPr>
              <a:t>: </a:t>
            </a:r>
            <a:r>
              <a:rPr lang="en-US" altLang="en-US" sz="1250" dirty="0">
                <a:solidFill>
                  <a:srgbClr val="1F3A39"/>
                </a:solidFill>
                <a:latin typeface="Calibri"/>
                <a:cs typeface="Calibri"/>
              </a:rPr>
              <a:t>On-chip CNNs detect anomalies in sub-milliseconds without cloud latency. </a:t>
            </a:r>
          </a:p>
          <a:p>
            <a:pPr marL="314960" marR="505459" lvl="0" indent="-178435" algn="l" defTabSz="914400" rtl="0" eaLnBrk="0" fontAlgn="base" latinLnBrk="0" hangingPunct="0">
              <a:spcBef>
                <a:spcPts val="790"/>
              </a:spcBef>
              <a:spcAft>
                <a:spcPct val="0"/>
              </a:spcAft>
              <a:buClrTx/>
              <a:buSzTx/>
              <a:buFont typeface="Calibri"/>
              <a:buChar char="•"/>
              <a:tabLst>
                <a:tab pos="314960" algn="l"/>
              </a:tabLst>
            </a:pPr>
            <a:r>
              <a:rPr lang="en-US" altLang="en-US" sz="1250" b="1" dirty="0">
                <a:solidFill>
                  <a:srgbClr val="0A4945"/>
                </a:solidFill>
                <a:latin typeface="Calibri"/>
                <a:cs typeface="Calibri"/>
              </a:rPr>
              <a:t>Pre-Fault Warnings: </a:t>
            </a:r>
            <a:r>
              <a:rPr lang="en-US" altLang="en-US" sz="1250" dirty="0">
                <a:solidFill>
                  <a:srgbClr val="1F3A39"/>
                </a:solidFill>
                <a:latin typeface="Calibri"/>
                <a:cs typeface="Calibri"/>
              </a:rPr>
              <a:t>Real-time MQTT alerts schedule maintenance before outages occur. </a:t>
            </a:r>
          </a:p>
          <a:p>
            <a:pPr marL="314960" marR="505459" lvl="0" indent="-178435" algn="l" defTabSz="914400" rtl="0" eaLnBrk="0" fontAlgn="base" latinLnBrk="0" hangingPunct="0">
              <a:spcBef>
                <a:spcPts val="790"/>
              </a:spcBef>
              <a:spcAft>
                <a:spcPct val="0"/>
              </a:spcAft>
              <a:buClrTx/>
              <a:buSzTx/>
              <a:buFont typeface="Calibri"/>
              <a:buChar char="•"/>
              <a:tabLst>
                <a:tab pos="314960" algn="l"/>
              </a:tabLst>
            </a:pPr>
            <a:r>
              <a:rPr lang="en-US" altLang="en-US" sz="1250" b="1" dirty="0">
                <a:solidFill>
                  <a:srgbClr val="0A4945"/>
                </a:solidFill>
                <a:latin typeface="Calibri"/>
                <a:cs typeface="Calibri"/>
              </a:rPr>
              <a:t>Expert Validation: </a:t>
            </a:r>
            <a:r>
              <a:rPr lang="en-US" altLang="en-US" sz="1250" dirty="0">
                <a:solidFill>
                  <a:srgbClr val="1F3A39"/>
                </a:solidFill>
                <a:latin typeface="Calibri"/>
                <a:cs typeface="Calibri"/>
              </a:rPr>
              <a:t>Fault signatures are field-tested and verified with local DSOs.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5804" y="1648342"/>
            <a:ext cx="310826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500" b="1" dirty="0">
                <a:solidFill>
                  <a:srgbClr val="042B33"/>
                </a:solidFill>
                <a:latin typeface="Calibri"/>
                <a:cs typeface="Calibri"/>
              </a:rPr>
              <a:t>What your team intends to </a:t>
            </a:r>
            <a:r>
              <a:rPr lang="en-US" sz="1500" b="1" dirty="0" smtClean="0">
                <a:solidFill>
                  <a:srgbClr val="042B33"/>
                </a:solidFill>
                <a:latin typeface="Calibri"/>
                <a:cs typeface="Calibri"/>
              </a:rPr>
              <a:t>do:</a:t>
            </a:r>
            <a:endParaRPr lang="en-US" sz="1500" b="1" dirty="0">
              <a:solidFill>
                <a:srgbClr val="042B33"/>
              </a:solidFill>
              <a:latin typeface="Calibri"/>
              <a:cs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35022" y="3131252"/>
            <a:ext cx="239360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500" b="1" dirty="0">
                <a:solidFill>
                  <a:srgbClr val="042B33"/>
                </a:solidFill>
                <a:latin typeface="Calibri"/>
                <a:cs typeface="Calibri"/>
              </a:rPr>
              <a:t>What you want to </a:t>
            </a:r>
            <a:r>
              <a:rPr lang="en-US" sz="1500" b="1" dirty="0" smtClean="0">
                <a:solidFill>
                  <a:srgbClr val="042B33"/>
                </a:solidFill>
                <a:latin typeface="Calibri"/>
                <a:cs typeface="Calibri"/>
              </a:rPr>
              <a:t>improve:</a:t>
            </a:r>
            <a:endParaRPr lang="en-US" sz="1500" b="1" dirty="0">
              <a:solidFill>
                <a:srgbClr val="042B33"/>
              </a:solidFill>
              <a:latin typeface="Calibri"/>
              <a:cs typeface="Calibri"/>
            </a:endParaRPr>
          </a:p>
        </p:txBody>
      </p: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364112" y="3486688"/>
            <a:ext cx="8627042" cy="112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14960" marR="505459" indent="-178435" algn="l" rtl="0" eaLnBrk="0" fontAlgn="base" hangingPunct="0">
              <a:lnSpc>
                <a:spcPct val="100000"/>
              </a:lnSpc>
              <a:spcBef>
                <a:spcPts val="790"/>
              </a:spcBef>
              <a:spcAft>
                <a:spcPct val="0"/>
              </a:spcAft>
              <a:buFont typeface="Calibri"/>
              <a:buChar char="•"/>
              <a:tabLst>
                <a:tab pos="314960" algn="l"/>
              </a:tabLst>
            </a:pPr>
            <a:r>
              <a:rPr lang="en-US" altLang="en-US" sz="1250" b="1" dirty="0">
                <a:solidFill>
                  <a:srgbClr val="0A4945"/>
                </a:solidFill>
                <a:latin typeface="Calibri"/>
                <a:cs typeface="Calibri"/>
              </a:rPr>
              <a:t>Detection Speed</a:t>
            </a:r>
            <a:r>
              <a:rPr lang="en-US" altLang="en-US" sz="1250" dirty="0">
                <a:solidFill>
                  <a:srgbClr val="1F3A39"/>
                </a:solidFill>
                <a:latin typeface="Calibri"/>
                <a:cs typeface="Calibri"/>
              </a:rPr>
              <a:t>: Edge processing detects sub-millisecond spikes that SCADA and cloud tools miss. </a:t>
            </a:r>
          </a:p>
          <a:p>
            <a:pPr marL="314960" marR="505459" indent="-178435" algn="l" rtl="0" eaLnBrk="0" fontAlgn="base" hangingPunct="0">
              <a:lnSpc>
                <a:spcPct val="100000"/>
              </a:lnSpc>
              <a:spcBef>
                <a:spcPts val="790"/>
              </a:spcBef>
              <a:spcAft>
                <a:spcPct val="0"/>
              </a:spcAft>
              <a:buFont typeface="Calibri"/>
              <a:buChar char="•"/>
              <a:tabLst>
                <a:tab pos="314960" algn="l"/>
              </a:tabLst>
            </a:pPr>
            <a:r>
              <a:rPr lang="en-US" altLang="en-US" sz="1250" b="1" dirty="0">
                <a:solidFill>
                  <a:srgbClr val="0A4945"/>
                </a:solidFill>
                <a:latin typeface="Calibri"/>
                <a:cs typeface="Calibri"/>
              </a:rPr>
              <a:t>Detection Intelligence: </a:t>
            </a:r>
            <a:r>
              <a:rPr lang="en-US" altLang="en-US" sz="1250" dirty="0">
                <a:solidFill>
                  <a:srgbClr val="1F3A39"/>
                </a:solidFill>
                <a:latin typeface="Calibri"/>
                <a:cs typeface="Calibri"/>
              </a:rPr>
              <a:t>Multi-variable AI catches gradual degradation without false alarms from EV demand. </a:t>
            </a:r>
          </a:p>
          <a:p>
            <a:pPr marL="314960" marR="505459" indent="-178435" algn="l" rtl="0" eaLnBrk="0" fontAlgn="base" hangingPunct="0">
              <a:lnSpc>
                <a:spcPct val="100000"/>
              </a:lnSpc>
              <a:spcBef>
                <a:spcPts val="790"/>
              </a:spcBef>
              <a:spcAft>
                <a:spcPct val="0"/>
              </a:spcAft>
              <a:buFont typeface="Calibri"/>
              <a:buChar char="•"/>
              <a:tabLst>
                <a:tab pos="314960" algn="l"/>
              </a:tabLst>
            </a:pPr>
            <a:r>
              <a:rPr lang="en-US" altLang="en-US" sz="1250" b="1" dirty="0">
                <a:solidFill>
                  <a:srgbClr val="0A4945"/>
                </a:solidFill>
                <a:latin typeface="Calibri"/>
                <a:cs typeface="Calibri"/>
              </a:rPr>
              <a:t>Affordability &amp; Adoption: </a:t>
            </a:r>
            <a:r>
              <a:rPr lang="en-US" altLang="en-US" sz="1250" dirty="0">
                <a:solidFill>
                  <a:srgbClr val="1F3A39"/>
                </a:solidFill>
                <a:latin typeface="Calibri"/>
                <a:cs typeface="Calibri"/>
              </a:rPr>
              <a:t>Retrofit sensor kits upgrade substations without multi-million-dollar hardware replacements. </a:t>
            </a:r>
          </a:p>
          <a:p>
            <a:pPr marL="314960" marR="505459" indent="-178435" algn="l" rtl="0" eaLnBrk="0" fontAlgn="base" hangingPunct="0">
              <a:lnSpc>
                <a:spcPct val="100000"/>
              </a:lnSpc>
              <a:spcBef>
                <a:spcPts val="790"/>
              </a:spcBef>
              <a:spcAft>
                <a:spcPct val="0"/>
              </a:spcAft>
              <a:buFont typeface="Calibri"/>
              <a:buChar char="•"/>
              <a:tabLst>
                <a:tab pos="314960" algn="l"/>
              </a:tabLst>
            </a:pPr>
            <a:r>
              <a:rPr lang="en-US" altLang="en-US" sz="1250" b="1" dirty="0">
                <a:solidFill>
                  <a:srgbClr val="0A4945"/>
                </a:solidFill>
                <a:latin typeface="Calibri"/>
                <a:cs typeface="Calibri"/>
              </a:rPr>
              <a:t>Safety &amp; Asset Life: </a:t>
            </a:r>
            <a:r>
              <a:rPr lang="en-US" altLang="en-US" sz="1250" dirty="0">
                <a:solidFill>
                  <a:srgbClr val="1F3A39"/>
                </a:solidFill>
                <a:latin typeface="Calibri"/>
                <a:cs typeface="Calibri"/>
              </a:rPr>
              <a:t>Early detection prevents catastrophic fires, explosive failures, and premature equipment loss.</a:t>
            </a:r>
          </a:p>
        </p:txBody>
      </p:sp>
      <p:grpSp>
        <p:nvGrpSpPr>
          <p:cNvPr id="36" name="object 3"/>
          <p:cNvGrpSpPr/>
          <p:nvPr/>
        </p:nvGrpSpPr>
        <p:grpSpPr>
          <a:xfrm>
            <a:off x="584110" y="343265"/>
            <a:ext cx="657788" cy="600964"/>
            <a:chOff x="633983" y="405384"/>
            <a:chExt cx="469900" cy="469900"/>
          </a:xfrm>
        </p:grpSpPr>
        <p:sp>
          <p:nvSpPr>
            <p:cNvPr id="37" name="object 4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42900" y="0"/>
                  </a:moveTo>
                  <a:lnTo>
                    <a:pt x="114300" y="0"/>
                  </a:lnTo>
                  <a:lnTo>
                    <a:pt x="0" y="228600"/>
                  </a:lnTo>
                  <a:lnTo>
                    <a:pt x="114300" y="457200"/>
                  </a:lnTo>
                  <a:lnTo>
                    <a:pt x="342900" y="457200"/>
                  </a:lnTo>
                  <a:lnTo>
                    <a:pt x="4572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5"/>
            <p:cNvSpPr/>
            <p:nvPr/>
          </p:nvSpPr>
          <p:spPr>
            <a:xfrm>
              <a:off x="640079" y="4114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14300" y="0"/>
                  </a:lnTo>
                  <a:lnTo>
                    <a:pt x="342900" y="0"/>
                  </a:lnTo>
                  <a:lnTo>
                    <a:pt x="457200" y="228600"/>
                  </a:lnTo>
                  <a:lnTo>
                    <a:pt x="342900" y="457200"/>
                  </a:lnTo>
                  <a:lnTo>
                    <a:pt x="114300" y="457200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9" name="Team Icon" descr="Team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68" y="445147"/>
            <a:ext cx="365760" cy="36576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364112" y="4617126"/>
            <a:ext cx="422423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500" b="1" dirty="0">
                <a:solidFill>
                  <a:srgbClr val="042B33"/>
                </a:solidFill>
                <a:latin typeface="Calibri"/>
                <a:cs typeface="Calibri"/>
              </a:rPr>
              <a:t>What successful improvement should you </a:t>
            </a:r>
            <a:r>
              <a:rPr lang="en-US" sz="1500" b="1" dirty="0" smtClean="0">
                <a:solidFill>
                  <a:srgbClr val="042B33"/>
                </a:solidFill>
                <a:latin typeface="Calibri"/>
                <a:cs typeface="Calibri"/>
              </a:rPr>
              <a:t>achieve:</a:t>
            </a:r>
            <a:endParaRPr lang="en-US" sz="1500" b="1" dirty="0">
              <a:solidFill>
                <a:srgbClr val="042B33"/>
              </a:solidFill>
              <a:latin typeface="Calibri"/>
              <a:cs typeface="Calibri"/>
            </a:endParaRPr>
          </a:p>
        </p:txBody>
      </p:sp>
      <p:sp>
        <p:nvSpPr>
          <p:cNvPr id="41" name="Rectangle 5"/>
          <p:cNvSpPr>
            <a:spLocks noChangeArrowheads="1"/>
          </p:cNvSpPr>
          <p:nvPr/>
        </p:nvSpPr>
        <p:spPr bwMode="auto">
          <a:xfrm>
            <a:off x="455804" y="4912065"/>
            <a:ext cx="82650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50" b="1" dirty="0">
                <a:solidFill>
                  <a:srgbClr val="0A4945"/>
                </a:solidFill>
                <a:latin typeface="Calibri"/>
                <a:cs typeface="Calibri"/>
              </a:rPr>
              <a:t>Faster, Earlier Detection: </a:t>
            </a:r>
            <a:r>
              <a:rPr lang="en-US" altLang="en-US" sz="1250" dirty="0">
                <a:solidFill>
                  <a:srgbClr val="1F3A39"/>
                </a:solidFill>
                <a:latin typeface="Calibri"/>
                <a:cs typeface="Calibri"/>
              </a:rPr>
              <a:t>Sub-millisecond on-device processing alerts before breakers trip</a:t>
            </a:r>
            <a:r>
              <a:rPr lang="en-US" altLang="en-US" sz="1250" dirty="0" smtClean="0">
                <a:solidFill>
                  <a:srgbClr val="1F3A39"/>
                </a:solidFill>
                <a:latin typeface="Calibri"/>
                <a:cs typeface="Calibri"/>
              </a:rPr>
              <a:t>. </a:t>
            </a:r>
            <a:endParaRPr lang="en-US" altLang="en-US" sz="1250" dirty="0">
              <a:solidFill>
                <a:srgbClr val="1F3A39"/>
              </a:solidFill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50" b="1" dirty="0">
                <a:solidFill>
                  <a:srgbClr val="0A4945"/>
                </a:solidFill>
                <a:latin typeface="Calibri"/>
                <a:cs typeface="Calibri"/>
              </a:rPr>
              <a:t>Higher Accuracy: </a:t>
            </a:r>
            <a:r>
              <a:rPr lang="en-US" altLang="en-US" sz="1250" dirty="0">
                <a:solidFill>
                  <a:srgbClr val="1F3A39"/>
                </a:solidFill>
                <a:latin typeface="Calibri"/>
                <a:cs typeface="Calibri"/>
              </a:rPr>
              <a:t>90%+ detection precision prevents false alarms during EV and solar load swings.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50" b="1" dirty="0">
                <a:solidFill>
                  <a:srgbClr val="0A4945"/>
                </a:solidFill>
                <a:latin typeface="Calibri"/>
                <a:cs typeface="Calibri"/>
              </a:rPr>
              <a:t>Fewer Unplanned Outages: </a:t>
            </a:r>
            <a:r>
              <a:rPr lang="en-US" altLang="en-US" sz="1250" dirty="0">
                <a:solidFill>
                  <a:srgbClr val="1F3A39"/>
                </a:solidFill>
                <a:latin typeface="Calibri"/>
                <a:cs typeface="Calibri"/>
              </a:rPr>
              <a:t>Converts catastrophic blackouts and fires into scheduled maintenance.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50" b="1" dirty="0">
                <a:solidFill>
                  <a:srgbClr val="0A4945"/>
                </a:solidFill>
                <a:latin typeface="Calibri"/>
                <a:cs typeface="Calibri"/>
              </a:rPr>
              <a:t>Low Cost &amp; Scalability: </a:t>
            </a:r>
            <a:r>
              <a:rPr lang="en-US" altLang="en-US" sz="1250" dirty="0">
                <a:solidFill>
                  <a:srgbClr val="1F3A39"/>
                </a:solidFill>
                <a:latin typeface="Calibri"/>
                <a:cs typeface="Calibri"/>
              </a:rPr>
              <a:t>Non-invasive retrofit kits deliver fleet-wide management at a fraction of hardware replacement costs.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2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629281" y="2709015"/>
            <a:ext cx="57912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n-US" sz="6600" spc="-10" dirty="0" smtClean="0">
                <a:solidFill>
                  <a:srgbClr val="FFFFFF"/>
                </a:solidFill>
              </a:rPr>
              <a:t>THANK </a:t>
            </a:r>
            <a:r>
              <a:rPr lang="en-US" sz="6600" spc="-70" dirty="0" smtClean="0">
                <a:solidFill>
                  <a:srgbClr val="79C143"/>
                </a:solidFill>
              </a:rPr>
              <a:t>YOU</a:t>
            </a:r>
            <a:endParaRPr sz="6600" dirty="0"/>
          </a:p>
        </p:txBody>
      </p:sp>
      <p:grpSp>
        <p:nvGrpSpPr>
          <p:cNvPr id="8" name="object 8"/>
          <p:cNvGrpSpPr/>
          <p:nvPr/>
        </p:nvGrpSpPr>
        <p:grpSpPr>
          <a:xfrm>
            <a:off x="8759952" y="1719072"/>
            <a:ext cx="2964180" cy="3421379"/>
            <a:chOff x="8759952" y="1719072"/>
            <a:chExt cx="2964180" cy="3421379"/>
          </a:xfrm>
        </p:grpSpPr>
        <p:sp>
          <p:nvSpPr>
            <p:cNvPr id="9" name="object 9"/>
            <p:cNvSpPr/>
            <p:nvPr/>
          </p:nvSpPr>
          <p:spPr>
            <a:xfrm>
              <a:off x="8779002" y="1738122"/>
              <a:ext cx="2926080" cy="3383279"/>
            </a:xfrm>
            <a:custGeom>
              <a:avLst/>
              <a:gdLst/>
              <a:ahLst/>
              <a:cxnLst/>
              <a:rect l="l" t="t" r="r" b="b"/>
              <a:pathLst>
                <a:path w="2926079" h="3383279">
                  <a:moveTo>
                    <a:pt x="2194559" y="0"/>
                  </a:moveTo>
                  <a:lnTo>
                    <a:pt x="731520" y="0"/>
                  </a:lnTo>
                  <a:lnTo>
                    <a:pt x="0" y="1691639"/>
                  </a:lnTo>
                  <a:lnTo>
                    <a:pt x="731520" y="3383279"/>
                  </a:lnTo>
                  <a:lnTo>
                    <a:pt x="2194559" y="3383279"/>
                  </a:lnTo>
                  <a:lnTo>
                    <a:pt x="2926079" y="1691639"/>
                  </a:lnTo>
                  <a:lnTo>
                    <a:pt x="21945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9002" y="1738122"/>
              <a:ext cx="2926080" cy="3383279"/>
            </a:xfrm>
            <a:custGeom>
              <a:avLst/>
              <a:gdLst/>
              <a:ahLst/>
              <a:cxnLst/>
              <a:rect l="l" t="t" r="r" b="b"/>
              <a:pathLst>
                <a:path w="2926079" h="3383279">
                  <a:moveTo>
                    <a:pt x="0" y="1691639"/>
                  </a:moveTo>
                  <a:lnTo>
                    <a:pt x="731520" y="0"/>
                  </a:lnTo>
                  <a:lnTo>
                    <a:pt x="2194559" y="0"/>
                  </a:lnTo>
                  <a:lnTo>
                    <a:pt x="2926079" y="1691639"/>
                  </a:lnTo>
                  <a:lnTo>
                    <a:pt x="2194559" y="3383279"/>
                  </a:lnTo>
                  <a:lnTo>
                    <a:pt x="731520" y="3383279"/>
                  </a:lnTo>
                  <a:lnTo>
                    <a:pt x="0" y="1691639"/>
                  </a:lnTo>
                  <a:close/>
                </a:path>
              </a:pathLst>
            </a:custGeom>
            <a:ln w="38100">
              <a:solidFill>
                <a:srgbClr val="79C1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/home/claude/logo-000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55480" y="2331720"/>
              <a:ext cx="1371600" cy="17830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4762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1284</Words>
  <Application>Microsoft Office PowerPoint</Application>
  <PresentationFormat>Widescreen</PresentationFormat>
  <Paragraphs>175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Times New Roman</vt:lpstr>
      <vt:lpstr>Office Theme</vt:lpstr>
      <vt:lpstr>GENESIS IDEATHON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</dc:title>
  <dc:creator>Gautham</dc:creator>
  <cp:lastModifiedBy>HP</cp:lastModifiedBy>
  <cp:revision>15</cp:revision>
  <dcterms:created xsi:type="dcterms:W3CDTF">2026-10-09T06:28:09Z</dcterms:created>
  <dcterms:modified xsi:type="dcterms:W3CDTF">2026-10-10T09:51:31Z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2026-10-09T00:00:00Z</vt:filetime>
  </property>
  <property fmtid="{D5CDD505-2E9C-101B-9397-08002B2CF9AE}" pid="4" name="LastSaved">
    <vt:filetime>2026-10-09T00:00:00Z</vt:filetime>
  </property>
  <property fmtid="{D5CDD505-2E9C-101B-9397-08002B2CF9AE}" pid="5" name="Producer">
    <vt:lpwstr>3-Heights™ PDF Merge Split Shell 6.12.1.11 (http://www.pdf-tools.com)</vt:lpwstr>
  </property>
</Properties>
</file>